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5" r:id="rId7"/>
    <p:sldId id="271" r:id="rId8"/>
    <p:sldId id="262" r:id="rId9"/>
    <p:sldId id="263" r:id="rId10"/>
    <p:sldId id="264" r:id="rId11"/>
    <p:sldId id="274" r:id="rId12"/>
    <p:sldId id="275" r:id="rId13"/>
    <p:sldId id="269" r:id="rId14"/>
    <p:sldId id="272" r:id="rId15"/>
    <p:sldId id="268" r:id="rId16"/>
    <p:sldId id="267"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0000"/>
    <a:srgbClr val="6A9955"/>
    <a:srgbClr val="78A365"/>
    <a:srgbClr val="C2D5BA"/>
    <a:srgbClr val="FFFFFF"/>
    <a:srgbClr val="91D2E5"/>
    <a:srgbClr val="FBE5D6"/>
    <a:srgbClr val="91CEE3"/>
    <a:srgbClr val="91C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F6168B-C9CD-4567-BD2D-C8254492B43C}" v="2" dt="2025-05-27T14:57:29.7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4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91EDC-5088-805F-6542-377DED7E7A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1715406-7232-2B47-CE2F-9BBC229CEB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994DD9-7571-2F17-AF38-0F12B6252ADB}"/>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5" name="Footer Placeholder 4">
            <a:extLst>
              <a:ext uri="{FF2B5EF4-FFF2-40B4-BE49-F238E27FC236}">
                <a16:creationId xmlns:a16="http://schemas.microsoft.com/office/drawing/2014/main" id="{5662A636-D18B-7227-D637-D5986C01F84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04BC20A-8883-48C6-FDC9-5B973CA7E44A}"/>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891980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32D0-3E1C-4DE1-5D3C-8543F3583D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444CF7-DFC5-99C4-0C62-D09E38503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556EC7-E805-CBEA-D51E-48013271FF2C}"/>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5" name="Footer Placeholder 4">
            <a:extLst>
              <a:ext uri="{FF2B5EF4-FFF2-40B4-BE49-F238E27FC236}">
                <a16:creationId xmlns:a16="http://schemas.microsoft.com/office/drawing/2014/main" id="{9096D966-E023-4D07-921F-318666DB0F1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BEB1B66-2353-6C35-9059-79B30A67542D}"/>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3412706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1207-BCA0-4557-66B1-FCFB7B25A4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94180DD-2CD0-306F-6104-5F000C609D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21A733-3D86-AA4A-4CFF-7A9D4ECD93A8}"/>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5" name="Footer Placeholder 4">
            <a:extLst>
              <a:ext uri="{FF2B5EF4-FFF2-40B4-BE49-F238E27FC236}">
                <a16:creationId xmlns:a16="http://schemas.microsoft.com/office/drawing/2014/main" id="{7BF16646-F7D8-B057-A24E-2739AA68A91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FBA9676-6FA8-9DCD-1E16-70A4449E5259}"/>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8679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8FD62-06E9-5D48-9F21-FD02BECC80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28D3A1-E96E-861C-8EFB-F931C833E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32C7440-FA73-9122-BF6F-747A0902CD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C2B56C-B641-57E5-DAB4-C837E647F3D0}"/>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6" name="Footer Placeholder 5">
            <a:extLst>
              <a:ext uri="{FF2B5EF4-FFF2-40B4-BE49-F238E27FC236}">
                <a16:creationId xmlns:a16="http://schemas.microsoft.com/office/drawing/2014/main" id="{0765570B-27C2-7F35-3C3E-7E7AD3EC32EE}"/>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B5E13B6-B920-AD90-58B3-13B1B0F35D7D}"/>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712222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25EE8-2DA6-3E99-8251-CD3BA40663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AE5A8C-FF5E-EFB7-685B-8A20C9FD44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4503CF-055C-C91A-55E8-37B6AABCB9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972857-B518-4FF2-96C7-64D8DD49AC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83B29C-5512-96B8-A472-999E61FE06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2B237E-E381-05B6-5495-D8A8EA275F3D}"/>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8" name="Footer Placeholder 7">
            <a:extLst>
              <a:ext uri="{FF2B5EF4-FFF2-40B4-BE49-F238E27FC236}">
                <a16:creationId xmlns:a16="http://schemas.microsoft.com/office/drawing/2014/main" id="{5D7E6748-5E94-7C6E-A5A0-AEDB269504C3}"/>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16A251B8-CC7E-77C4-D13A-44E6636701AA}"/>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972779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DEB18-519E-A9D5-AE98-B5C72854F9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22290A-1DFD-C2AD-5221-49B501F3727F}"/>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4" name="Footer Placeholder 3">
            <a:extLst>
              <a:ext uri="{FF2B5EF4-FFF2-40B4-BE49-F238E27FC236}">
                <a16:creationId xmlns:a16="http://schemas.microsoft.com/office/drawing/2014/main" id="{7D318B05-5F27-F33E-4AE9-D07BE54FC81C}"/>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04FFE74A-E92E-B378-9161-663C62772EA3}"/>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567270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BDAF44-A222-A1A8-B63E-C506BB750182}"/>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3" name="Footer Placeholder 2">
            <a:extLst>
              <a:ext uri="{FF2B5EF4-FFF2-40B4-BE49-F238E27FC236}">
                <a16:creationId xmlns:a16="http://schemas.microsoft.com/office/drawing/2014/main" id="{667DBCA1-818F-EB61-7C48-3828CC2128CD}"/>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5D4670CD-687B-111A-BA95-47B1C6A1A3FB}"/>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136019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9E25-0DB3-C120-7757-2AF5CE44DD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5B6295-E291-D695-D41E-7C7209A80D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70E9C7-7BA9-7E97-5CEA-99675DB9AA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5902E7-4DAE-2AE5-280A-BA495D16DA91}"/>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6" name="Footer Placeholder 5">
            <a:extLst>
              <a:ext uri="{FF2B5EF4-FFF2-40B4-BE49-F238E27FC236}">
                <a16:creationId xmlns:a16="http://schemas.microsoft.com/office/drawing/2014/main" id="{3DE46D92-E28B-FD35-1297-6DAD35559E8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AB92122-056F-58C5-2B75-E714B5983BA4}"/>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080621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6382B-097B-479F-3E79-4DA34F6B1F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3597AF-512D-0BDF-7EFC-24C67D43B0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5039A15A-BBA0-75DD-633E-C5130DFAE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D74D1-0D0F-8944-B1EA-D09655B01C8F}"/>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6" name="Footer Placeholder 5">
            <a:extLst>
              <a:ext uri="{FF2B5EF4-FFF2-40B4-BE49-F238E27FC236}">
                <a16:creationId xmlns:a16="http://schemas.microsoft.com/office/drawing/2014/main" id="{F08A521D-BC0C-4A2F-CD4B-BC8DCE6BFF2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2C6FE67-7C66-87DA-7F0B-EF74055D4D7A}"/>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3679277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3419B-CC9C-89E8-BF03-46B570183D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FD89E2-FD18-D57C-B998-3F31C2F4F5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14CF00-6807-BCBE-1C94-B2E808E1D214}"/>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5" name="Footer Placeholder 4">
            <a:extLst>
              <a:ext uri="{FF2B5EF4-FFF2-40B4-BE49-F238E27FC236}">
                <a16:creationId xmlns:a16="http://schemas.microsoft.com/office/drawing/2014/main" id="{55895075-E52E-601F-FA64-A523B345C29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4E7D572-6C0B-2A51-1BF2-4E37E6A9A67B}"/>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1596695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E90C78-50C4-57FA-60B2-D872781D5A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C1A98A-ED76-4FC6-A642-DB4FF85ECC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1B41E7-ECDD-81BA-7515-997DA15F3213}"/>
              </a:ext>
            </a:extLst>
          </p:cNvPr>
          <p:cNvSpPr>
            <a:spLocks noGrp="1"/>
          </p:cNvSpPr>
          <p:nvPr>
            <p:ph type="dt" sz="half" idx="10"/>
          </p:nvPr>
        </p:nvSpPr>
        <p:spPr/>
        <p:txBody>
          <a:bodyPr/>
          <a:lstStyle/>
          <a:p>
            <a:fld id="{045E6063-3570-4D9B-90D3-C127319BE105}" type="datetimeFigureOut">
              <a:rPr lang="en-IN" smtClean="0"/>
              <a:t>27-05-2025</a:t>
            </a:fld>
            <a:endParaRPr lang="en-IN" dirty="0"/>
          </a:p>
        </p:txBody>
      </p:sp>
      <p:sp>
        <p:nvSpPr>
          <p:cNvPr id="5" name="Footer Placeholder 4">
            <a:extLst>
              <a:ext uri="{FF2B5EF4-FFF2-40B4-BE49-F238E27FC236}">
                <a16:creationId xmlns:a16="http://schemas.microsoft.com/office/drawing/2014/main" id="{80D2058A-4908-09D0-DCDD-17F8868688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E0C7C96-15C2-72E3-B664-1155801FC12A}"/>
              </a:ext>
            </a:extLst>
          </p:cNvPr>
          <p:cNvSpPr>
            <a:spLocks noGrp="1"/>
          </p:cNvSpPr>
          <p:nvPr>
            <p:ph type="sldNum" sz="quarter" idx="12"/>
          </p:nvPr>
        </p:nvSpPr>
        <p:spPr/>
        <p:txBody>
          <a:bodyPr/>
          <a:lstStyle/>
          <a:p>
            <a:fld id="{B39E1C80-8142-4DB0-ABA0-C6561D0D5209}" type="slidenum">
              <a:rPr lang="en-IN" smtClean="0"/>
              <a:t>‹#›</a:t>
            </a:fld>
            <a:endParaRPr lang="en-IN" dirty="0"/>
          </a:p>
        </p:txBody>
      </p:sp>
    </p:spTree>
    <p:extLst>
      <p:ext uri="{BB962C8B-B14F-4D97-AF65-F5344CB8AC3E}">
        <p14:creationId xmlns:p14="http://schemas.microsoft.com/office/powerpoint/2010/main" val="701820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61548-C79D-5DE0-136B-60A34FB429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730268-DFE2-2F35-8F2D-6F2D95320C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F61E9C-7479-54C8-4F9D-8F8D6AEBAE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5E6063-3570-4D9B-90D3-C127319BE105}" type="datetimeFigureOut">
              <a:rPr lang="en-IN" smtClean="0"/>
              <a:t>27-05-2025</a:t>
            </a:fld>
            <a:endParaRPr lang="en-IN" dirty="0"/>
          </a:p>
        </p:txBody>
      </p:sp>
      <p:sp>
        <p:nvSpPr>
          <p:cNvPr id="5" name="Footer Placeholder 4">
            <a:extLst>
              <a:ext uri="{FF2B5EF4-FFF2-40B4-BE49-F238E27FC236}">
                <a16:creationId xmlns:a16="http://schemas.microsoft.com/office/drawing/2014/main" id="{74946BC1-0A45-C1C5-65F4-C14C0DE5E4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E97798BE-1420-4CE2-9338-4362B4719D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9E1C80-8142-4DB0-ABA0-C6561D0D5209}" type="slidenum">
              <a:rPr lang="en-IN" smtClean="0"/>
              <a:t>‹#›</a:t>
            </a:fld>
            <a:endParaRPr lang="en-IN" dirty="0"/>
          </a:p>
        </p:txBody>
      </p:sp>
    </p:spTree>
    <p:extLst>
      <p:ext uri="{BB962C8B-B14F-4D97-AF65-F5344CB8AC3E}">
        <p14:creationId xmlns:p14="http://schemas.microsoft.com/office/powerpoint/2010/main" val="39868606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dataset"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C4A6671-F045-F218-AE83-5883BD7343B3}"/>
              </a:ext>
            </a:extLst>
          </p:cNvPr>
          <p:cNvSpPr txBox="1"/>
          <p:nvPr/>
        </p:nvSpPr>
        <p:spPr>
          <a:xfrm>
            <a:off x="335280" y="256031"/>
            <a:ext cx="11521440" cy="584775"/>
          </a:xfrm>
          <a:prstGeom prst="rect">
            <a:avLst/>
          </a:prstGeom>
          <a:noFill/>
        </p:spPr>
        <p:txBody>
          <a:bodyPr wrap="square" rtlCol="0">
            <a:spAutoFit/>
          </a:bodyPr>
          <a:lstStyle/>
          <a:p>
            <a:pPr algn="ctr"/>
            <a:r>
              <a:rPr lang="en-US" sz="3200" b="1" dirty="0">
                <a:solidFill>
                  <a:srgbClr val="AC0000"/>
                </a:solidFill>
                <a:latin typeface="Times New Roman" panose="02020603050405020304" pitchFamily="18" charset="0"/>
                <a:cs typeface="Times New Roman" panose="02020603050405020304" pitchFamily="18" charset="0"/>
              </a:rPr>
              <a:t>STALE FRUIT DETECTION </a:t>
            </a:r>
            <a:r>
              <a:rPr lang="en-US" sz="1600" b="1" dirty="0">
                <a:solidFill>
                  <a:srgbClr val="AC0000"/>
                </a:solidFill>
                <a:latin typeface="Times New Roman" panose="02020603050405020304" pitchFamily="18" charset="0"/>
                <a:cs typeface="Times New Roman" panose="02020603050405020304" pitchFamily="18" charset="0"/>
              </a:rPr>
              <a:t>USING SWIN TRANSFORMER</a:t>
            </a:r>
            <a:endParaRPr lang="en-IN" sz="1600" b="1" dirty="0">
              <a:solidFill>
                <a:srgbClr val="AC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C3A15BA-E7BD-2172-DEF6-E0BC8A3C32CD}"/>
              </a:ext>
            </a:extLst>
          </p:cNvPr>
          <p:cNvSpPr txBox="1"/>
          <p:nvPr/>
        </p:nvSpPr>
        <p:spPr>
          <a:xfrm>
            <a:off x="335280" y="1490578"/>
            <a:ext cx="3931920"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Introduction:</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8071CC0-EA9F-AF58-96B3-5120C9F196AA}"/>
              </a:ext>
            </a:extLst>
          </p:cNvPr>
          <p:cNvSpPr txBox="1"/>
          <p:nvPr/>
        </p:nvSpPr>
        <p:spPr>
          <a:xfrm>
            <a:off x="630936" y="2006870"/>
            <a:ext cx="10140696" cy="92333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This project focuses on developing an automated system for detecting stale fruits using the Swin Transformer model. Detecting fruit freshness is crucial for reducing food waste and ensuring quality control throughout the supply chain.</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BF57695-04D6-EC23-A852-12DFB04FF210}"/>
              </a:ext>
            </a:extLst>
          </p:cNvPr>
          <p:cNvSpPr txBox="1"/>
          <p:nvPr/>
        </p:nvSpPr>
        <p:spPr>
          <a:xfrm>
            <a:off x="335280" y="3429000"/>
            <a:ext cx="2889504"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Problem Statement:</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158D584-4910-ABA9-9644-5AAE9DEA99BD}"/>
              </a:ext>
            </a:extLst>
          </p:cNvPr>
          <p:cNvSpPr txBox="1"/>
          <p:nvPr/>
        </p:nvSpPr>
        <p:spPr>
          <a:xfrm>
            <a:off x="630936" y="3964936"/>
            <a:ext cx="9976104" cy="147732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We address the significant food waste and quality control issues in the supply chain caused by the inability to quickly and accurately identify stale or spoiled fruits. Manual inspection, often performed by </a:t>
            </a:r>
            <a:r>
              <a:rPr lang="en-US" b="1" dirty="0">
                <a:latin typeface="Times New Roman" panose="02020603050405020304" pitchFamily="18" charset="0"/>
                <a:cs typeface="Times New Roman" panose="02020603050405020304" pitchFamily="18" charset="0"/>
              </a:rPr>
              <a:t>vendors</a:t>
            </a:r>
            <a:r>
              <a:rPr lang="en-US" dirty="0">
                <a:latin typeface="Times New Roman" panose="02020603050405020304" pitchFamily="18" charset="0"/>
                <a:cs typeface="Times New Roman" panose="02020603050405020304" pitchFamily="18" charset="0"/>
              </a:rPr>
              <a:t> and other stakeholders, is subjective, time-consuming, and inefficient, leading to economic losses and potential health risks. Automated systems face challenges due to the visual similarity between fresh and early-stage stale fruits, requiring advanced computer vision techniques.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1164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B9F95C-999C-6463-35A1-A10CBE215AE2}"/>
              </a:ext>
            </a:extLst>
          </p:cNvPr>
          <p:cNvSpPr txBox="1"/>
          <p:nvPr/>
        </p:nvSpPr>
        <p:spPr>
          <a:xfrm>
            <a:off x="731520" y="1195182"/>
            <a:ext cx="4535424"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Objectives:</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DD378364-E1B7-B51B-6E64-0B16EB52651E}"/>
              </a:ext>
            </a:extLst>
          </p:cNvPr>
          <p:cNvSpPr>
            <a:spLocks noChangeArrowheads="1"/>
          </p:cNvSpPr>
          <p:nvPr/>
        </p:nvSpPr>
        <p:spPr bwMode="auto">
          <a:xfrm rot="10800000" flipV="1">
            <a:off x="731520" y="1970253"/>
            <a:ext cx="9345168"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tabLst/>
            </a:pPr>
            <a:endParaRPr lang="en-US" altLang="en-US" dirty="0">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F8712AF9-BEE1-9A8B-5D3F-8CA7F6C40CBA}"/>
              </a:ext>
            </a:extLst>
          </p:cNvPr>
          <p:cNvSpPr>
            <a:spLocks noChangeArrowheads="1"/>
          </p:cNvSpPr>
          <p:nvPr/>
        </p:nvSpPr>
        <p:spPr bwMode="auto">
          <a:xfrm rot="10800000" flipV="1">
            <a:off x="1289304" y="1656847"/>
            <a:ext cx="1009497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accurately classify fruits as 'fresh' or 'stale' using image processing and deep learning.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explore and evaluate the performance of various Transformer-based architectures, including Vision Transformers (ViT) and hybrid </a:t>
            </a: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CNN+ViT</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for robust feature extraction and classification.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leverage the Swin Transformer as our primary model due to its demonstrated efficiency and effectiveness for this task.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ultimately provide a reliable and efficient method for quality assessment of fruits. </a:t>
            </a:r>
          </a:p>
        </p:txBody>
      </p:sp>
    </p:spTree>
    <p:extLst>
      <p:ext uri="{BB962C8B-B14F-4D97-AF65-F5344CB8AC3E}">
        <p14:creationId xmlns:p14="http://schemas.microsoft.com/office/powerpoint/2010/main" val="1507023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B813E9-00C6-0EC8-7B9F-DEF140DE6D6C}"/>
              </a:ext>
            </a:extLst>
          </p:cNvPr>
          <p:cNvSpPr txBox="1"/>
          <p:nvPr/>
        </p:nvSpPr>
        <p:spPr>
          <a:xfrm>
            <a:off x="377190" y="722161"/>
            <a:ext cx="6094476" cy="461665"/>
          </a:xfrm>
          <a:prstGeom prst="rect">
            <a:avLst/>
          </a:prstGeom>
          <a:noFill/>
        </p:spPr>
        <p:txBody>
          <a:bodyPr wrap="square">
            <a:spAutoFit/>
          </a:bodyPr>
          <a:lstStyle/>
          <a:p>
            <a:r>
              <a:rPr lang="en-US" sz="2400" dirty="0">
                <a:solidFill>
                  <a:srgbClr val="AC0000"/>
                </a:solidFill>
                <a:latin typeface="Times New Roman" panose="02020603050405020304" pitchFamily="18" charset="0"/>
                <a:cs typeface="Times New Roman" panose="02020603050405020304" pitchFamily="18" charset="0"/>
              </a:rPr>
              <a:t>Dataset and Preprocessing:</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D486B64-5B93-C540-DA22-33813C8B72A0}"/>
              </a:ext>
            </a:extLst>
          </p:cNvPr>
          <p:cNvSpPr txBox="1"/>
          <p:nvPr/>
        </p:nvSpPr>
        <p:spPr>
          <a:xfrm>
            <a:off x="868680" y="1426893"/>
            <a:ext cx="9793224"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For this project, we utilized a dataset of Fresh and Stale images of fruits and vegetables containing images of various fruits labeled as 'fresh' or 'stale'. </a:t>
            </a:r>
            <a:r>
              <a:rPr lang="en-US" dirty="0">
                <a:latin typeface="Times New Roman" panose="02020603050405020304" pitchFamily="18" charset="0"/>
                <a:cs typeface="Times New Roman" panose="02020603050405020304" pitchFamily="18" charset="0"/>
                <a:hlinkClick r:id="rId2" action="ppaction://hlinkfile"/>
              </a:rPr>
              <a:t>https://www.kaggle.com/datasets/raghavrpotdar/fresh-and-stale-images-of-fruits-and-vegetables.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Our dataset comprises approximately [14,682] images across [12] classes.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BB0C2D7-7E0B-39A8-1369-EC409413689E}"/>
              </a:ext>
            </a:extLst>
          </p:cNvPr>
          <p:cNvSpPr txBox="1"/>
          <p:nvPr/>
        </p:nvSpPr>
        <p:spPr>
          <a:xfrm flipH="1">
            <a:off x="868680" y="2808732"/>
            <a:ext cx="3692325" cy="430887"/>
          </a:xfrm>
          <a:prstGeom prst="rect">
            <a:avLst/>
          </a:prstGeom>
          <a:noFill/>
        </p:spPr>
        <p:txBody>
          <a:bodyPr wrap="square" rtlCol="0">
            <a:spAutoFit/>
          </a:bodyPr>
          <a:lstStyle/>
          <a:p>
            <a:r>
              <a:rPr lang="en-US" sz="2200" dirty="0">
                <a:solidFill>
                  <a:srgbClr val="AC0000"/>
                </a:solidFill>
                <a:latin typeface="Times New Roman" panose="02020603050405020304" pitchFamily="18" charset="0"/>
                <a:cs typeface="Times New Roman" panose="02020603050405020304" pitchFamily="18" charset="0"/>
              </a:rPr>
              <a:t>Preprocessing steps:</a:t>
            </a:r>
            <a:endParaRPr lang="en-IN" sz="2200" dirty="0">
              <a:solidFill>
                <a:srgbClr val="AC0000"/>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405B1707-7A1E-19EA-1ABA-B510E4316E20}"/>
              </a:ext>
            </a:extLst>
          </p:cNvPr>
          <p:cNvSpPr>
            <a:spLocks noChangeArrowheads="1"/>
          </p:cNvSpPr>
          <p:nvPr/>
        </p:nvSpPr>
        <p:spPr bwMode="auto">
          <a:xfrm rot="10800000" flipV="1">
            <a:off x="1098804" y="3024177"/>
            <a:ext cx="979322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Resizing images to a uniform resolution (e.g., [your resolution] pixels). </a:t>
            </a:r>
            <a:endParaRPr kumimoji="0" lang="en-US" altLang="en-US" sz="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Normalizing pixel values. </a:t>
            </a:r>
            <a:endParaRPr kumimoji="0" lang="en-US" altLang="en-US" sz="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Applying data augmentation techniques (e.g., random rotations, flips, color jitter) to enhance dataset diversity and prevent overfitting </a:t>
            </a:r>
          </a:p>
        </p:txBody>
      </p:sp>
    </p:spTree>
    <p:extLst>
      <p:ext uri="{BB962C8B-B14F-4D97-AF65-F5344CB8AC3E}">
        <p14:creationId xmlns:p14="http://schemas.microsoft.com/office/powerpoint/2010/main" val="4268923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D7DBFA-50C2-90A5-FB4B-22F09F12F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722" y="1147664"/>
            <a:ext cx="10290220" cy="5157216"/>
          </a:xfrm>
          <a:prstGeom prst="rect">
            <a:avLst/>
          </a:prstGeom>
        </p:spPr>
      </p:pic>
      <p:sp>
        <p:nvSpPr>
          <p:cNvPr id="4" name="TextBox 3">
            <a:extLst>
              <a:ext uri="{FF2B5EF4-FFF2-40B4-BE49-F238E27FC236}">
                <a16:creationId xmlns:a16="http://schemas.microsoft.com/office/drawing/2014/main" id="{94E1BC70-BAFA-3753-26F9-F2C9023FD11A}"/>
              </a:ext>
            </a:extLst>
          </p:cNvPr>
          <p:cNvSpPr txBox="1"/>
          <p:nvPr/>
        </p:nvSpPr>
        <p:spPr>
          <a:xfrm>
            <a:off x="3044952" y="5888736"/>
            <a:ext cx="740663" cy="230832"/>
          </a:xfrm>
          <a:prstGeom prst="rect">
            <a:avLst/>
          </a:prstGeom>
          <a:noFill/>
        </p:spPr>
        <p:txBody>
          <a:bodyPr wrap="square" rtlCol="0">
            <a:spAutoFit/>
          </a:bodyPr>
          <a:lstStyle/>
          <a:p>
            <a:r>
              <a:rPr lang="en-US" sz="900" b="1" dirty="0"/>
              <a:t>16X16</a:t>
            </a:r>
            <a:endParaRPr lang="en-IN" sz="900" b="1" dirty="0"/>
          </a:p>
        </p:txBody>
      </p:sp>
      <p:sp>
        <p:nvSpPr>
          <p:cNvPr id="5" name="TextBox 4">
            <a:extLst>
              <a:ext uri="{FF2B5EF4-FFF2-40B4-BE49-F238E27FC236}">
                <a16:creationId xmlns:a16="http://schemas.microsoft.com/office/drawing/2014/main" id="{2D5B8E5C-3F8D-FD80-98EA-2569B0E400B9}"/>
              </a:ext>
            </a:extLst>
          </p:cNvPr>
          <p:cNvSpPr txBox="1"/>
          <p:nvPr/>
        </p:nvSpPr>
        <p:spPr>
          <a:xfrm>
            <a:off x="484632" y="5907024"/>
            <a:ext cx="2518638" cy="246221"/>
          </a:xfrm>
          <a:prstGeom prst="rect">
            <a:avLst/>
          </a:prstGeom>
          <a:noFill/>
        </p:spPr>
        <p:txBody>
          <a:bodyPr wrap="none" rtlCol="0">
            <a:spAutoFit/>
          </a:bodyPr>
          <a:lstStyle/>
          <a:p>
            <a:r>
              <a:rPr lang="en-US" sz="1000" b="1" dirty="0"/>
              <a:t>Total patches N= (</a:t>
            </a:r>
            <a:r>
              <a:rPr lang="en-US" sz="1000" b="1" dirty="0" err="1"/>
              <a:t>image_size</a:t>
            </a:r>
            <a:r>
              <a:rPr lang="en-US" sz="1000" b="1" dirty="0"/>
              <a:t> / </a:t>
            </a:r>
            <a:r>
              <a:rPr lang="en-US" sz="1000" b="1" dirty="0" err="1"/>
              <a:t>patch_size</a:t>
            </a:r>
            <a:r>
              <a:rPr lang="en-US" sz="1000" b="1" dirty="0"/>
              <a:t>)</a:t>
            </a:r>
            <a:r>
              <a:rPr lang="en-US" sz="1000" b="1" baseline="30000" dirty="0"/>
              <a:t>2</a:t>
            </a:r>
            <a:endParaRPr lang="en-IN" sz="1000" b="1" baseline="30000" dirty="0"/>
          </a:p>
        </p:txBody>
      </p:sp>
      <p:sp>
        <p:nvSpPr>
          <p:cNvPr id="6" name="TextBox 5">
            <a:extLst>
              <a:ext uri="{FF2B5EF4-FFF2-40B4-BE49-F238E27FC236}">
                <a16:creationId xmlns:a16="http://schemas.microsoft.com/office/drawing/2014/main" id="{4431F5D0-3BA4-6EAA-4208-50D8FDC872E2}"/>
              </a:ext>
            </a:extLst>
          </p:cNvPr>
          <p:cNvSpPr txBox="1"/>
          <p:nvPr/>
        </p:nvSpPr>
        <p:spPr>
          <a:xfrm>
            <a:off x="928658" y="2890948"/>
            <a:ext cx="681597" cy="415498"/>
          </a:xfrm>
          <a:prstGeom prst="rect">
            <a:avLst/>
          </a:prstGeom>
          <a:noFill/>
        </p:spPr>
        <p:txBody>
          <a:bodyPr wrap="none" rtlCol="0">
            <a:spAutoFit/>
          </a:bodyPr>
          <a:lstStyle/>
          <a:p>
            <a:r>
              <a:rPr lang="en-US" sz="1050" b="1" dirty="0"/>
              <a:t>[CLS] </a:t>
            </a:r>
            <a:br>
              <a:rPr lang="en-US" sz="1050" b="1" dirty="0"/>
            </a:br>
            <a:r>
              <a:rPr lang="en-US" sz="1050" b="1" dirty="0"/>
              <a:t>[32, 768]</a:t>
            </a:r>
            <a:endParaRPr lang="en-IN" sz="1050" b="1" dirty="0"/>
          </a:p>
        </p:txBody>
      </p:sp>
      <p:sp>
        <p:nvSpPr>
          <p:cNvPr id="11" name="TextBox 10">
            <a:extLst>
              <a:ext uri="{FF2B5EF4-FFF2-40B4-BE49-F238E27FC236}">
                <a16:creationId xmlns:a16="http://schemas.microsoft.com/office/drawing/2014/main" id="{35CC91AF-5115-0C21-25F4-BCF1740C1473}"/>
              </a:ext>
            </a:extLst>
          </p:cNvPr>
          <p:cNvSpPr txBox="1"/>
          <p:nvPr/>
        </p:nvSpPr>
        <p:spPr>
          <a:xfrm>
            <a:off x="5242646" y="1765685"/>
            <a:ext cx="774192" cy="276999"/>
          </a:xfrm>
          <a:prstGeom prst="rect">
            <a:avLst/>
          </a:prstGeom>
          <a:noFill/>
        </p:spPr>
        <p:txBody>
          <a:bodyPr wrap="square" rtlCol="0">
            <a:spAutoFit/>
          </a:bodyPr>
          <a:lstStyle/>
          <a:p>
            <a:r>
              <a:rPr lang="en-US" sz="1200" b="1" dirty="0"/>
              <a:t>= 12</a:t>
            </a:r>
            <a:endParaRPr lang="en-IN" sz="1200" b="1" dirty="0"/>
          </a:p>
        </p:txBody>
      </p:sp>
      <p:sp>
        <p:nvSpPr>
          <p:cNvPr id="14" name="TextBox 13">
            <a:extLst>
              <a:ext uri="{FF2B5EF4-FFF2-40B4-BE49-F238E27FC236}">
                <a16:creationId xmlns:a16="http://schemas.microsoft.com/office/drawing/2014/main" id="{B7AF1E2B-44DF-C0F6-17EB-BC0952084936}"/>
              </a:ext>
            </a:extLst>
          </p:cNvPr>
          <p:cNvSpPr txBox="1"/>
          <p:nvPr/>
        </p:nvSpPr>
        <p:spPr>
          <a:xfrm>
            <a:off x="8714318" y="4012801"/>
            <a:ext cx="774192" cy="276999"/>
          </a:xfrm>
          <a:prstGeom prst="rect">
            <a:avLst/>
          </a:prstGeom>
          <a:noFill/>
        </p:spPr>
        <p:txBody>
          <a:bodyPr wrap="square" rtlCol="0">
            <a:spAutoFit/>
          </a:bodyPr>
          <a:lstStyle/>
          <a:p>
            <a:r>
              <a:rPr lang="en-US" sz="1200" b="1" dirty="0"/>
              <a:t>= 12</a:t>
            </a:r>
            <a:endParaRPr lang="en-IN" sz="1200" b="1" dirty="0"/>
          </a:p>
        </p:txBody>
      </p:sp>
      <p:cxnSp>
        <p:nvCxnSpPr>
          <p:cNvPr id="17" name="Straight Connector 16">
            <a:extLst>
              <a:ext uri="{FF2B5EF4-FFF2-40B4-BE49-F238E27FC236}">
                <a16:creationId xmlns:a16="http://schemas.microsoft.com/office/drawing/2014/main" id="{288F603D-88AA-E9EB-F915-5F890E2F92A1}"/>
              </a:ext>
            </a:extLst>
          </p:cNvPr>
          <p:cNvCxnSpPr>
            <a:cxnSpLocks/>
          </p:cNvCxnSpPr>
          <p:nvPr/>
        </p:nvCxnSpPr>
        <p:spPr>
          <a:xfrm flipV="1">
            <a:off x="6254496" y="553120"/>
            <a:ext cx="768097" cy="2144436"/>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Rectangle: Rounded Corners 17">
            <a:extLst>
              <a:ext uri="{FF2B5EF4-FFF2-40B4-BE49-F238E27FC236}">
                <a16:creationId xmlns:a16="http://schemas.microsoft.com/office/drawing/2014/main" id="{00A563FE-3EDE-5915-F368-E9DF3987C985}"/>
              </a:ext>
            </a:extLst>
          </p:cNvPr>
          <p:cNvSpPr/>
          <p:nvPr/>
        </p:nvSpPr>
        <p:spPr>
          <a:xfrm>
            <a:off x="7004390" y="384047"/>
            <a:ext cx="1709928" cy="2313509"/>
          </a:xfrm>
          <a:prstGeom prst="roundRect">
            <a:avLst/>
          </a:prstGeom>
          <a:ln w="38100">
            <a:solidFill>
              <a:schemeClr val="tx1">
                <a:lumMod val="75000"/>
                <a:lumOff val="2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cxnSp>
        <p:nvCxnSpPr>
          <p:cNvPr id="27" name="Straight Arrow Connector 26">
            <a:extLst>
              <a:ext uri="{FF2B5EF4-FFF2-40B4-BE49-F238E27FC236}">
                <a16:creationId xmlns:a16="http://schemas.microsoft.com/office/drawing/2014/main" id="{F2E5ED9D-5107-D949-449A-916CC26DBFB7}"/>
              </a:ext>
            </a:extLst>
          </p:cNvPr>
          <p:cNvCxnSpPr>
            <a:cxnSpLocks/>
            <a:stCxn id="43" idx="0"/>
          </p:cNvCxnSpPr>
          <p:nvPr/>
        </p:nvCxnSpPr>
        <p:spPr>
          <a:xfrm flipH="1" flipV="1">
            <a:off x="7854692" y="2069223"/>
            <a:ext cx="1" cy="1780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Rounded Corners 34">
            <a:extLst>
              <a:ext uri="{FF2B5EF4-FFF2-40B4-BE49-F238E27FC236}">
                <a16:creationId xmlns:a16="http://schemas.microsoft.com/office/drawing/2014/main" id="{870ED8F9-B629-48B6-5051-DBB3642A485D}"/>
              </a:ext>
            </a:extLst>
          </p:cNvPr>
          <p:cNvSpPr/>
          <p:nvPr/>
        </p:nvSpPr>
        <p:spPr>
          <a:xfrm>
            <a:off x="7443215" y="989925"/>
            <a:ext cx="841245" cy="239608"/>
          </a:xfrm>
          <a:prstGeom prst="roundRect">
            <a:avLst/>
          </a:prstGeom>
          <a:solidFill>
            <a:srgbClr val="91D2E5"/>
          </a:solidFill>
          <a:ln w="190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Linear</a:t>
            </a:r>
            <a:endParaRPr lang="en-IN" sz="1200" b="1" dirty="0">
              <a:solidFill>
                <a:schemeClr val="tx1"/>
              </a:solidFill>
            </a:endParaRPr>
          </a:p>
        </p:txBody>
      </p:sp>
      <p:sp>
        <p:nvSpPr>
          <p:cNvPr id="36" name="Rectangle: Rounded Corners 35">
            <a:extLst>
              <a:ext uri="{FF2B5EF4-FFF2-40B4-BE49-F238E27FC236}">
                <a16:creationId xmlns:a16="http://schemas.microsoft.com/office/drawing/2014/main" id="{4ADA7AB9-C378-5510-E7EC-13AB36AC61A2}"/>
              </a:ext>
            </a:extLst>
          </p:cNvPr>
          <p:cNvSpPr/>
          <p:nvPr/>
        </p:nvSpPr>
        <p:spPr>
          <a:xfrm>
            <a:off x="7315197" y="1893235"/>
            <a:ext cx="1078989" cy="165524"/>
          </a:xfrm>
          <a:prstGeom prst="roundRect">
            <a:avLst/>
          </a:prstGeom>
          <a:solidFill>
            <a:schemeClr val="accent2">
              <a:lumMod val="60000"/>
              <a:lumOff val="40000"/>
            </a:schemeClr>
          </a:solidFill>
          <a:ln w="190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GELU</a:t>
            </a:r>
            <a:endParaRPr lang="en-IN" sz="1100" b="1" dirty="0">
              <a:solidFill>
                <a:schemeClr val="tx1"/>
              </a:solidFill>
            </a:endParaRPr>
          </a:p>
        </p:txBody>
      </p:sp>
      <p:sp>
        <p:nvSpPr>
          <p:cNvPr id="40" name="Rectangle: Rounded Corners 39">
            <a:extLst>
              <a:ext uri="{FF2B5EF4-FFF2-40B4-BE49-F238E27FC236}">
                <a16:creationId xmlns:a16="http://schemas.microsoft.com/office/drawing/2014/main" id="{DCC4BCB8-678F-E303-5588-B2543DB4B156}"/>
              </a:ext>
            </a:extLst>
          </p:cNvPr>
          <p:cNvSpPr/>
          <p:nvPr/>
        </p:nvSpPr>
        <p:spPr>
          <a:xfrm>
            <a:off x="7348724" y="1445153"/>
            <a:ext cx="1011934" cy="227668"/>
          </a:xfrm>
          <a:prstGeom prst="roundRect">
            <a:avLst/>
          </a:prstGeom>
          <a:solidFill>
            <a:schemeClr val="accent6">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Dropout</a:t>
            </a:r>
            <a:endParaRPr lang="en-IN" sz="1200" b="1" dirty="0">
              <a:solidFill>
                <a:schemeClr val="tx1"/>
              </a:solidFill>
            </a:endParaRPr>
          </a:p>
        </p:txBody>
      </p:sp>
      <p:sp>
        <p:nvSpPr>
          <p:cNvPr id="43" name="Rectangle: Rounded Corners 42">
            <a:extLst>
              <a:ext uri="{FF2B5EF4-FFF2-40B4-BE49-F238E27FC236}">
                <a16:creationId xmlns:a16="http://schemas.microsoft.com/office/drawing/2014/main" id="{70548C28-8FD7-9178-EA16-48FC8616487B}"/>
              </a:ext>
            </a:extLst>
          </p:cNvPr>
          <p:cNvSpPr/>
          <p:nvPr/>
        </p:nvSpPr>
        <p:spPr>
          <a:xfrm>
            <a:off x="7434070" y="2247306"/>
            <a:ext cx="841245" cy="239608"/>
          </a:xfrm>
          <a:prstGeom prst="roundRect">
            <a:avLst/>
          </a:prstGeom>
          <a:solidFill>
            <a:srgbClr val="91D2E5"/>
          </a:solidFill>
          <a:ln w="190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Linear</a:t>
            </a:r>
            <a:endParaRPr lang="en-IN" sz="1200" b="1" dirty="0">
              <a:solidFill>
                <a:schemeClr val="tx1"/>
              </a:solidFill>
            </a:endParaRPr>
          </a:p>
        </p:txBody>
      </p:sp>
      <p:cxnSp>
        <p:nvCxnSpPr>
          <p:cNvPr id="44" name="Straight Arrow Connector 43">
            <a:extLst>
              <a:ext uri="{FF2B5EF4-FFF2-40B4-BE49-F238E27FC236}">
                <a16:creationId xmlns:a16="http://schemas.microsoft.com/office/drawing/2014/main" id="{68FA9C66-106E-9469-6598-A44AB4BAED46}"/>
              </a:ext>
            </a:extLst>
          </p:cNvPr>
          <p:cNvCxnSpPr>
            <a:cxnSpLocks/>
            <a:stCxn id="36" idx="0"/>
            <a:endCxn id="40" idx="2"/>
          </p:cNvCxnSpPr>
          <p:nvPr/>
        </p:nvCxnSpPr>
        <p:spPr>
          <a:xfrm flipH="1" flipV="1">
            <a:off x="7854691" y="1672821"/>
            <a:ext cx="1" cy="2204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D3E1A0B5-AE12-128E-2030-B739139CFAE7}"/>
              </a:ext>
            </a:extLst>
          </p:cNvPr>
          <p:cNvCxnSpPr>
            <a:cxnSpLocks/>
            <a:stCxn id="40" idx="0"/>
            <a:endCxn id="35" idx="2"/>
          </p:cNvCxnSpPr>
          <p:nvPr/>
        </p:nvCxnSpPr>
        <p:spPr>
          <a:xfrm flipV="1">
            <a:off x="7854691" y="1229533"/>
            <a:ext cx="9147" cy="215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83C2979A-CC9D-CB3D-D2AF-C29DB8A6F039}"/>
              </a:ext>
            </a:extLst>
          </p:cNvPr>
          <p:cNvCxnSpPr>
            <a:cxnSpLocks/>
            <a:stCxn id="35" idx="0"/>
          </p:cNvCxnSpPr>
          <p:nvPr/>
        </p:nvCxnSpPr>
        <p:spPr>
          <a:xfrm flipV="1">
            <a:off x="7863838" y="803470"/>
            <a:ext cx="3042" cy="1864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5EE807DB-1A66-B2DB-53F7-52613EB27A08}"/>
              </a:ext>
            </a:extLst>
          </p:cNvPr>
          <p:cNvCxnSpPr>
            <a:cxnSpLocks/>
            <a:stCxn id="18" idx="2"/>
            <a:endCxn id="43" idx="2"/>
          </p:cNvCxnSpPr>
          <p:nvPr/>
        </p:nvCxnSpPr>
        <p:spPr>
          <a:xfrm flipH="1" flipV="1">
            <a:off x="7854693" y="2486914"/>
            <a:ext cx="4661" cy="2106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Rectangle: Rounded Corners 67">
            <a:extLst>
              <a:ext uri="{FF2B5EF4-FFF2-40B4-BE49-F238E27FC236}">
                <a16:creationId xmlns:a16="http://schemas.microsoft.com/office/drawing/2014/main" id="{E92EFC9D-481B-5E1B-869F-B6E10D1A5A45}"/>
              </a:ext>
            </a:extLst>
          </p:cNvPr>
          <p:cNvSpPr/>
          <p:nvPr/>
        </p:nvSpPr>
        <p:spPr>
          <a:xfrm>
            <a:off x="7357870" y="590736"/>
            <a:ext cx="1011934" cy="227668"/>
          </a:xfrm>
          <a:prstGeom prst="roundRect">
            <a:avLst/>
          </a:prstGeom>
          <a:solidFill>
            <a:schemeClr val="accent6">
              <a:lumMod val="40000"/>
              <a:lumOff val="6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Dropout</a:t>
            </a:r>
            <a:endParaRPr lang="en-IN" sz="1200" b="1" dirty="0">
              <a:solidFill>
                <a:schemeClr val="tx1"/>
              </a:solidFill>
            </a:endParaRPr>
          </a:p>
        </p:txBody>
      </p:sp>
      <p:cxnSp>
        <p:nvCxnSpPr>
          <p:cNvPr id="73" name="Straight Connector 72">
            <a:extLst>
              <a:ext uri="{FF2B5EF4-FFF2-40B4-BE49-F238E27FC236}">
                <a16:creationId xmlns:a16="http://schemas.microsoft.com/office/drawing/2014/main" id="{D55A1154-DB62-4D3C-C459-DB1C67CCC3D9}"/>
              </a:ext>
            </a:extLst>
          </p:cNvPr>
          <p:cNvCxnSpPr>
            <a:cxnSpLocks/>
          </p:cNvCxnSpPr>
          <p:nvPr/>
        </p:nvCxnSpPr>
        <p:spPr>
          <a:xfrm flipV="1">
            <a:off x="6254496" y="2697556"/>
            <a:ext cx="841202" cy="274244"/>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9" name="Straight Arrow Connector 78">
            <a:extLst>
              <a:ext uri="{FF2B5EF4-FFF2-40B4-BE49-F238E27FC236}">
                <a16:creationId xmlns:a16="http://schemas.microsoft.com/office/drawing/2014/main" id="{5E3CD128-1C35-AB70-FAD9-AA7C96C6C379}"/>
              </a:ext>
            </a:extLst>
          </p:cNvPr>
          <p:cNvCxnSpPr>
            <a:cxnSpLocks/>
          </p:cNvCxnSpPr>
          <p:nvPr/>
        </p:nvCxnSpPr>
        <p:spPr>
          <a:xfrm flipV="1">
            <a:off x="7869934" y="388942"/>
            <a:ext cx="3042" cy="1864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424B887E-5BD5-9855-8AE9-61237C3F38C1}"/>
              </a:ext>
            </a:extLst>
          </p:cNvPr>
          <p:cNvSpPr txBox="1"/>
          <p:nvPr/>
        </p:nvSpPr>
        <p:spPr>
          <a:xfrm>
            <a:off x="8714318" y="5888736"/>
            <a:ext cx="3051110" cy="261610"/>
          </a:xfrm>
          <a:prstGeom prst="rect">
            <a:avLst/>
          </a:prstGeom>
          <a:noFill/>
        </p:spPr>
        <p:txBody>
          <a:bodyPr wrap="square" rtlCol="0">
            <a:spAutoFit/>
          </a:bodyPr>
          <a:lstStyle/>
          <a:p>
            <a:r>
              <a:rPr lang="en-US" sz="1100" b="1" dirty="0"/>
              <a:t>ATTENTION(Q, K, V) = SoftMax(QK</a:t>
            </a:r>
            <a:r>
              <a:rPr lang="en-US" sz="1100" b="1" baseline="30000" dirty="0"/>
              <a:t>T  </a:t>
            </a:r>
            <a:r>
              <a:rPr lang="en-US" sz="1100" b="1" dirty="0"/>
              <a:t>/ √</a:t>
            </a:r>
            <a:r>
              <a:rPr lang="en-US" sz="1100" b="1" dirty="0" err="1"/>
              <a:t>d_k</a:t>
            </a:r>
            <a:r>
              <a:rPr lang="en-US" sz="1100" b="1" dirty="0"/>
              <a:t>) V</a:t>
            </a:r>
            <a:r>
              <a:rPr lang="en-US" sz="1100" b="1" baseline="30000" dirty="0"/>
              <a:t> </a:t>
            </a:r>
            <a:endParaRPr lang="en-IN" sz="1100" b="1" baseline="30000" dirty="0"/>
          </a:p>
        </p:txBody>
      </p:sp>
      <p:sp>
        <p:nvSpPr>
          <p:cNvPr id="82" name="TextBox 81">
            <a:extLst>
              <a:ext uri="{FF2B5EF4-FFF2-40B4-BE49-F238E27FC236}">
                <a16:creationId xmlns:a16="http://schemas.microsoft.com/office/drawing/2014/main" id="{A54015A2-9E09-72B6-A5C7-4A4F59413523}"/>
              </a:ext>
            </a:extLst>
          </p:cNvPr>
          <p:cNvSpPr txBox="1"/>
          <p:nvPr/>
        </p:nvSpPr>
        <p:spPr>
          <a:xfrm>
            <a:off x="928658" y="1343543"/>
            <a:ext cx="1733813" cy="215444"/>
          </a:xfrm>
          <a:prstGeom prst="rect">
            <a:avLst/>
          </a:prstGeom>
          <a:noFill/>
        </p:spPr>
        <p:txBody>
          <a:bodyPr wrap="square" rtlCol="0">
            <a:spAutoFit/>
          </a:bodyPr>
          <a:lstStyle/>
          <a:p>
            <a:r>
              <a:rPr lang="en-US" sz="800" b="1" dirty="0"/>
              <a:t>[32, 2]</a:t>
            </a:r>
            <a:endParaRPr lang="en-IN" sz="800" b="1" dirty="0"/>
          </a:p>
        </p:txBody>
      </p:sp>
      <p:sp>
        <p:nvSpPr>
          <p:cNvPr id="83" name="TextBox 82">
            <a:extLst>
              <a:ext uri="{FF2B5EF4-FFF2-40B4-BE49-F238E27FC236}">
                <a16:creationId xmlns:a16="http://schemas.microsoft.com/office/drawing/2014/main" id="{D907F1A1-3C8E-2E1C-0978-78830B74888F}"/>
              </a:ext>
            </a:extLst>
          </p:cNvPr>
          <p:cNvSpPr txBox="1"/>
          <p:nvPr/>
        </p:nvSpPr>
        <p:spPr>
          <a:xfrm>
            <a:off x="1911094" y="3513281"/>
            <a:ext cx="992579" cy="261610"/>
          </a:xfrm>
          <a:prstGeom prst="rect">
            <a:avLst/>
          </a:prstGeom>
          <a:noFill/>
        </p:spPr>
        <p:txBody>
          <a:bodyPr wrap="none" rtlCol="0">
            <a:spAutoFit/>
          </a:bodyPr>
          <a:lstStyle/>
          <a:p>
            <a:r>
              <a:rPr lang="en-US" sz="1100" b="1" dirty="0"/>
              <a:t>[32, 196, 768]</a:t>
            </a:r>
            <a:endParaRPr lang="en-IN" sz="1100" b="1" dirty="0"/>
          </a:p>
        </p:txBody>
      </p:sp>
      <p:sp>
        <p:nvSpPr>
          <p:cNvPr id="84" name="TextBox 83">
            <a:extLst>
              <a:ext uri="{FF2B5EF4-FFF2-40B4-BE49-F238E27FC236}">
                <a16:creationId xmlns:a16="http://schemas.microsoft.com/office/drawing/2014/main" id="{E389E52F-7601-172B-EBC8-7385647EE1B0}"/>
              </a:ext>
            </a:extLst>
          </p:cNvPr>
          <p:cNvSpPr txBox="1"/>
          <p:nvPr/>
        </p:nvSpPr>
        <p:spPr>
          <a:xfrm>
            <a:off x="1991455" y="1732647"/>
            <a:ext cx="1135247" cy="261610"/>
          </a:xfrm>
          <a:prstGeom prst="rect">
            <a:avLst/>
          </a:prstGeom>
          <a:noFill/>
        </p:spPr>
        <p:txBody>
          <a:bodyPr wrap="none" rtlCol="0">
            <a:spAutoFit/>
          </a:bodyPr>
          <a:lstStyle/>
          <a:p>
            <a:r>
              <a:rPr lang="en-US" sz="1100" b="1" dirty="0"/>
              <a:t>[32, 196+1, 768]</a:t>
            </a:r>
            <a:endParaRPr lang="en-IN" sz="1100" b="1" dirty="0"/>
          </a:p>
        </p:txBody>
      </p:sp>
      <p:sp>
        <p:nvSpPr>
          <p:cNvPr id="86" name="TextBox 85">
            <a:extLst>
              <a:ext uri="{FF2B5EF4-FFF2-40B4-BE49-F238E27FC236}">
                <a16:creationId xmlns:a16="http://schemas.microsoft.com/office/drawing/2014/main" id="{49FB85E7-F1A0-51D2-E531-1AA0A87C8467}"/>
              </a:ext>
            </a:extLst>
          </p:cNvPr>
          <p:cNvSpPr txBox="1"/>
          <p:nvPr/>
        </p:nvSpPr>
        <p:spPr>
          <a:xfrm>
            <a:off x="3415283" y="5009849"/>
            <a:ext cx="992579" cy="261610"/>
          </a:xfrm>
          <a:prstGeom prst="rect">
            <a:avLst/>
          </a:prstGeom>
          <a:noFill/>
        </p:spPr>
        <p:txBody>
          <a:bodyPr wrap="none" rtlCol="0">
            <a:spAutoFit/>
          </a:bodyPr>
          <a:lstStyle/>
          <a:p>
            <a:r>
              <a:rPr lang="en-US" sz="1100" b="1" dirty="0"/>
              <a:t>[32, 768, 196]</a:t>
            </a:r>
            <a:endParaRPr lang="en-IN" sz="1100" b="1" dirty="0"/>
          </a:p>
        </p:txBody>
      </p:sp>
      <p:sp>
        <p:nvSpPr>
          <p:cNvPr id="87" name="TextBox 86">
            <a:extLst>
              <a:ext uri="{FF2B5EF4-FFF2-40B4-BE49-F238E27FC236}">
                <a16:creationId xmlns:a16="http://schemas.microsoft.com/office/drawing/2014/main" id="{F4ECAD02-C42A-D743-9B12-A3E2DE9A0B77}"/>
              </a:ext>
            </a:extLst>
          </p:cNvPr>
          <p:cNvSpPr txBox="1"/>
          <p:nvPr/>
        </p:nvSpPr>
        <p:spPr>
          <a:xfrm>
            <a:off x="339957" y="326602"/>
            <a:ext cx="4737538"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VISION TRANSFORMER[Vit]</a:t>
            </a:r>
            <a:endParaRPr lang="en-IN" sz="2400" dirty="0">
              <a:solidFill>
                <a:srgbClr val="AC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3640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29C278-2AE9-F364-CA24-804992D88AE1}"/>
              </a:ext>
            </a:extLst>
          </p:cNvPr>
          <p:cNvSpPr txBox="1"/>
          <p:nvPr/>
        </p:nvSpPr>
        <p:spPr>
          <a:xfrm>
            <a:off x="109728" y="108135"/>
            <a:ext cx="6693408" cy="3421449"/>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rPr>
              <a:t># Patch Embedding Layer</a:t>
            </a:r>
            <a:endParaRPr lang="en-IN" sz="900" b="0" dirty="0">
              <a:solidFill>
                <a:srgbClr val="CCCCCC"/>
              </a:solidFill>
              <a:effectLst/>
              <a:latin typeface="Consolas" panose="020B0609020204030204" pitchFamily="49" charset="0"/>
            </a:endParaRP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PatchEmbeddingLayer</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a:t>
            </a:r>
            <a:r>
              <a:rPr lang="en-IN" sz="900" b="0" dirty="0" err="1">
                <a:effectLst/>
                <a:latin typeface="Consolas" panose="020B0609020204030204" pitchFamily="49" charset="0"/>
              </a:rPr>
              <a:t>in_channels</a:t>
            </a:r>
            <a:r>
              <a:rPr lang="en-IN" sz="900" b="0" dirty="0">
                <a:effectLst/>
                <a:latin typeface="Consolas" panose="020B0609020204030204" pitchFamily="49" charset="0"/>
              </a:rPr>
              <a:t>=3, </a:t>
            </a:r>
            <a:r>
              <a:rPr lang="en-IN" sz="900" b="0" dirty="0" err="1">
                <a:effectLst/>
                <a:latin typeface="Consolas" panose="020B0609020204030204" pitchFamily="49" charset="0"/>
              </a:rPr>
              <a:t>patch_size</a:t>
            </a:r>
            <a:r>
              <a:rPr lang="en-IN" sz="900" b="0" dirty="0">
                <a:effectLst/>
                <a:latin typeface="Consolas" panose="020B0609020204030204" pitchFamily="49" charset="0"/>
              </a:rPr>
              <a:t>=16, </a:t>
            </a:r>
            <a:r>
              <a:rPr lang="en-IN" sz="900" b="0" dirty="0" err="1">
                <a:effectLst/>
                <a:latin typeface="Consolas" panose="020B0609020204030204" pitchFamily="49" charset="0"/>
              </a:rPr>
              <a:t>embedding_dim</a:t>
            </a:r>
            <a:r>
              <a:rPr lang="en-IN" sz="900" b="0" dirty="0">
                <a:effectLst/>
                <a:latin typeface="Consolas" panose="020B0609020204030204" pitchFamily="49" charset="0"/>
              </a:rPr>
              <a:t>=768, </a:t>
            </a:r>
            <a:r>
              <a:rPr lang="en-IN" sz="900" b="0" dirty="0" err="1">
                <a:effectLst/>
                <a:latin typeface="Consolas" panose="020B0609020204030204" pitchFamily="49" charset="0"/>
              </a:rPr>
              <a:t>img_size</a:t>
            </a:r>
            <a:r>
              <a:rPr lang="en-IN" sz="900" b="0" dirty="0">
                <a:effectLst/>
                <a:latin typeface="Consolas" panose="020B0609020204030204" pitchFamily="49" charset="0"/>
              </a:rPr>
              <a:t>=224):</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self.patch_size</a:t>
            </a:r>
            <a:r>
              <a:rPr lang="en-IN" sz="900" b="0" dirty="0">
                <a:effectLst/>
                <a:latin typeface="Consolas" panose="020B0609020204030204" pitchFamily="49" charset="0"/>
              </a:rPr>
              <a:t> = </a:t>
            </a:r>
            <a:r>
              <a:rPr lang="en-IN" sz="900" b="0" dirty="0" err="1">
                <a:effectLst/>
                <a:latin typeface="Consolas" panose="020B0609020204030204" pitchFamily="49" charset="0"/>
              </a:rPr>
              <a:t>patch_size</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self.num_patches</a:t>
            </a:r>
            <a:r>
              <a:rPr lang="en-IN" sz="900" b="0" dirty="0">
                <a:effectLst/>
                <a:latin typeface="Consolas" panose="020B0609020204030204" pitchFamily="49" charset="0"/>
              </a:rPr>
              <a:t> = (</a:t>
            </a:r>
            <a:r>
              <a:rPr lang="en-IN" sz="900" b="0" dirty="0" err="1">
                <a:effectLst/>
                <a:latin typeface="Consolas" panose="020B0609020204030204" pitchFamily="49" charset="0"/>
              </a:rPr>
              <a:t>img_size</a:t>
            </a:r>
            <a:r>
              <a:rPr lang="en-IN" sz="900" b="0" dirty="0">
                <a:effectLst/>
                <a:latin typeface="Consolas" panose="020B0609020204030204" pitchFamily="49" charset="0"/>
              </a:rPr>
              <a:t> // </a:t>
            </a:r>
            <a:r>
              <a:rPr lang="en-IN" sz="900" b="0" dirty="0" err="1">
                <a:effectLst/>
                <a:latin typeface="Consolas" panose="020B0609020204030204" pitchFamily="49" charset="0"/>
              </a:rPr>
              <a:t>patch_size</a:t>
            </a:r>
            <a:r>
              <a:rPr lang="en-IN" sz="900" b="0" dirty="0">
                <a:effectLst/>
                <a:latin typeface="Consolas" panose="020B0609020204030204" pitchFamily="49" charset="0"/>
              </a:rPr>
              <a:t>) ** 2</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self.proj</a:t>
            </a:r>
            <a:r>
              <a:rPr lang="en-IN" sz="900" b="0" dirty="0">
                <a:effectLst/>
                <a:latin typeface="Consolas" panose="020B0609020204030204" pitchFamily="49" charset="0"/>
              </a:rPr>
              <a:t> = nn.Conv2d(</a:t>
            </a:r>
            <a:r>
              <a:rPr lang="en-IN" sz="900" b="0" dirty="0" err="1">
                <a:effectLst/>
                <a:latin typeface="Consolas" panose="020B0609020204030204" pitchFamily="49" charset="0"/>
              </a:rPr>
              <a:t>in_channels</a:t>
            </a:r>
            <a:r>
              <a:rPr lang="en-IN" sz="900" b="0" dirty="0">
                <a:effectLst/>
                <a:latin typeface="Consolas" panose="020B0609020204030204" pitchFamily="49" charset="0"/>
              </a:rPr>
              <a:t>, </a:t>
            </a:r>
            <a:r>
              <a:rPr lang="en-IN" sz="900" b="0" dirty="0" err="1">
                <a:effectLst/>
                <a:latin typeface="Consolas" panose="020B0609020204030204" pitchFamily="49" charset="0"/>
              </a:rPr>
              <a:t>embedding_dim</a:t>
            </a:r>
            <a:r>
              <a:rPr lang="en-IN" sz="900" b="0" dirty="0">
                <a:effectLst/>
                <a:latin typeface="Consolas" panose="020B0609020204030204" pitchFamily="49" charset="0"/>
              </a:rPr>
              <a:t>, </a:t>
            </a:r>
            <a:r>
              <a:rPr lang="en-IN" sz="900" b="0" dirty="0" err="1">
                <a:effectLst/>
                <a:latin typeface="Consolas" panose="020B0609020204030204" pitchFamily="49" charset="0"/>
              </a:rPr>
              <a:t>kernel_size</a:t>
            </a:r>
            <a:r>
              <a:rPr lang="en-IN" sz="900" b="0" dirty="0">
                <a:effectLst/>
                <a:latin typeface="Consolas" panose="020B0609020204030204" pitchFamily="49" charset="0"/>
              </a:rPr>
              <a:t>=</a:t>
            </a:r>
            <a:r>
              <a:rPr lang="en-IN" sz="900" b="0" dirty="0" err="1">
                <a:effectLst/>
                <a:latin typeface="Consolas" panose="020B0609020204030204" pitchFamily="49" charset="0"/>
              </a:rPr>
              <a:t>patch_size</a:t>
            </a:r>
            <a:r>
              <a:rPr lang="en-IN" sz="900" b="0" dirty="0">
                <a:effectLst/>
                <a:latin typeface="Consolas" panose="020B0609020204030204" pitchFamily="49" charset="0"/>
              </a:rPr>
              <a:t>, stride=</a:t>
            </a:r>
            <a:r>
              <a:rPr lang="en-IN" sz="900" b="0" dirty="0" err="1">
                <a:effectLst/>
                <a:latin typeface="Consolas" panose="020B0609020204030204" pitchFamily="49" charset="0"/>
              </a:rPr>
              <a:t>patch_size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self.class_token</a:t>
            </a:r>
            <a:r>
              <a:rPr lang="en-IN" sz="900" b="0" dirty="0">
                <a:effectLst/>
                <a:latin typeface="Consolas" panose="020B0609020204030204" pitchFamily="49" charset="0"/>
              </a:rPr>
              <a:t> = </a:t>
            </a:r>
            <a:r>
              <a:rPr lang="en-IN" sz="900" b="0" dirty="0" err="1">
                <a:effectLst/>
                <a:latin typeface="Consolas" panose="020B0609020204030204" pitchFamily="49" charset="0"/>
              </a:rPr>
              <a:t>nn.Parameter</a:t>
            </a:r>
            <a:r>
              <a:rPr lang="en-IN" sz="900" b="0" dirty="0">
                <a:effectLst/>
                <a:latin typeface="Consolas" panose="020B0609020204030204" pitchFamily="49" charset="0"/>
              </a:rPr>
              <a:t>(</a:t>
            </a:r>
            <a:r>
              <a:rPr lang="en-IN" sz="900" b="0" dirty="0" err="1">
                <a:effectLst/>
                <a:latin typeface="Consolas" panose="020B0609020204030204" pitchFamily="49" charset="0"/>
              </a:rPr>
              <a:t>torch.randn</a:t>
            </a:r>
            <a:r>
              <a:rPr lang="en-IN" sz="900" b="0" dirty="0">
                <a:effectLst/>
                <a:latin typeface="Consolas" panose="020B0609020204030204" pitchFamily="49" charset="0"/>
              </a:rPr>
              <a:t>(1, 1, </a:t>
            </a:r>
            <a:r>
              <a:rPr lang="en-IN" sz="900" b="0" dirty="0" err="1">
                <a:effectLst/>
                <a:latin typeface="Consolas" panose="020B0609020204030204" pitchFamily="49" charset="0"/>
              </a:rPr>
              <a:t>embedding_dim</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self.position_embeddings</a:t>
            </a:r>
            <a:r>
              <a:rPr lang="en-IN" sz="900" b="0" dirty="0">
                <a:effectLst/>
                <a:latin typeface="Consolas" panose="020B0609020204030204" pitchFamily="49" charset="0"/>
              </a:rPr>
              <a:t> = </a:t>
            </a:r>
            <a:r>
              <a:rPr lang="en-IN" sz="900" b="0" dirty="0" err="1">
                <a:effectLst/>
                <a:latin typeface="Consolas" panose="020B0609020204030204" pitchFamily="49" charset="0"/>
              </a:rPr>
              <a:t>nn.Parameter</a:t>
            </a:r>
            <a:r>
              <a:rPr lang="en-IN" sz="900" b="0" dirty="0">
                <a:effectLst/>
                <a:latin typeface="Consolas" panose="020B0609020204030204" pitchFamily="49" charset="0"/>
              </a:rPr>
              <a:t>(</a:t>
            </a:r>
            <a:r>
              <a:rPr lang="en-IN" sz="900" b="0" dirty="0" err="1">
                <a:effectLst/>
                <a:latin typeface="Consolas" panose="020B0609020204030204" pitchFamily="49" charset="0"/>
              </a:rPr>
              <a:t>torch.randn</a:t>
            </a:r>
            <a:r>
              <a:rPr lang="en-IN" sz="900" b="0" dirty="0">
                <a:effectLst/>
                <a:latin typeface="Consolas" panose="020B0609020204030204" pitchFamily="49" charset="0"/>
              </a:rPr>
              <a:t>(1, </a:t>
            </a:r>
            <a:r>
              <a:rPr lang="en-IN" sz="900" b="0" dirty="0" err="1">
                <a:effectLst/>
                <a:latin typeface="Consolas" panose="020B0609020204030204" pitchFamily="49" charset="0"/>
              </a:rPr>
              <a:t>self.num_patches</a:t>
            </a:r>
            <a:r>
              <a:rPr lang="en-IN" sz="900" b="0" dirty="0">
                <a:effectLst/>
                <a:latin typeface="Consolas" panose="020B0609020204030204" pitchFamily="49" charset="0"/>
              </a:rPr>
              <a:t> + 1, </a:t>
            </a:r>
            <a:r>
              <a:rPr lang="en-IN" sz="900" b="0" dirty="0" err="1">
                <a:effectLst/>
                <a:latin typeface="Consolas" panose="020B0609020204030204" pitchFamily="49" charset="0"/>
              </a:rPr>
              <a:t>embedding_dim</a:t>
            </a:r>
            <a:r>
              <a:rPr lang="en-IN" sz="900" b="0" dirty="0">
                <a:effectLst/>
                <a:latin typeface="Consolas" panose="020B0609020204030204" pitchFamily="49" charset="0"/>
              </a:rPr>
              <a:t>))</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a:t>
            </a:r>
          </a:p>
          <a:p>
            <a:pPr>
              <a:lnSpc>
                <a:spcPts val="1425"/>
              </a:lnSpc>
              <a:buNone/>
            </a:pPr>
            <a:r>
              <a:rPr lang="en-IN" sz="900" b="0" dirty="0">
                <a:effectLst/>
                <a:latin typeface="Consolas" panose="020B0609020204030204" pitchFamily="49" charset="0"/>
              </a:rPr>
              <a:t>        B = </a:t>
            </a:r>
            <a:r>
              <a:rPr lang="en-IN" sz="900" b="0" dirty="0" err="1">
                <a:effectLst/>
                <a:latin typeface="Consolas" panose="020B0609020204030204" pitchFamily="49" charset="0"/>
              </a:rPr>
              <a:t>x.shape</a:t>
            </a:r>
            <a:r>
              <a:rPr lang="en-IN" sz="900" b="0" dirty="0">
                <a:effectLst/>
                <a:latin typeface="Consolas" panose="020B0609020204030204" pitchFamily="49" charset="0"/>
              </a:rPr>
              <a:t>[0]</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self.proj</a:t>
            </a:r>
            <a:r>
              <a:rPr lang="en-IN" sz="900" b="0" dirty="0">
                <a:effectLst/>
                <a:latin typeface="Consolas" panose="020B0609020204030204" pitchFamily="49" charset="0"/>
              </a:rPr>
              <a:t>(x).flatten(2).transpose(1, 2) </a:t>
            </a:r>
            <a:r>
              <a:rPr lang="en-IN" sz="900" b="0" dirty="0">
                <a:solidFill>
                  <a:srgbClr val="C2D5BA"/>
                </a:solidFill>
                <a:effectLst/>
                <a:latin typeface="Consolas" panose="020B0609020204030204" pitchFamily="49" charset="0"/>
              </a:rPr>
              <a:t> </a:t>
            </a:r>
            <a:r>
              <a:rPr lang="en-IN" sz="900" b="0" dirty="0">
                <a:solidFill>
                  <a:srgbClr val="78A365"/>
                </a:solidFill>
                <a:effectLst/>
                <a:latin typeface="Consolas" panose="020B0609020204030204" pitchFamily="49" charset="0"/>
              </a:rPr>
              <a:t># (B, N, C)</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cls_tokens</a:t>
            </a:r>
            <a:r>
              <a:rPr lang="en-IN" sz="900" b="0" dirty="0">
                <a:effectLst/>
                <a:latin typeface="Consolas" panose="020B0609020204030204" pitchFamily="49" charset="0"/>
              </a:rPr>
              <a:t> = </a:t>
            </a:r>
            <a:r>
              <a:rPr lang="en-IN" sz="900" b="0" dirty="0" err="1">
                <a:effectLst/>
                <a:latin typeface="Consolas" panose="020B0609020204030204" pitchFamily="49" charset="0"/>
              </a:rPr>
              <a:t>self.class_token.expand</a:t>
            </a:r>
            <a:r>
              <a:rPr lang="en-IN" sz="900" b="0" dirty="0">
                <a:effectLst/>
                <a:latin typeface="Consolas" panose="020B0609020204030204" pitchFamily="49" charset="0"/>
              </a:rPr>
              <a:t>(B, -1, -1)  </a:t>
            </a:r>
            <a:r>
              <a:rPr lang="en-IN" sz="900" b="0" dirty="0">
                <a:solidFill>
                  <a:srgbClr val="78A365"/>
                </a:solidFill>
                <a:effectLst/>
                <a:latin typeface="Consolas" panose="020B0609020204030204" pitchFamily="49" charset="0"/>
              </a:rPr>
              <a:t># (B, 1, C)</a:t>
            </a:r>
          </a:p>
          <a:p>
            <a:pPr>
              <a:lnSpc>
                <a:spcPts val="1425"/>
              </a:lnSpc>
              <a:buNone/>
            </a:pPr>
            <a:r>
              <a:rPr lang="en-IN" sz="900" b="0" dirty="0">
                <a:effectLst/>
                <a:latin typeface="Consolas" panose="020B0609020204030204" pitchFamily="49" charset="0"/>
              </a:rPr>
              <a:t>        x = torch.cat((</a:t>
            </a:r>
            <a:r>
              <a:rPr lang="en-IN" sz="900" b="0" dirty="0" err="1">
                <a:effectLst/>
                <a:latin typeface="Consolas" panose="020B0609020204030204" pitchFamily="49" charset="0"/>
              </a:rPr>
              <a:t>cls_tokens</a:t>
            </a:r>
            <a:r>
              <a:rPr lang="en-IN" sz="900" b="0" dirty="0">
                <a:effectLst/>
                <a:latin typeface="Consolas" panose="020B0609020204030204" pitchFamily="49" charset="0"/>
              </a:rPr>
              <a:t>, x), dim=1)  </a:t>
            </a:r>
            <a:r>
              <a:rPr lang="en-IN" sz="900" b="0" dirty="0">
                <a:solidFill>
                  <a:srgbClr val="78A365"/>
                </a:solidFill>
                <a:effectLst/>
                <a:latin typeface="Consolas" panose="020B0609020204030204" pitchFamily="49" charset="0"/>
              </a:rPr>
              <a:t># (B, N+1, C)</a:t>
            </a:r>
          </a:p>
          <a:p>
            <a:pPr>
              <a:lnSpc>
                <a:spcPts val="1425"/>
              </a:lnSpc>
              <a:buNone/>
            </a:pPr>
            <a:r>
              <a:rPr lang="en-IN" sz="900" b="0" dirty="0">
                <a:effectLst/>
                <a:latin typeface="Consolas" panose="020B0609020204030204" pitchFamily="49" charset="0"/>
              </a:rPr>
              <a:t>        x = x + </a:t>
            </a:r>
            <a:r>
              <a:rPr lang="en-IN" sz="900" b="0" dirty="0" err="1">
                <a:effectLst/>
                <a:latin typeface="Consolas" panose="020B0609020204030204" pitchFamily="49" charset="0"/>
              </a:rPr>
              <a:t>self.position_embeddings</a:t>
            </a:r>
            <a:endParaRPr lang="en-IN" sz="900" b="0" dirty="0">
              <a:effectLst/>
              <a:latin typeface="Consolas" panose="020B0609020204030204" pitchFamily="49" charset="0"/>
            </a:endParaRPr>
          </a:p>
          <a:p>
            <a:pPr>
              <a:lnSpc>
                <a:spcPts val="1425"/>
              </a:lnSpc>
            </a:pPr>
            <a:r>
              <a:rPr lang="en-IN" sz="900" b="0" dirty="0">
                <a:effectLst/>
                <a:latin typeface="Consolas" panose="020B0609020204030204" pitchFamily="49" charset="0"/>
              </a:rPr>
              <a:t>        return x</a:t>
            </a:r>
          </a:p>
          <a:p>
            <a:endParaRPr lang="en-IN" dirty="0"/>
          </a:p>
        </p:txBody>
      </p:sp>
      <p:sp>
        <p:nvSpPr>
          <p:cNvPr id="4" name="TextBox 3">
            <a:extLst>
              <a:ext uri="{FF2B5EF4-FFF2-40B4-BE49-F238E27FC236}">
                <a16:creationId xmlns:a16="http://schemas.microsoft.com/office/drawing/2014/main" id="{FBB43C3C-79A0-D3F0-84EE-9184A9DFB01B}"/>
              </a:ext>
            </a:extLst>
          </p:cNvPr>
          <p:cNvSpPr txBox="1"/>
          <p:nvPr/>
        </p:nvSpPr>
        <p:spPr>
          <a:xfrm>
            <a:off x="347156" y="3429000"/>
            <a:ext cx="6163056" cy="3462486"/>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rPr>
              <a:t># Multi-Head Self-Attention Block</a:t>
            </a: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MultiHeadSelfAttentionBlock</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=768, </a:t>
            </a:r>
            <a:r>
              <a:rPr lang="en-IN" sz="900" b="0" dirty="0" err="1">
                <a:effectLst/>
                <a:latin typeface="Consolas" panose="020B0609020204030204" pitchFamily="49" charset="0"/>
              </a:rPr>
              <a:t>num_heads</a:t>
            </a:r>
            <a:r>
              <a:rPr lang="en-IN" sz="900" b="0" dirty="0">
                <a:effectLst/>
                <a:latin typeface="Consolas" panose="020B0609020204030204" pitchFamily="49" charset="0"/>
              </a:rPr>
              <a:t>=12, </a:t>
            </a:r>
            <a:r>
              <a:rPr lang="en-IN" sz="900" b="0" dirty="0" err="1">
                <a:effectLst/>
                <a:latin typeface="Consolas" panose="020B0609020204030204" pitchFamily="49" charset="0"/>
              </a:rPr>
              <a:t>attn_dropout</a:t>
            </a:r>
            <a:r>
              <a:rPr lang="en-IN" sz="900" b="0" dirty="0">
                <a:effectLst/>
                <a:latin typeface="Consolas" panose="020B0609020204030204" pitchFamily="49" charset="0"/>
              </a:rPr>
              <a:t>=0.0):</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self.layernorm</a:t>
            </a:r>
            <a:r>
              <a:rPr lang="en-IN" sz="900" b="0" dirty="0">
                <a:effectLst/>
                <a:latin typeface="Consolas" panose="020B0609020204030204" pitchFamily="49" charset="0"/>
              </a:rPr>
              <a:t> = </a:t>
            </a:r>
            <a:r>
              <a:rPr lang="en-IN" sz="900" b="0" dirty="0" err="1">
                <a:effectLst/>
                <a:latin typeface="Consolas" panose="020B0609020204030204" pitchFamily="49" charset="0"/>
              </a:rPr>
              <a:t>nn.LayerNorm</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self.multiheadattention</a:t>
            </a:r>
            <a:r>
              <a:rPr lang="en-IN" sz="900" b="0" dirty="0">
                <a:effectLst/>
                <a:latin typeface="Consolas" panose="020B0609020204030204" pitchFamily="49" charset="0"/>
              </a:rPr>
              <a:t> = </a:t>
            </a:r>
            <a:r>
              <a:rPr lang="en-IN" sz="900" b="0" dirty="0" err="1">
                <a:effectLst/>
                <a:latin typeface="Consolas" panose="020B0609020204030204" pitchFamily="49" charset="0"/>
              </a:rPr>
              <a:t>nn.MultiheadAttention</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embed_dim</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a:t>
            </a:r>
            <a:r>
              <a:rPr lang="en-IN" sz="900" b="0" dirty="0" err="1">
                <a:effectLst/>
                <a:latin typeface="Consolas" panose="020B0609020204030204" pitchFamily="49" charset="0"/>
              </a:rPr>
              <a:t>num_heads</a:t>
            </a:r>
            <a:r>
              <a:rPr lang="en-IN" sz="900" b="0" dirty="0">
                <a:effectLst/>
                <a:latin typeface="Consolas" panose="020B0609020204030204" pitchFamily="49" charset="0"/>
              </a:rPr>
              <a:t>,                                            </a:t>
            </a:r>
          </a:p>
          <a:p>
            <a:pPr>
              <a:lnSpc>
                <a:spcPts val="1425"/>
              </a:lnSpc>
              <a:buNone/>
            </a:pPr>
            <a:r>
              <a:rPr lang="en-IN" sz="900" b="0" dirty="0">
                <a:effectLst/>
                <a:latin typeface="Consolas" panose="020B0609020204030204" pitchFamily="49" charset="0"/>
              </a:rPr>
              <a:t>            dropout=</a:t>
            </a:r>
            <a:r>
              <a:rPr lang="en-IN" sz="900" b="0" dirty="0" err="1">
                <a:effectLst/>
                <a:latin typeface="Consolas" panose="020B0609020204030204" pitchFamily="49" charset="0"/>
              </a:rPr>
              <a:t>attn_dropout</a:t>
            </a:r>
            <a:r>
              <a:rPr lang="en-IN" sz="900" b="0" dirty="0">
                <a:effectLst/>
                <a:latin typeface="Consolas" panose="020B0609020204030204" pitchFamily="49" charset="0"/>
              </a:rPr>
              <a:t>, </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batch_first</a:t>
            </a:r>
            <a:r>
              <a:rPr lang="en-IN" sz="900" b="0" dirty="0">
                <a:effectLst/>
                <a:latin typeface="Consolas" panose="020B0609020204030204" pitchFamily="49" charset="0"/>
              </a:rPr>
              <a:t>=True</a:t>
            </a:r>
          </a:p>
          <a:p>
            <a:pPr>
              <a:lnSpc>
                <a:spcPts val="1425"/>
              </a:lnSpc>
              <a:buNone/>
            </a:pPr>
            <a:r>
              <a:rPr lang="en-IN" sz="900" b="0" dirty="0">
                <a:effectLst/>
                <a:latin typeface="Consolas" panose="020B0609020204030204" pitchFamily="49" charset="0"/>
              </a:rPr>
              <a:t>        )</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x_norm</a:t>
            </a:r>
            <a:r>
              <a:rPr lang="en-IN" sz="900" b="0" dirty="0">
                <a:effectLst/>
                <a:latin typeface="Consolas" panose="020B0609020204030204" pitchFamily="49" charset="0"/>
              </a:rPr>
              <a:t> = </a:t>
            </a:r>
            <a:r>
              <a:rPr lang="en-IN" sz="900" b="0" dirty="0" err="1">
                <a:effectLst/>
                <a:latin typeface="Consolas" panose="020B0609020204030204" pitchFamily="49" charset="0"/>
              </a:rPr>
              <a:t>self.layernorm</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attn_output</a:t>
            </a:r>
            <a:r>
              <a:rPr lang="en-IN" sz="900" b="0" dirty="0">
                <a:effectLst/>
                <a:latin typeface="Consolas" panose="020B0609020204030204" pitchFamily="49" charset="0"/>
              </a:rPr>
              <a:t>, _ = </a:t>
            </a:r>
            <a:r>
              <a:rPr lang="en-IN" sz="900" b="0" dirty="0" err="1">
                <a:effectLst/>
                <a:latin typeface="Consolas" panose="020B0609020204030204" pitchFamily="49" charset="0"/>
              </a:rPr>
              <a:t>self.multiheadattention</a:t>
            </a:r>
            <a:r>
              <a:rPr lang="en-IN" sz="900" b="0" dirty="0">
                <a:effectLst/>
                <a:latin typeface="Consolas" panose="020B0609020204030204" pitchFamily="49" charset="0"/>
              </a:rPr>
              <a:t>(</a:t>
            </a:r>
            <a:r>
              <a:rPr lang="en-IN" sz="900" b="0" dirty="0" err="1">
                <a:effectLst/>
                <a:latin typeface="Consolas" panose="020B0609020204030204" pitchFamily="49" charset="0"/>
              </a:rPr>
              <a:t>x_norm</a:t>
            </a:r>
            <a:r>
              <a:rPr lang="en-IN" sz="900" b="0" dirty="0">
                <a:effectLst/>
                <a:latin typeface="Consolas" panose="020B0609020204030204" pitchFamily="49" charset="0"/>
              </a:rPr>
              <a:t>, </a:t>
            </a:r>
            <a:r>
              <a:rPr lang="en-IN" sz="900" b="0" dirty="0" err="1">
                <a:effectLst/>
                <a:latin typeface="Consolas" panose="020B0609020204030204" pitchFamily="49" charset="0"/>
              </a:rPr>
              <a:t>x_norm</a:t>
            </a:r>
            <a:r>
              <a:rPr lang="en-IN" sz="900" b="0" dirty="0">
                <a:effectLst/>
                <a:latin typeface="Consolas" panose="020B0609020204030204" pitchFamily="49" charset="0"/>
              </a:rPr>
              <a:t>, </a:t>
            </a:r>
            <a:r>
              <a:rPr lang="en-IN" sz="900" b="0" dirty="0" err="1">
                <a:effectLst/>
                <a:latin typeface="Consolas" panose="020B0609020204030204" pitchFamily="49" charset="0"/>
              </a:rPr>
              <a:t>x_norm</a:t>
            </a:r>
            <a:r>
              <a:rPr lang="en-IN" sz="900" b="0" dirty="0">
                <a:effectLst/>
                <a:latin typeface="Consolas" panose="020B0609020204030204" pitchFamily="49" charset="0"/>
              </a:rPr>
              <a:t>, </a:t>
            </a:r>
            <a:r>
              <a:rPr lang="en-IN" sz="900" b="0" dirty="0" err="1">
                <a:effectLst/>
                <a:latin typeface="Consolas" panose="020B0609020204030204" pitchFamily="49" charset="0"/>
              </a:rPr>
              <a:t>need_weights</a:t>
            </a:r>
            <a:r>
              <a:rPr lang="en-IN" sz="900" b="0" dirty="0">
                <a:effectLst/>
                <a:latin typeface="Consolas" panose="020B0609020204030204" pitchFamily="49" charset="0"/>
              </a:rPr>
              <a:t>=False)</a:t>
            </a:r>
          </a:p>
          <a:p>
            <a:pPr>
              <a:lnSpc>
                <a:spcPts val="1425"/>
              </a:lnSpc>
              <a:buNone/>
            </a:pPr>
            <a:r>
              <a:rPr lang="en-IN" sz="900" b="0" dirty="0">
                <a:effectLst/>
                <a:latin typeface="Consolas" panose="020B0609020204030204" pitchFamily="49" charset="0"/>
              </a:rPr>
              <a:t>        return </a:t>
            </a:r>
            <a:r>
              <a:rPr lang="en-IN" sz="900" b="0" dirty="0" err="1">
                <a:effectLst/>
                <a:latin typeface="Consolas" panose="020B0609020204030204" pitchFamily="49" charset="0"/>
              </a:rPr>
              <a:t>attn_output</a:t>
            </a:r>
            <a:endParaRPr lang="en-IN" sz="900" b="0" dirty="0">
              <a:effectLst/>
              <a:latin typeface="Consolas" panose="020B0609020204030204" pitchFamily="49" charset="0"/>
            </a:endParaRPr>
          </a:p>
          <a:p>
            <a:pPr>
              <a:lnSpc>
                <a:spcPts val="1425"/>
              </a:lnSpc>
            </a:pPr>
            <a:br>
              <a:rPr lang="en-IN" sz="900" b="0" dirty="0">
                <a:effectLst/>
                <a:latin typeface="Consolas" panose="020B0609020204030204" pitchFamily="49" charset="0"/>
              </a:rPr>
            </a:br>
            <a:endParaRPr lang="en-IN" sz="900" b="0" dirty="0">
              <a:effectLst/>
              <a:latin typeface="Consolas" panose="020B0609020204030204" pitchFamily="49" charset="0"/>
            </a:endParaRPr>
          </a:p>
          <a:p>
            <a:endParaRPr lang="en-IN" sz="900" dirty="0"/>
          </a:p>
        </p:txBody>
      </p:sp>
      <p:sp>
        <p:nvSpPr>
          <p:cNvPr id="5" name="TextBox 4">
            <a:extLst>
              <a:ext uri="{FF2B5EF4-FFF2-40B4-BE49-F238E27FC236}">
                <a16:creationId xmlns:a16="http://schemas.microsoft.com/office/drawing/2014/main" id="{F8436F2B-1409-5F4E-32E8-816278B0999E}"/>
              </a:ext>
            </a:extLst>
          </p:cNvPr>
          <p:cNvSpPr txBox="1"/>
          <p:nvPr/>
        </p:nvSpPr>
        <p:spPr>
          <a:xfrm>
            <a:off x="6747640" y="173419"/>
            <a:ext cx="5444360" cy="6182142"/>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rPr>
              <a:t># MLP Block</a:t>
            </a: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MachineLearningPerceptronBlock</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=768, </a:t>
            </a:r>
            <a:r>
              <a:rPr lang="en-IN" sz="900" b="0" dirty="0" err="1">
                <a:effectLst/>
                <a:latin typeface="Consolas" panose="020B0609020204030204" pitchFamily="49" charset="0"/>
              </a:rPr>
              <a:t>mlp_size</a:t>
            </a:r>
            <a:r>
              <a:rPr lang="en-IN" sz="900" b="0" dirty="0">
                <a:effectLst/>
                <a:latin typeface="Consolas" panose="020B0609020204030204" pitchFamily="49" charset="0"/>
              </a:rPr>
              <a:t>=3072, </a:t>
            </a:r>
            <a:r>
              <a:rPr lang="en-IN" sz="900" b="0" dirty="0" err="1">
                <a:effectLst/>
                <a:latin typeface="Consolas" panose="020B0609020204030204" pitchFamily="49" charset="0"/>
              </a:rPr>
              <a:t>mlp_dropout</a:t>
            </a:r>
            <a:r>
              <a:rPr lang="en-IN" sz="900" b="0" dirty="0">
                <a:effectLst/>
                <a:latin typeface="Consolas" panose="020B0609020204030204" pitchFamily="49" charset="0"/>
              </a:rPr>
              <a:t>=0.1):</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self.linear</a:t>
            </a:r>
            <a:r>
              <a:rPr lang="en-IN" sz="900" b="0" dirty="0">
                <a:effectLst/>
                <a:latin typeface="Consolas" panose="020B0609020204030204" pitchFamily="49" charset="0"/>
              </a:rPr>
              <a:t> = </a:t>
            </a:r>
            <a:r>
              <a:rPr lang="en-IN" sz="900" b="0" dirty="0" err="1">
                <a:effectLst/>
                <a:latin typeface="Consolas" panose="020B0609020204030204" pitchFamily="49" charset="0"/>
              </a:rPr>
              <a:t>nn.Sequential</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nn.Linear</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r>
              <a:rPr lang="en-IN" sz="900" b="0" dirty="0" err="1">
                <a:effectLst/>
                <a:latin typeface="Consolas" panose="020B0609020204030204" pitchFamily="49" charset="0"/>
              </a:rPr>
              <a:t>mlp_size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nn.GELU</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nn.Dropout</a:t>
            </a:r>
            <a:r>
              <a:rPr lang="en-IN" sz="900" b="0" dirty="0">
                <a:effectLst/>
                <a:latin typeface="Consolas" panose="020B0609020204030204" pitchFamily="49" charset="0"/>
              </a:rPr>
              <a:t>(</a:t>
            </a:r>
            <a:r>
              <a:rPr lang="en-IN" sz="900" b="0" dirty="0" err="1">
                <a:effectLst/>
                <a:latin typeface="Consolas" panose="020B0609020204030204" pitchFamily="49" charset="0"/>
              </a:rPr>
              <a:t>mlp_dropout</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nn.Linear</a:t>
            </a:r>
            <a:r>
              <a:rPr lang="en-IN" sz="900" b="0" dirty="0">
                <a:effectLst/>
                <a:latin typeface="Consolas" panose="020B0609020204030204" pitchFamily="49" charset="0"/>
              </a:rPr>
              <a:t>(</a:t>
            </a:r>
            <a:r>
              <a:rPr lang="en-IN" sz="900" b="0" dirty="0" err="1">
                <a:effectLst/>
                <a:latin typeface="Consolas" panose="020B0609020204030204" pitchFamily="49" charset="0"/>
              </a:rPr>
              <a:t>mlp_size</a:t>
            </a:r>
            <a:r>
              <a:rPr lang="en-IN" sz="900" b="0" dirty="0">
                <a:effectLst/>
                <a:latin typeface="Consolas" panose="020B0609020204030204" pitchFamily="49" charset="0"/>
              </a:rPr>
              <a:t>, </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nn.Dropout</a:t>
            </a:r>
            <a:r>
              <a:rPr lang="en-IN" sz="900" b="0" dirty="0">
                <a:effectLst/>
                <a:latin typeface="Consolas" panose="020B0609020204030204" pitchFamily="49" charset="0"/>
              </a:rPr>
              <a:t>(</a:t>
            </a:r>
            <a:r>
              <a:rPr lang="en-IN" sz="900" b="0" dirty="0" err="1">
                <a:effectLst/>
                <a:latin typeface="Consolas" panose="020B0609020204030204" pitchFamily="49" charset="0"/>
              </a:rPr>
              <a:t>mlp_dropout</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self.norm</a:t>
            </a:r>
            <a:r>
              <a:rPr lang="en-IN" sz="900" b="0" dirty="0">
                <a:effectLst/>
                <a:latin typeface="Consolas" panose="020B0609020204030204" pitchFamily="49" charset="0"/>
              </a:rPr>
              <a:t> = </a:t>
            </a:r>
            <a:r>
              <a:rPr lang="en-IN" sz="900" b="0" dirty="0" err="1">
                <a:effectLst/>
                <a:latin typeface="Consolas" panose="020B0609020204030204" pitchFamily="49" charset="0"/>
              </a:rPr>
              <a:t>nn.LayerNorm</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        </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x_norm</a:t>
            </a:r>
            <a:r>
              <a:rPr lang="en-IN" sz="900" b="0" dirty="0">
                <a:effectLst/>
                <a:latin typeface="Consolas" panose="020B0609020204030204" pitchFamily="49" charset="0"/>
              </a:rPr>
              <a:t> = </a:t>
            </a:r>
            <a:r>
              <a:rPr lang="en-IN" sz="900" b="0" dirty="0" err="1">
                <a:effectLst/>
                <a:latin typeface="Consolas" panose="020B0609020204030204" pitchFamily="49" charset="0"/>
              </a:rPr>
              <a:t>self.norm</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return </a:t>
            </a:r>
            <a:r>
              <a:rPr lang="en-IN" sz="900" b="0" dirty="0" err="1">
                <a:effectLst/>
                <a:latin typeface="Consolas" panose="020B0609020204030204" pitchFamily="49" charset="0"/>
              </a:rPr>
              <a:t>self.linear</a:t>
            </a:r>
            <a:r>
              <a:rPr lang="en-IN" sz="900" b="0" dirty="0">
                <a:effectLst/>
                <a:latin typeface="Consolas" panose="020B0609020204030204" pitchFamily="49" charset="0"/>
              </a:rPr>
              <a:t>(</a:t>
            </a:r>
            <a:r>
              <a:rPr lang="en-IN" sz="900" b="0" dirty="0" err="1">
                <a:effectLst/>
                <a:latin typeface="Consolas" panose="020B0609020204030204" pitchFamily="49" charset="0"/>
              </a:rPr>
              <a:t>x_norm</a:t>
            </a:r>
            <a:r>
              <a:rPr lang="en-IN" sz="900" b="0" dirty="0">
                <a:effectLst/>
                <a:latin typeface="Consolas" panose="020B0609020204030204" pitchFamily="49" charset="0"/>
              </a:rPr>
              <a:t>)</a:t>
            </a:r>
          </a:p>
          <a:p>
            <a:pPr>
              <a:lnSpc>
                <a:spcPts val="1425"/>
              </a:lnSpc>
              <a:buNone/>
            </a:pPr>
            <a:endParaRPr lang="en-IN" sz="900" b="0" dirty="0">
              <a:effectLst/>
              <a:latin typeface="Consolas" panose="020B0609020204030204" pitchFamily="49" charset="0"/>
            </a:endParaRPr>
          </a:p>
          <a:p>
            <a:pPr>
              <a:lnSpc>
                <a:spcPts val="1425"/>
              </a:lnSpc>
              <a:buNone/>
            </a:pPr>
            <a:br>
              <a:rPr lang="en-IN" sz="900" b="0" dirty="0">
                <a:effectLst/>
                <a:latin typeface="Consolas" panose="020B0609020204030204" pitchFamily="49" charset="0"/>
              </a:rPr>
            </a:br>
            <a:r>
              <a:rPr lang="en-IN" sz="900" b="0" dirty="0">
                <a:solidFill>
                  <a:srgbClr val="6A9955"/>
                </a:solidFill>
                <a:effectLst/>
                <a:latin typeface="Consolas" panose="020B0609020204030204" pitchFamily="49" charset="0"/>
              </a:rPr>
              <a:t># Transformer Block</a:t>
            </a: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TransformerBlock</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=768, </a:t>
            </a:r>
            <a:r>
              <a:rPr lang="en-IN" sz="900" b="0" dirty="0" err="1">
                <a:effectLst/>
                <a:latin typeface="Consolas" panose="020B0609020204030204" pitchFamily="49" charset="0"/>
              </a:rPr>
              <a:t>mlp_dropout</a:t>
            </a:r>
            <a:r>
              <a:rPr lang="en-IN" sz="900" b="0" dirty="0">
                <a:effectLst/>
                <a:latin typeface="Consolas" panose="020B0609020204030204" pitchFamily="49" charset="0"/>
              </a:rPr>
              <a:t>=0.1, </a:t>
            </a:r>
            <a:r>
              <a:rPr lang="en-IN" sz="900" b="0" dirty="0" err="1">
                <a:effectLst/>
                <a:latin typeface="Consolas" panose="020B0609020204030204" pitchFamily="49" charset="0"/>
              </a:rPr>
              <a:t>attn_dropout</a:t>
            </a:r>
            <a:r>
              <a:rPr lang="en-IN" sz="900" b="0" dirty="0">
                <a:effectLst/>
                <a:latin typeface="Consolas" panose="020B0609020204030204" pitchFamily="49" charset="0"/>
              </a:rPr>
              <a:t>=0.0, </a:t>
            </a:r>
            <a:r>
              <a:rPr lang="en-IN" sz="900" b="0" dirty="0" err="1">
                <a:effectLst/>
                <a:latin typeface="Consolas" panose="020B0609020204030204" pitchFamily="49" charset="0"/>
              </a:rPr>
              <a:t>mlp_size</a:t>
            </a:r>
            <a:r>
              <a:rPr lang="en-IN" sz="900" b="0" dirty="0">
                <a:effectLst/>
                <a:latin typeface="Consolas" panose="020B0609020204030204" pitchFamily="49" charset="0"/>
              </a:rPr>
              <a:t>=3072, </a:t>
            </a:r>
            <a:r>
              <a:rPr lang="en-IN" sz="900" b="0" dirty="0" err="1">
                <a:effectLst/>
                <a:latin typeface="Consolas" panose="020B0609020204030204" pitchFamily="49" charset="0"/>
              </a:rPr>
              <a:t>num_heads</a:t>
            </a:r>
            <a:r>
              <a:rPr lang="en-IN" sz="900" b="0" dirty="0">
                <a:effectLst/>
                <a:latin typeface="Consolas" panose="020B0609020204030204" pitchFamily="49" charset="0"/>
              </a:rPr>
              <a:t>=12):</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self.msa_block</a:t>
            </a:r>
            <a:r>
              <a:rPr lang="en-IN" sz="900" b="0" dirty="0">
                <a:effectLst/>
                <a:latin typeface="Consolas" panose="020B0609020204030204" pitchFamily="49" charset="0"/>
              </a:rPr>
              <a:t> = </a:t>
            </a:r>
            <a:r>
              <a:rPr lang="en-IN" sz="900" b="0" dirty="0" err="1">
                <a:effectLst/>
                <a:latin typeface="Consolas" panose="020B0609020204030204" pitchFamily="49" charset="0"/>
              </a:rPr>
              <a:t>MultiHeadSelfAttentionBlock</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 </a:t>
            </a:r>
            <a:r>
              <a:rPr lang="en-IN" sz="900" b="0" dirty="0" err="1">
                <a:effectLst/>
                <a:latin typeface="Consolas" panose="020B0609020204030204" pitchFamily="49" charset="0"/>
              </a:rPr>
              <a:t>attn_dropout</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self.mlp_block</a:t>
            </a:r>
            <a:r>
              <a:rPr lang="en-IN" sz="900" b="0" dirty="0">
                <a:effectLst/>
                <a:latin typeface="Consolas" panose="020B0609020204030204" pitchFamily="49" charset="0"/>
              </a:rPr>
              <a:t> = </a:t>
            </a:r>
            <a:r>
              <a:rPr lang="en-IN" sz="900" b="0" dirty="0" err="1">
                <a:effectLst/>
                <a:latin typeface="Consolas" panose="020B0609020204030204" pitchFamily="49" charset="0"/>
              </a:rPr>
              <a:t>MachineLearningPerceptronBlock</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r>
              <a:rPr lang="en-IN" sz="900" b="0" dirty="0" err="1">
                <a:effectLst/>
                <a:latin typeface="Consolas" panose="020B0609020204030204" pitchFamily="49" charset="0"/>
              </a:rPr>
              <a:t>mlp_size</a:t>
            </a:r>
            <a:r>
              <a:rPr lang="en-IN" sz="900" b="0" dirty="0">
                <a:effectLst/>
                <a:latin typeface="Consolas" panose="020B0609020204030204" pitchFamily="49" charset="0"/>
              </a:rPr>
              <a:t>, </a:t>
            </a:r>
            <a:r>
              <a:rPr lang="en-IN" sz="900" b="0" dirty="0" err="1">
                <a:effectLst/>
                <a:latin typeface="Consolas" panose="020B0609020204030204" pitchFamily="49" charset="0"/>
              </a:rPr>
              <a:t>mlp_dropout</a:t>
            </a:r>
            <a:r>
              <a:rPr lang="en-IN" sz="900" b="0" dirty="0">
                <a:effectLst/>
                <a:latin typeface="Consolas" panose="020B0609020204030204" pitchFamily="49" charset="0"/>
              </a:rPr>
              <a:t>)</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a:t>
            </a:r>
          </a:p>
          <a:p>
            <a:pPr>
              <a:lnSpc>
                <a:spcPts val="1425"/>
              </a:lnSpc>
              <a:buNone/>
            </a:pPr>
            <a:r>
              <a:rPr lang="en-IN" sz="900" b="0" dirty="0">
                <a:effectLst/>
                <a:latin typeface="Consolas" panose="020B0609020204030204" pitchFamily="49" charset="0"/>
              </a:rPr>
              <a:t>        x = x + </a:t>
            </a:r>
            <a:r>
              <a:rPr lang="en-IN" sz="900" b="0" dirty="0" err="1">
                <a:effectLst/>
                <a:latin typeface="Consolas" panose="020B0609020204030204" pitchFamily="49" charset="0"/>
              </a:rPr>
              <a:t>self.msa_block</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x = x + </a:t>
            </a:r>
            <a:r>
              <a:rPr lang="en-IN" sz="900" b="0" dirty="0" err="1">
                <a:effectLst/>
                <a:latin typeface="Consolas" panose="020B0609020204030204" pitchFamily="49" charset="0"/>
              </a:rPr>
              <a:t>self.mlp_block</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return x</a:t>
            </a:r>
          </a:p>
          <a:p>
            <a:pPr>
              <a:lnSpc>
                <a:spcPts val="1425"/>
              </a:lnSpc>
              <a:buNone/>
            </a:pPr>
            <a:br>
              <a:rPr lang="en-IN" sz="900" b="0" dirty="0">
                <a:solidFill>
                  <a:srgbClr val="CCCCCC"/>
                </a:solidFill>
                <a:effectLst/>
                <a:latin typeface="Consolas" panose="020B0609020204030204" pitchFamily="49" charset="0"/>
              </a:rPr>
            </a:br>
            <a:endParaRPr lang="en-IN" sz="900" dirty="0"/>
          </a:p>
        </p:txBody>
      </p:sp>
    </p:spTree>
    <p:extLst>
      <p:ext uri="{BB962C8B-B14F-4D97-AF65-F5344CB8AC3E}">
        <p14:creationId xmlns:p14="http://schemas.microsoft.com/office/powerpoint/2010/main" val="1277466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9128F2-EAD0-0637-7A95-DC1879FE8031}"/>
              </a:ext>
            </a:extLst>
          </p:cNvPr>
          <p:cNvSpPr txBox="1"/>
          <p:nvPr/>
        </p:nvSpPr>
        <p:spPr>
          <a:xfrm>
            <a:off x="524554" y="470310"/>
            <a:ext cx="7582581" cy="3847400"/>
          </a:xfrm>
          <a:prstGeom prst="rect">
            <a:avLst/>
          </a:prstGeom>
          <a:noFill/>
        </p:spPr>
        <p:txBody>
          <a:bodyPr wrap="square">
            <a:spAutoFit/>
          </a:bodyPr>
          <a:lstStyle/>
          <a:p>
            <a:pPr>
              <a:lnSpc>
                <a:spcPts val="1425"/>
              </a:lnSpc>
              <a:buNone/>
            </a:pPr>
            <a:r>
              <a:rPr lang="en-IN" sz="900" b="0" dirty="0">
                <a:solidFill>
                  <a:srgbClr val="6A9955"/>
                </a:solidFill>
                <a:effectLst/>
                <a:latin typeface="Consolas" panose="020B0609020204030204" pitchFamily="49" charset="0"/>
              </a:rPr>
              <a:t># Vision Transformer (ViT)</a:t>
            </a: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VisionTransformer</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a:t>
            </a:r>
            <a:r>
              <a:rPr lang="en-IN" sz="900" b="0" dirty="0" err="1">
                <a:effectLst/>
                <a:latin typeface="Consolas" panose="020B0609020204030204" pitchFamily="49" charset="0"/>
              </a:rPr>
              <a:t>img_size</a:t>
            </a:r>
            <a:r>
              <a:rPr lang="en-IN" sz="900" b="0" dirty="0">
                <a:effectLst/>
                <a:latin typeface="Consolas" panose="020B0609020204030204" pitchFamily="49" charset="0"/>
              </a:rPr>
              <a:t>=224, </a:t>
            </a:r>
            <a:r>
              <a:rPr lang="en-IN" sz="900" b="0" dirty="0" err="1">
                <a:effectLst/>
                <a:latin typeface="Consolas" panose="020B0609020204030204" pitchFamily="49" charset="0"/>
              </a:rPr>
              <a:t>in_channels</a:t>
            </a:r>
            <a:r>
              <a:rPr lang="en-IN" sz="900" b="0" dirty="0">
                <a:effectLst/>
                <a:latin typeface="Consolas" panose="020B0609020204030204" pitchFamily="49" charset="0"/>
              </a:rPr>
              <a:t>=3, </a:t>
            </a:r>
            <a:r>
              <a:rPr lang="en-IN" sz="900" b="0" dirty="0" err="1">
                <a:effectLst/>
                <a:latin typeface="Consolas" panose="020B0609020204030204" pitchFamily="49" charset="0"/>
              </a:rPr>
              <a:t>patch_size</a:t>
            </a:r>
            <a:r>
              <a:rPr lang="en-IN" sz="900" b="0" dirty="0">
                <a:effectLst/>
                <a:latin typeface="Consolas" panose="020B0609020204030204" pitchFamily="49" charset="0"/>
              </a:rPr>
              <a:t>=16, </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=768,</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num_transformer_layers</a:t>
            </a:r>
            <a:r>
              <a:rPr lang="en-IN" sz="900" b="0" dirty="0">
                <a:effectLst/>
                <a:latin typeface="Consolas" panose="020B0609020204030204" pitchFamily="49" charset="0"/>
              </a:rPr>
              <a:t>=12, </a:t>
            </a:r>
            <a:r>
              <a:rPr lang="en-IN" sz="900" b="0" dirty="0" err="1">
                <a:effectLst/>
                <a:latin typeface="Consolas" panose="020B0609020204030204" pitchFamily="49" charset="0"/>
              </a:rPr>
              <a:t>mlp_dropout</a:t>
            </a:r>
            <a:r>
              <a:rPr lang="en-IN" sz="900" b="0" dirty="0">
                <a:effectLst/>
                <a:latin typeface="Consolas" panose="020B0609020204030204" pitchFamily="49" charset="0"/>
              </a:rPr>
              <a:t>=0.1, </a:t>
            </a:r>
            <a:r>
              <a:rPr lang="en-IN" sz="900" b="0" dirty="0" err="1">
                <a:effectLst/>
                <a:latin typeface="Consolas" panose="020B0609020204030204" pitchFamily="49" charset="0"/>
              </a:rPr>
              <a:t>attn_dropout</a:t>
            </a:r>
            <a:r>
              <a:rPr lang="en-IN" sz="900" b="0" dirty="0">
                <a:effectLst/>
                <a:latin typeface="Consolas" panose="020B0609020204030204" pitchFamily="49" charset="0"/>
              </a:rPr>
              <a:t>=0.0, </a:t>
            </a:r>
            <a:r>
              <a:rPr lang="en-IN" sz="900" b="0" dirty="0" err="1">
                <a:effectLst/>
                <a:latin typeface="Consolas" panose="020B0609020204030204" pitchFamily="49" charset="0"/>
              </a:rPr>
              <a:t>mlp_size</a:t>
            </a:r>
            <a:r>
              <a:rPr lang="en-IN" sz="900" b="0" dirty="0">
                <a:effectLst/>
                <a:latin typeface="Consolas" panose="020B0609020204030204" pitchFamily="49" charset="0"/>
              </a:rPr>
              <a:t>=3072,</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=12, </a:t>
            </a:r>
            <a:r>
              <a:rPr lang="en-IN" sz="900" b="0" dirty="0" err="1">
                <a:effectLst/>
                <a:latin typeface="Consolas" panose="020B0609020204030204" pitchFamily="49" charset="0"/>
              </a:rPr>
              <a:t>num_classes</a:t>
            </a:r>
            <a:r>
              <a:rPr lang="en-IN" sz="900" b="0" dirty="0">
                <a:effectLst/>
                <a:latin typeface="Consolas" panose="020B0609020204030204" pitchFamily="49" charset="0"/>
              </a:rPr>
              <a:t>=12):</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self.patch_embedding_layer</a:t>
            </a:r>
            <a:r>
              <a:rPr lang="en-IN" sz="900" b="0" dirty="0">
                <a:effectLst/>
                <a:latin typeface="Consolas" panose="020B0609020204030204" pitchFamily="49" charset="0"/>
              </a:rPr>
              <a:t> = </a:t>
            </a:r>
            <a:r>
              <a:rPr lang="en-IN" sz="900" b="0" dirty="0" err="1">
                <a:effectLst/>
                <a:latin typeface="Consolas" panose="020B0609020204030204" pitchFamily="49" charset="0"/>
              </a:rPr>
              <a:t>PatchEmbeddingLayer</a:t>
            </a:r>
            <a:r>
              <a:rPr lang="en-IN" sz="900" b="0" dirty="0">
                <a:effectLst/>
                <a:latin typeface="Consolas" panose="020B0609020204030204" pitchFamily="49" charset="0"/>
              </a:rPr>
              <a:t>(</a:t>
            </a:r>
            <a:r>
              <a:rPr lang="en-IN" sz="900" b="0" dirty="0" err="1">
                <a:effectLst/>
                <a:latin typeface="Consolas" panose="020B0609020204030204" pitchFamily="49" charset="0"/>
              </a:rPr>
              <a:t>in_channels</a:t>
            </a:r>
            <a:r>
              <a:rPr lang="en-IN" sz="900" b="0" dirty="0">
                <a:effectLst/>
                <a:latin typeface="Consolas" panose="020B0609020204030204" pitchFamily="49" charset="0"/>
              </a:rPr>
              <a:t>, </a:t>
            </a:r>
            <a:r>
              <a:rPr lang="en-IN" sz="900" b="0" dirty="0" err="1">
                <a:effectLst/>
                <a:latin typeface="Consolas" panose="020B0609020204030204" pitchFamily="49" charset="0"/>
              </a:rPr>
              <a:t>patch_size</a:t>
            </a:r>
            <a:r>
              <a:rPr lang="en-IN" sz="900" b="0" dirty="0">
                <a:effectLst/>
                <a:latin typeface="Consolas" panose="020B0609020204030204" pitchFamily="49" charset="0"/>
              </a:rPr>
              <a:t>, </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r>
              <a:rPr lang="en-IN" sz="900" b="0" dirty="0" err="1">
                <a:effectLst/>
                <a:latin typeface="Consolas" panose="020B0609020204030204" pitchFamily="49" charset="0"/>
              </a:rPr>
              <a:t>img_size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self.transformer_encoder</a:t>
            </a:r>
            <a:r>
              <a:rPr lang="en-IN" sz="900" b="0" dirty="0">
                <a:effectLst/>
                <a:latin typeface="Consolas" panose="020B0609020204030204" pitchFamily="49" charset="0"/>
              </a:rPr>
              <a:t> = </a:t>
            </a:r>
            <a:r>
              <a:rPr lang="en-IN" sz="900" b="0" dirty="0" err="1">
                <a:effectLst/>
                <a:latin typeface="Consolas" panose="020B0609020204030204" pitchFamily="49" charset="0"/>
              </a:rPr>
              <a:t>nn.Sequential</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TransformerBlock</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r>
              <a:rPr lang="en-IN" sz="900" b="0" dirty="0" err="1">
                <a:effectLst/>
                <a:latin typeface="Consolas" panose="020B0609020204030204" pitchFamily="49" charset="0"/>
              </a:rPr>
              <a:t>mlp_dropout</a:t>
            </a:r>
            <a:r>
              <a:rPr lang="en-IN" sz="900" b="0" dirty="0">
                <a:effectLst/>
                <a:latin typeface="Consolas" panose="020B0609020204030204" pitchFamily="49" charset="0"/>
              </a:rPr>
              <a:t>, </a:t>
            </a:r>
            <a:r>
              <a:rPr lang="en-IN" sz="900" b="0" dirty="0" err="1">
                <a:effectLst/>
                <a:latin typeface="Consolas" panose="020B0609020204030204" pitchFamily="49" charset="0"/>
              </a:rPr>
              <a:t>attn_dropout</a:t>
            </a:r>
            <a:r>
              <a:rPr lang="en-IN" sz="900" b="0" dirty="0">
                <a:effectLst/>
                <a:latin typeface="Consolas" panose="020B0609020204030204" pitchFamily="49" charset="0"/>
              </a:rPr>
              <a:t>, </a:t>
            </a:r>
            <a:r>
              <a:rPr lang="en-IN" sz="900" b="0" dirty="0" err="1">
                <a:effectLst/>
                <a:latin typeface="Consolas" panose="020B0609020204030204" pitchFamily="49" charset="0"/>
              </a:rPr>
              <a:t>mlp_size</a:t>
            </a: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for _ in range(</a:t>
            </a:r>
            <a:r>
              <a:rPr lang="en-IN" sz="900" b="0" dirty="0" err="1">
                <a:effectLst/>
                <a:latin typeface="Consolas" panose="020B0609020204030204" pitchFamily="49" charset="0"/>
              </a:rPr>
              <a:t>num_transformer_layers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self.classifier</a:t>
            </a:r>
            <a:r>
              <a:rPr lang="en-IN" sz="900" b="0" dirty="0">
                <a:effectLst/>
                <a:latin typeface="Consolas" panose="020B0609020204030204" pitchFamily="49" charset="0"/>
              </a:rPr>
              <a:t> = </a:t>
            </a:r>
            <a:r>
              <a:rPr lang="en-IN" sz="900" b="0" dirty="0" err="1">
                <a:effectLst/>
                <a:latin typeface="Consolas" panose="020B0609020204030204" pitchFamily="49" charset="0"/>
              </a:rPr>
              <a:t>nn.Sequential</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nn.LayerNorm</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nn.Linear</a:t>
            </a:r>
            <a:r>
              <a:rPr lang="en-IN" sz="900" b="0" dirty="0">
                <a:effectLst/>
                <a:latin typeface="Consolas" panose="020B0609020204030204" pitchFamily="49" charset="0"/>
              </a:rPr>
              <a:t>(</a:t>
            </a:r>
            <a:r>
              <a:rPr lang="en-IN" sz="900" b="0" dirty="0" err="1">
                <a:effectLst/>
                <a:latin typeface="Consolas" panose="020B0609020204030204" pitchFamily="49" charset="0"/>
              </a:rPr>
              <a:t>embedding_dims</a:t>
            </a:r>
            <a:r>
              <a:rPr lang="en-IN" sz="900" b="0" dirty="0">
                <a:effectLst/>
                <a:latin typeface="Consolas" panose="020B0609020204030204" pitchFamily="49" charset="0"/>
              </a:rPr>
              <a:t>, </a:t>
            </a:r>
            <a:r>
              <a:rPr lang="en-IN" sz="900" b="0" dirty="0" err="1">
                <a:effectLst/>
                <a:latin typeface="Consolas" panose="020B0609020204030204" pitchFamily="49" charset="0"/>
              </a:rPr>
              <a:t>num_classes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self.patch_embedding_layer</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self.transformer_encoder</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x = x[:, 0]  # CLS token</a:t>
            </a:r>
          </a:p>
          <a:p>
            <a:pPr>
              <a:lnSpc>
                <a:spcPts val="1425"/>
              </a:lnSpc>
            </a:pPr>
            <a:r>
              <a:rPr lang="en-IN" sz="900" b="0" dirty="0">
                <a:effectLst/>
                <a:latin typeface="Consolas" panose="020B0609020204030204" pitchFamily="49" charset="0"/>
              </a:rPr>
              <a:t>        return </a:t>
            </a:r>
            <a:r>
              <a:rPr lang="en-IN" sz="900" b="0" dirty="0" err="1">
                <a:effectLst/>
                <a:latin typeface="Consolas" panose="020B0609020204030204" pitchFamily="49" charset="0"/>
              </a:rPr>
              <a:t>self.classifier</a:t>
            </a:r>
            <a:r>
              <a:rPr lang="en-IN" sz="900" b="0" dirty="0">
                <a:effectLst/>
                <a:latin typeface="Consolas" panose="020B0609020204030204" pitchFamily="49" charset="0"/>
              </a:rPr>
              <a:t>(x)</a:t>
            </a:r>
          </a:p>
        </p:txBody>
      </p:sp>
    </p:spTree>
    <p:extLst>
      <p:ext uri="{BB962C8B-B14F-4D97-AF65-F5344CB8AC3E}">
        <p14:creationId xmlns:p14="http://schemas.microsoft.com/office/powerpoint/2010/main" val="256345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3F3E58-609E-2BCC-58CC-3B49158572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23" y="980768"/>
            <a:ext cx="10140635" cy="5577349"/>
          </a:xfrm>
          <a:prstGeom prst="rect">
            <a:avLst/>
          </a:prstGeom>
        </p:spPr>
      </p:pic>
      <p:sp>
        <p:nvSpPr>
          <p:cNvPr id="6" name="TextBox 5">
            <a:extLst>
              <a:ext uri="{FF2B5EF4-FFF2-40B4-BE49-F238E27FC236}">
                <a16:creationId xmlns:a16="http://schemas.microsoft.com/office/drawing/2014/main" id="{FC8304ED-B165-031B-155E-92919C75E2A2}"/>
              </a:ext>
            </a:extLst>
          </p:cNvPr>
          <p:cNvSpPr txBox="1"/>
          <p:nvPr/>
        </p:nvSpPr>
        <p:spPr>
          <a:xfrm>
            <a:off x="6528619" y="2797711"/>
            <a:ext cx="530941" cy="246221"/>
          </a:xfrm>
          <a:prstGeom prst="rect">
            <a:avLst/>
          </a:prstGeom>
          <a:noFill/>
        </p:spPr>
        <p:txBody>
          <a:bodyPr wrap="square" rtlCol="0">
            <a:spAutoFit/>
          </a:bodyPr>
          <a:lstStyle/>
          <a:p>
            <a:r>
              <a:rPr lang="en-IN" sz="1000" b="1" dirty="0"/>
              <a:t>4 × 4</a:t>
            </a:r>
          </a:p>
        </p:txBody>
      </p:sp>
      <p:sp>
        <p:nvSpPr>
          <p:cNvPr id="7" name="Rectangle: Rounded Corners 6">
            <a:extLst>
              <a:ext uri="{FF2B5EF4-FFF2-40B4-BE49-F238E27FC236}">
                <a16:creationId xmlns:a16="http://schemas.microsoft.com/office/drawing/2014/main" id="{367680AF-77DF-413A-0DD5-C9DE5D1D1351}"/>
              </a:ext>
            </a:extLst>
          </p:cNvPr>
          <p:cNvSpPr/>
          <p:nvPr/>
        </p:nvSpPr>
        <p:spPr>
          <a:xfrm>
            <a:off x="9554720" y="3862849"/>
            <a:ext cx="1766229" cy="2058629"/>
          </a:xfrm>
          <a:prstGeom prst="roundRect">
            <a:avLst>
              <a:gd name="adj" fmla="val 6548"/>
            </a:avLst>
          </a:prstGeom>
          <a:ln w="19050">
            <a:solidFill>
              <a:schemeClr val="tx1">
                <a:lumMod val="85000"/>
                <a:lumOff val="15000"/>
              </a:schemeClr>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FACF19D8-E7F0-F058-4860-F35E3D63267E}"/>
              </a:ext>
            </a:extLst>
          </p:cNvPr>
          <p:cNvSpPr/>
          <p:nvPr/>
        </p:nvSpPr>
        <p:spPr>
          <a:xfrm>
            <a:off x="9879180" y="4031225"/>
            <a:ext cx="1120878" cy="344129"/>
          </a:xfrm>
          <a:prstGeom prst="roundRect">
            <a:avLst/>
          </a:prstGeom>
          <a:noFill/>
          <a:ln w="190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LayerNorm</a:t>
            </a:r>
          </a:p>
        </p:txBody>
      </p:sp>
      <p:sp>
        <p:nvSpPr>
          <p:cNvPr id="9" name="Rectangle: Rounded Corners 8">
            <a:extLst>
              <a:ext uri="{FF2B5EF4-FFF2-40B4-BE49-F238E27FC236}">
                <a16:creationId xmlns:a16="http://schemas.microsoft.com/office/drawing/2014/main" id="{9837CAC8-AAF3-55BF-9B0B-8A31EE788DE0}"/>
              </a:ext>
            </a:extLst>
          </p:cNvPr>
          <p:cNvSpPr/>
          <p:nvPr/>
        </p:nvSpPr>
        <p:spPr>
          <a:xfrm>
            <a:off x="9834044" y="4645742"/>
            <a:ext cx="1207582" cy="344129"/>
          </a:xfrm>
          <a:prstGeom prst="roundRect">
            <a:avLst/>
          </a:prstGeom>
          <a:noFill/>
          <a:ln w="190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GlobalAvgPool</a:t>
            </a:r>
          </a:p>
        </p:txBody>
      </p:sp>
      <p:sp>
        <p:nvSpPr>
          <p:cNvPr id="10" name="Rectangle: Rounded Corners 9">
            <a:extLst>
              <a:ext uri="{FF2B5EF4-FFF2-40B4-BE49-F238E27FC236}">
                <a16:creationId xmlns:a16="http://schemas.microsoft.com/office/drawing/2014/main" id="{B48DCFEC-CD1C-C5C3-48EB-2CAF1184BD50}"/>
              </a:ext>
            </a:extLst>
          </p:cNvPr>
          <p:cNvSpPr/>
          <p:nvPr/>
        </p:nvSpPr>
        <p:spPr>
          <a:xfrm>
            <a:off x="9834044" y="5260259"/>
            <a:ext cx="1207582" cy="344129"/>
          </a:xfrm>
          <a:prstGeom prst="roundRect">
            <a:avLst>
              <a:gd name="adj" fmla="val 13810"/>
            </a:avLst>
          </a:prstGeom>
          <a:noFill/>
          <a:ln w="19050">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solidFill>
                  <a:schemeClr val="tx1"/>
                </a:solidFill>
              </a:rPr>
              <a:t>Linear</a:t>
            </a:r>
          </a:p>
        </p:txBody>
      </p:sp>
      <p:sp>
        <p:nvSpPr>
          <p:cNvPr id="11" name="Rectangle: Rounded Corners 10">
            <a:extLst>
              <a:ext uri="{FF2B5EF4-FFF2-40B4-BE49-F238E27FC236}">
                <a16:creationId xmlns:a16="http://schemas.microsoft.com/office/drawing/2014/main" id="{8648632E-A2AC-5185-C10C-C72429B61487}"/>
              </a:ext>
            </a:extLst>
          </p:cNvPr>
          <p:cNvSpPr/>
          <p:nvPr/>
        </p:nvSpPr>
        <p:spPr>
          <a:xfrm>
            <a:off x="9898848" y="6089854"/>
            <a:ext cx="1077974" cy="275306"/>
          </a:xfrm>
          <a:prstGeom prst="roundRect">
            <a:avLst/>
          </a:prstGeom>
          <a:ln w="19050">
            <a:solidFill>
              <a:schemeClr val="tx1">
                <a:lumMod val="85000"/>
                <a:lumOff val="1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Output</a:t>
            </a:r>
          </a:p>
        </p:txBody>
      </p:sp>
      <p:cxnSp>
        <p:nvCxnSpPr>
          <p:cNvPr id="13" name="Straight Arrow Connector 12">
            <a:extLst>
              <a:ext uri="{FF2B5EF4-FFF2-40B4-BE49-F238E27FC236}">
                <a16:creationId xmlns:a16="http://schemas.microsoft.com/office/drawing/2014/main" id="{F926C9F9-7C74-82F0-F4EA-31C6856AA9FB}"/>
              </a:ext>
            </a:extLst>
          </p:cNvPr>
          <p:cNvCxnSpPr>
            <a:stCxn id="8" idx="2"/>
            <a:endCxn id="9" idx="0"/>
          </p:cNvCxnSpPr>
          <p:nvPr/>
        </p:nvCxnSpPr>
        <p:spPr>
          <a:xfrm flipH="1">
            <a:off x="10437835" y="4375354"/>
            <a:ext cx="1784" cy="270388"/>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BE4C56B-265B-B117-69F8-8CED054E9A5F}"/>
              </a:ext>
            </a:extLst>
          </p:cNvPr>
          <p:cNvCxnSpPr>
            <a:cxnSpLocks/>
            <a:stCxn id="9" idx="2"/>
            <a:endCxn id="10" idx="0"/>
          </p:cNvCxnSpPr>
          <p:nvPr/>
        </p:nvCxnSpPr>
        <p:spPr>
          <a:xfrm>
            <a:off x="10437835" y="4989871"/>
            <a:ext cx="0" cy="270388"/>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92D4CA0-BC4A-C7E0-A372-E8331FCD82D9}"/>
              </a:ext>
            </a:extLst>
          </p:cNvPr>
          <p:cNvCxnSpPr>
            <a:cxnSpLocks/>
            <a:stCxn id="10" idx="2"/>
            <a:endCxn id="11" idx="0"/>
          </p:cNvCxnSpPr>
          <p:nvPr/>
        </p:nvCxnSpPr>
        <p:spPr>
          <a:xfrm>
            <a:off x="10437835" y="5604388"/>
            <a:ext cx="0" cy="485466"/>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DC9B559A-38B6-A726-849B-C307BE102849}"/>
              </a:ext>
            </a:extLst>
          </p:cNvPr>
          <p:cNvSpPr/>
          <p:nvPr/>
        </p:nvSpPr>
        <p:spPr>
          <a:xfrm>
            <a:off x="1956619" y="3672636"/>
            <a:ext cx="855407" cy="3585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7" name="Rectangle 26">
            <a:extLst>
              <a:ext uri="{FF2B5EF4-FFF2-40B4-BE49-F238E27FC236}">
                <a16:creationId xmlns:a16="http://schemas.microsoft.com/office/drawing/2014/main" id="{7CF97C0C-11E8-0366-6BE3-2B8C79231C4F}"/>
              </a:ext>
            </a:extLst>
          </p:cNvPr>
          <p:cNvSpPr/>
          <p:nvPr/>
        </p:nvSpPr>
        <p:spPr>
          <a:xfrm>
            <a:off x="3687095" y="3669938"/>
            <a:ext cx="855407" cy="3585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8" name="Rectangle 27">
            <a:extLst>
              <a:ext uri="{FF2B5EF4-FFF2-40B4-BE49-F238E27FC236}">
                <a16:creationId xmlns:a16="http://schemas.microsoft.com/office/drawing/2014/main" id="{F8FD2B28-FFC7-9342-7C4C-3B0E4DA9B2DA}"/>
              </a:ext>
            </a:extLst>
          </p:cNvPr>
          <p:cNvSpPr/>
          <p:nvPr/>
        </p:nvSpPr>
        <p:spPr>
          <a:xfrm>
            <a:off x="5551208" y="3669937"/>
            <a:ext cx="855407" cy="3585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9" name="Rectangle 28">
            <a:extLst>
              <a:ext uri="{FF2B5EF4-FFF2-40B4-BE49-F238E27FC236}">
                <a16:creationId xmlns:a16="http://schemas.microsoft.com/office/drawing/2014/main" id="{451127C1-44D6-95EC-DD10-61FB9D04AFE1}"/>
              </a:ext>
            </a:extLst>
          </p:cNvPr>
          <p:cNvSpPr/>
          <p:nvPr/>
        </p:nvSpPr>
        <p:spPr>
          <a:xfrm>
            <a:off x="7151725" y="3669936"/>
            <a:ext cx="855407" cy="3585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0" name="Rectangle 29">
            <a:extLst>
              <a:ext uri="{FF2B5EF4-FFF2-40B4-BE49-F238E27FC236}">
                <a16:creationId xmlns:a16="http://schemas.microsoft.com/office/drawing/2014/main" id="{90F387D3-5CEB-57D3-83F7-05942CA6A9E5}"/>
              </a:ext>
            </a:extLst>
          </p:cNvPr>
          <p:cNvSpPr/>
          <p:nvPr/>
        </p:nvSpPr>
        <p:spPr>
          <a:xfrm>
            <a:off x="8631842" y="3649020"/>
            <a:ext cx="855407" cy="35858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9BBE5A2-10F0-B613-BFCD-1F34F0AC80A9}"/>
                  </a:ext>
                </a:extLst>
              </p:cNvPr>
              <p:cNvSpPr txBox="1"/>
              <p:nvPr/>
            </p:nvSpPr>
            <p:spPr>
              <a:xfrm>
                <a:off x="4693720" y="3673117"/>
                <a:ext cx="1026307" cy="3794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IN" sz="1000" b="1" i="1" smtClean="0">
                              <a:solidFill>
                                <a:schemeClr val="tx1">
                                  <a:lumMod val="85000"/>
                                  <a:lumOff val="15000"/>
                                </a:schemeClr>
                              </a:solidFill>
                              <a:latin typeface="Cambria Math" panose="02040503050406030204" pitchFamily="18" charset="0"/>
                            </a:rPr>
                          </m:ctrlPr>
                        </m:fPr>
                        <m:num>
                          <m:r>
                            <a:rPr lang="en-IN" sz="1000" b="1" i="1" smtClean="0">
                              <a:solidFill>
                                <a:schemeClr val="tx1">
                                  <a:lumMod val="85000"/>
                                  <a:lumOff val="15000"/>
                                </a:schemeClr>
                              </a:solidFill>
                              <a:latin typeface="Cambria Math" panose="02040503050406030204" pitchFamily="18" charset="0"/>
                            </a:rPr>
                            <m:t>𝑯</m:t>
                          </m:r>
                        </m:num>
                        <m:den>
                          <m:r>
                            <a:rPr lang="en-IN" sz="1000" b="1" i="1" smtClean="0">
                              <a:solidFill>
                                <a:schemeClr val="tx1">
                                  <a:lumMod val="85000"/>
                                  <a:lumOff val="15000"/>
                                </a:schemeClr>
                              </a:solidFill>
                              <a:latin typeface="Cambria Math" panose="02040503050406030204" pitchFamily="18" charset="0"/>
                            </a:rPr>
                            <m:t>𝟐</m:t>
                          </m:r>
                        </m:den>
                      </m:f>
                      <m:r>
                        <a:rPr lang="en-IN" sz="1000" b="1" i="1" smtClean="0">
                          <a:solidFill>
                            <a:schemeClr val="tx1">
                              <a:lumMod val="85000"/>
                              <a:lumOff val="15000"/>
                            </a:schemeClr>
                          </a:solidFill>
                          <a:latin typeface="Cambria Math" panose="02040503050406030204" pitchFamily="18" charset="0"/>
                        </a:rPr>
                        <m:t> </m:t>
                      </m:r>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m:t>
                      </m:r>
                      <m:f>
                        <m:fPr>
                          <m:ctrlP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ctrlPr>
                        </m:fPr>
                        <m:num>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𝑾</m:t>
                          </m:r>
                        </m:num>
                        <m:den>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𝟐</m:t>
                          </m:r>
                        </m:den>
                      </m:f>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 ×</m:t>
                      </m:r>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𝟏𝟗𝟐</m:t>
                      </m:r>
                    </m:oMath>
                  </m:oMathPara>
                </a14:m>
                <a:endParaRPr lang="en-IN" sz="1000" b="1" i="1" dirty="0">
                  <a:solidFill>
                    <a:schemeClr val="tx1">
                      <a:lumMod val="85000"/>
                      <a:lumOff val="15000"/>
                    </a:schemeClr>
                  </a:solidFill>
                </a:endParaRPr>
              </a:p>
            </p:txBody>
          </p:sp>
        </mc:Choice>
        <mc:Fallback xmlns="">
          <p:sp>
            <p:nvSpPr>
              <p:cNvPr id="31" name="TextBox 30">
                <a:extLst>
                  <a:ext uri="{FF2B5EF4-FFF2-40B4-BE49-F238E27FC236}">
                    <a16:creationId xmlns:a16="http://schemas.microsoft.com/office/drawing/2014/main" id="{29BBE5A2-10F0-B613-BFCD-1F34F0AC80A9}"/>
                  </a:ext>
                </a:extLst>
              </p:cNvPr>
              <p:cNvSpPr txBox="1">
                <a:spLocks noRot="1" noChangeAspect="1" noMove="1" noResize="1" noEditPoints="1" noAdjustHandles="1" noChangeArrowheads="1" noChangeShapeType="1" noTextEdit="1"/>
              </p:cNvSpPr>
              <p:nvPr/>
            </p:nvSpPr>
            <p:spPr>
              <a:xfrm>
                <a:off x="4693720" y="3673117"/>
                <a:ext cx="1026307" cy="37946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55CA174-5F56-7FA5-D7D7-9A90D86E6987}"/>
                  </a:ext>
                </a:extLst>
              </p:cNvPr>
              <p:cNvSpPr txBox="1"/>
              <p:nvPr/>
            </p:nvSpPr>
            <p:spPr>
              <a:xfrm>
                <a:off x="6326217" y="3673117"/>
                <a:ext cx="1026307" cy="37946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IN" sz="1000" b="1" i="1" smtClean="0">
                              <a:solidFill>
                                <a:schemeClr val="tx1">
                                  <a:lumMod val="85000"/>
                                  <a:lumOff val="15000"/>
                                </a:schemeClr>
                              </a:solidFill>
                              <a:latin typeface="Cambria Math" panose="02040503050406030204" pitchFamily="18" charset="0"/>
                            </a:rPr>
                          </m:ctrlPr>
                        </m:fPr>
                        <m:num>
                          <m:r>
                            <a:rPr lang="en-IN" sz="1000" b="1" i="1" smtClean="0">
                              <a:solidFill>
                                <a:schemeClr val="tx1">
                                  <a:lumMod val="85000"/>
                                  <a:lumOff val="15000"/>
                                </a:schemeClr>
                              </a:solidFill>
                              <a:latin typeface="Cambria Math" panose="02040503050406030204" pitchFamily="18" charset="0"/>
                            </a:rPr>
                            <m:t>𝑯</m:t>
                          </m:r>
                        </m:num>
                        <m:den>
                          <m:r>
                            <a:rPr lang="en-IN" sz="1000" b="1" i="1" smtClean="0">
                              <a:solidFill>
                                <a:schemeClr val="tx1">
                                  <a:lumMod val="85000"/>
                                  <a:lumOff val="15000"/>
                                </a:schemeClr>
                              </a:solidFill>
                              <a:latin typeface="Cambria Math" panose="02040503050406030204" pitchFamily="18" charset="0"/>
                            </a:rPr>
                            <m:t>𝟒</m:t>
                          </m:r>
                        </m:den>
                      </m:f>
                      <m:r>
                        <a:rPr lang="en-IN" sz="1000" b="1" i="1" smtClean="0">
                          <a:solidFill>
                            <a:schemeClr val="tx1">
                              <a:lumMod val="85000"/>
                              <a:lumOff val="15000"/>
                            </a:schemeClr>
                          </a:solidFill>
                          <a:latin typeface="Cambria Math" panose="02040503050406030204" pitchFamily="18" charset="0"/>
                        </a:rPr>
                        <m:t> </m:t>
                      </m:r>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m:t>
                      </m:r>
                      <m:f>
                        <m:fPr>
                          <m:ctrlP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ctrlPr>
                        </m:fPr>
                        <m:num>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𝑾</m:t>
                          </m:r>
                        </m:num>
                        <m:den>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𝟒</m:t>
                          </m:r>
                        </m:den>
                      </m:f>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 ×</m:t>
                      </m:r>
                      <m:r>
                        <a:rPr lang="en-IN" sz="1000" b="1" i="1" smtClean="0">
                          <a:solidFill>
                            <a:schemeClr val="tx1">
                              <a:lumMod val="85000"/>
                              <a:lumOff val="15000"/>
                            </a:schemeClr>
                          </a:solidFill>
                          <a:latin typeface="Cambria Math" panose="02040503050406030204" pitchFamily="18" charset="0"/>
                          <a:ea typeface="Cambria Math" panose="02040503050406030204" pitchFamily="18" charset="0"/>
                        </a:rPr>
                        <m:t>𝟑𝟖𝟒</m:t>
                      </m:r>
                    </m:oMath>
                  </m:oMathPara>
                </a14:m>
                <a:endParaRPr lang="en-IN" sz="1000" b="1" i="1" dirty="0">
                  <a:solidFill>
                    <a:schemeClr val="tx1">
                      <a:lumMod val="85000"/>
                      <a:lumOff val="15000"/>
                    </a:schemeClr>
                  </a:solidFill>
                </a:endParaRPr>
              </a:p>
            </p:txBody>
          </p:sp>
        </mc:Choice>
        <mc:Fallback xmlns="">
          <p:sp>
            <p:nvSpPr>
              <p:cNvPr id="32" name="TextBox 31">
                <a:extLst>
                  <a:ext uri="{FF2B5EF4-FFF2-40B4-BE49-F238E27FC236}">
                    <a16:creationId xmlns:a16="http://schemas.microsoft.com/office/drawing/2014/main" id="{F55CA174-5F56-7FA5-D7D7-9A90D86E6987}"/>
                  </a:ext>
                </a:extLst>
              </p:cNvPr>
              <p:cNvSpPr txBox="1">
                <a:spLocks noRot="1" noChangeAspect="1" noMove="1" noResize="1" noEditPoints="1" noAdjustHandles="1" noChangeArrowheads="1" noChangeShapeType="1" noTextEdit="1"/>
              </p:cNvSpPr>
              <p:nvPr/>
            </p:nvSpPr>
            <p:spPr>
              <a:xfrm>
                <a:off x="6326217" y="3673117"/>
                <a:ext cx="1026307" cy="37946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CBF255B-29DA-A1F1-8139-02F8EE7010FD}"/>
                  </a:ext>
                </a:extLst>
              </p:cNvPr>
              <p:cNvSpPr txBox="1"/>
              <p:nvPr/>
            </p:nvSpPr>
            <p:spPr>
              <a:xfrm>
                <a:off x="8172967" y="3681235"/>
                <a:ext cx="1045414" cy="358303"/>
              </a:xfrm>
              <a:prstGeom prst="rect">
                <a:avLst/>
              </a:prstGeom>
              <a:noFill/>
            </p:spPr>
            <p:txBody>
              <a:bodyPr wrap="none" rtlCol="0">
                <a:spAutoFit/>
              </a:bodyPr>
              <a:lstStyle/>
              <a:p>
                <a14:m>
                  <m:oMath xmlns:m="http://schemas.openxmlformats.org/officeDocument/2006/math">
                    <m:f>
                      <m:fPr>
                        <m:ctrlPr>
                          <a:rPr lang="en-IN" sz="1200" b="1" i="1" smtClean="0">
                            <a:solidFill>
                              <a:schemeClr val="tx1">
                                <a:lumMod val="85000"/>
                                <a:lumOff val="15000"/>
                              </a:schemeClr>
                            </a:solidFill>
                            <a:latin typeface="Cambria Math" panose="02040503050406030204" pitchFamily="18" charset="0"/>
                          </a:rPr>
                        </m:ctrlPr>
                      </m:fPr>
                      <m:num>
                        <m:r>
                          <a:rPr lang="en-IN" sz="1200" b="1" i="1" smtClean="0">
                            <a:solidFill>
                              <a:schemeClr val="tx1">
                                <a:lumMod val="85000"/>
                                <a:lumOff val="15000"/>
                              </a:schemeClr>
                            </a:solidFill>
                            <a:latin typeface="Cambria Math" panose="02040503050406030204" pitchFamily="18" charset="0"/>
                          </a:rPr>
                          <m:t>𝑯</m:t>
                        </m:r>
                      </m:num>
                      <m:den>
                        <m:r>
                          <a:rPr lang="en-IN" sz="1200" b="1" i="1" smtClean="0">
                            <a:solidFill>
                              <a:schemeClr val="tx1">
                                <a:lumMod val="85000"/>
                                <a:lumOff val="15000"/>
                              </a:schemeClr>
                            </a:solidFill>
                            <a:latin typeface="Cambria Math" panose="02040503050406030204" pitchFamily="18" charset="0"/>
                          </a:rPr>
                          <m:t>𝟖</m:t>
                        </m:r>
                      </m:den>
                    </m:f>
                    <m:r>
                      <a:rPr lang="en-IN" sz="1200" b="1" i="1" smtClean="0">
                        <a:solidFill>
                          <a:schemeClr val="tx1">
                            <a:lumMod val="85000"/>
                            <a:lumOff val="15000"/>
                          </a:schemeClr>
                        </a:solidFill>
                        <a:latin typeface="Cambria Math" panose="02040503050406030204" pitchFamily="18" charset="0"/>
                      </a:rPr>
                      <m:t> </m:t>
                    </m:r>
                    <m:r>
                      <a:rPr lang="en-IN" sz="1200" b="1" i="1" smtClean="0">
                        <a:solidFill>
                          <a:schemeClr val="tx1">
                            <a:lumMod val="85000"/>
                            <a:lumOff val="15000"/>
                          </a:schemeClr>
                        </a:solidFill>
                        <a:latin typeface="Cambria Math" panose="02040503050406030204" pitchFamily="18" charset="0"/>
                        <a:ea typeface="Cambria Math" panose="02040503050406030204" pitchFamily="18" charset="0"/>
                      </a:rPr>
                      <m:t>×</m:t>
                    </m:r>
                    <m:f>
                      <m:fPr>
                        <m:ctrlPr>
                          <a:rPr lang="en-IN" sz="1200" b="1" i="1" smtClean="0">
                            <a:solidFill>
                              <a:schemeClr val="tx1">
                                <a:lumMod val="85000"/>
                                <a:lumOff val="15000"/>
                              </a:schemeClr>
                            </a:solidFill>
                            <a:latin typeface="Cambria Math" panose="02040503050406030204" pitchFamily="18" charset="0"/>
                            <a:ea typeface="Cambria Math" panose="02040503050406030204" pitchFamily="18" charset="0"/>
                          </a:rPr>
                        </m:ctrlPr>
                      </m:fPr>
                      <m:num>
                        <m:r>
                          <a:rPr lang="en-IN" sz="1200" b="1" i="1" smtClean="0">
                            <a:solidFill>
                              <a:schemeClr val="tx1">
                                <a:lumMod val="85000"/>
                                <a:lumOff val="15000"/>
                              </a:schemeClr>
                            </a:solidFill>
                            <a:latin typeface="Cambria Math" panose="02040503050406030204" pitchFamily="18" charset="0"/>
                            <a:ea typeface="Cambria Math" panose="02040503050406030204" pitchFamily="18" charset="0"/>
                          </a:rPr>
                          <m:t>𝑾</m:t>
                        </m:r>
                      </m:num>
                      <m:den>
                        <m:r>
                          <a:rPr lang="en-IN" sz="1200" b="1" i="1" smtClean="0">
                            <a:solidFill>
                              <a:schemeClr val="tx1">
                                <a:lumMod val="85000"/>
                                <a:lumOff val="15000"/>
                              </a:schemeClr>
                            </a:solidFill>
                            <a:latin typeface="Cambria Math" panose="02040503050406030204" pitchFamily="18" charset="0"/>
                            <a:ea typeface="Cambria Math" panose="02040503050406030204" pitchFamily="18" charset="0"/>
                          </a:rPr>
                          <m:t>𝟖</m:t>
                        </m:r>
                      </m:den>
                    </m:f>
                    <m:r>
                      <a:rPr lang="en-IN" sz="1200" b="1" i="1" smtClean="0">
                        <a:solidFill>
                          <a:schemeClr val="tx1">
                            <a:lumMod val="85000"/>
                            <a:lumOff val="15000"/>
                          </a:schemeClr>
                        </a:solidFill>
                        <a:latin typeface="Cambria Math" panose="02040503050406030204" pitchFamily="18" charset="0"/>
                        <a:ea typeface="Cambria Math" panose="02040503050406030204" pitchFamily="18" charset="0"/>
                      </a:rPr>
                      <m:t> ×</m:t>
                    </m:r>
                  </m:oMath>
                </a14:m>
                <a:r>
                  <a:rPr lang="en-IN" sz="1200" b="1" i="1" dirty="0">
                    <a:solidFill>
                      <a:schemeClr val="tx1">
                        <a:lumMod val="85000"/>
                        <a:lumOff val="15000"/>
                      </a:schemeClr>
                    </a:solidFill>
                  </a:rPr>
                  <a:t> 768</a:t>
                </a:r>
              </a:p>
            </p:txBody>
          </p:sp>
        </mc:Choice>
        <mc:Fallback xmlns="">
          <p:sp>
            <p:nvSpPr>
              <p:cNvPr id="23" name="TextBox 22">
                <a:extLst>
                  <a:ext uri="{FF2B5EF4-FFF2-40B4-BE49-F238E27FC236}">
                    <a16:creationId xmlns:a16="http://schemas.microsoft.com/office/drawing/2014/main" id="{5CBF255B-29DA-A1F1-8139-02F8EE7010FD}"/>
                  </a:ext>
                </a:extLst>
              </p:cNvPr>
              <p:cNvSpPr txBox="1">
                <a:spLocks noRot="1" noChangeAspect="1" noMove="1" noResize="1" noEditPoints="1" noAdjustHandles="1" noChangeArrowheads="1" noChangeShapeType="1" noTextEdit="1"/>
              </p:cNvSpPr>
              <p:nvPr/>
            </p:nvSpPr>
            <p:spPr>
              <a:xfrm>
                <a:off x="8172967" y="3681235"/>
                <a:ext cx="1045414" cy="358303"/>
              </a:xfrm>
              <a:prstGeom prst="rect">
                <a:avLst/>
              </a:prstGeom>
              <a:blipFill>
                <a:blip r:embed="rId5"/>
                <a:stretch>
                  <a:fillRect b="-169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29F7634-0D91-63D8-D0CC-5496A02D565F}"/>
                  </a:ext>
                </a:extLst>
              </p:cNvPr>
              <p:cNvSpPr txBox="1"/>
              <p:nvPr/>
            </p:nvSpPr>
            <p:spPr>
              <a:xfrm>
                <a:off x="2826403" y="3803581"/>
                <a:ext cx="1027910" cy="415498"/>
              </a:xfrm>
              <a:prstGeom prst="rect">
                <a:avLst/>
              </a:prstGeom>
              <a:noFill/>
            </p:spPr>
            <p:txBody>
              <a:bodyPr wrap="square" rtlCol="0">
                <a:spAutoFit/>
              </a:bodyPr>
              <a:lstStyle/>
              <a:p>
                <a:r>
                  <a:rPr lang="en-IN" sz="1050" b="1" i="1" dirty="0">
                    <a:solidFill>
                      <a:schemeClr val="tx1">
                        <a:lumMod val="85000"/>
                        <a:lumOff val="15000"/>
                      </a:schemeClr>
                    </a:solidFill>
                    <a:ea typeface="Cambria Math" panose="02040503050406030204" pitchFamily="18" charset="0"/>
                  </a:rPr>
                  <a:t>H </a:t>
                </a:r>
                <a14:m>
                  <m:oMath xmlns:m="http://schemas.openxmlformats.org/officeDocument/2006/math">
                    <m:r>
                      <a:rPr lang="en-IN" sz="1050" b="1" i="1" smtClean="0">
                        <a:solidFill>
                          <a:schemeClr val="tx1">
                            <a:lumMod val="85000"/>
                            <a:lumOff val="15000"/>
                          </a:schemeClr>
                        </a:solidFill>
                        <a:latin typeface="Cambria Math" panose="02040503050406030204" pitchFamily="18" charset="0"/>
                        <a:ea typeface="Cambria Math" panose="02040503050406030204" pitchFamily="18" charset="0"/>
                      </a:rPr>
                      <m:t>×</m:t>
                    </m:r>
                    <m:r>
                      <a:rPr lang="en-IN" sz="1050" b="1" i="1" smtClean="0">
                        <a:solidFill>
                          <a:schemeClr val="tx1">
                            <a:lumMod val="85000"/>
                            <a:lumOff val="15000"/>
                          </a:schemeClr>
                        </a:solidFill>
                        <a:latin typeface="Cambria Math" panose="02040503050406030204" pitchFamily="18" charset="0"/>
                        <a:ea typeface="Cambria Math" panose="02040503050406030204" pitchFamily="18" charset="0"/>
                      </a:rPr>
                      <m:t>𝑾</m:t>
                    </m:r>
                    <m:r>
                      <a:rPr lang="en-IN" sz="1050" b="1" i="1" smtClean="0">
                        <a:solidFill>
                          <a:schemeClr val="tx1">
                            <a:lumMod val="85000"/>
                            <a:lumOff val="15000"/>
                          </a:schemeClr>
                        </a:solidFill>
                        <a:latin typeface="Cambria Math" panose="02040503050406030204" pitchFamily="18" charset="0"/>
                        <a:ea typeface="Cambria Math" panose="02040503050406030204" pitchFamily="18" charset="0"/>
                      </a:rPr>
                      <m:t> ×</m:t>
                    </m:r>
                    <m:r>
                      <a:rPr lang="en-IN" sz="1050" b="1" i="1" smtClean="0">
                        <a:solidFill>
                          <a:schemeClr val="tx1">
                            <a:lumMod val="85000"/>
                            <a:lumOff val="15000"/>
                          </a:schemeClr>
                        </a:solidFill>
                        <a:latin typeface="Cambria Math" panose="02040503050406030204" pitchFamily="18" charset="0"/>
                        <a:ea typeface="Cambria Math" panose="02040503050406030204" pitchFamily="18" charset="0"/>
                      </a:rPr>
                      <m:t>𝟗𝟔</m:t>
                    </m:r>
                  </m:oMath>
                </a14:m>
                <a:endParaRPr lang="en-IN" sz="1050" b="1" i="1" dirty="0">
                  <a:solidFill>
                    <a:schemeClr val="tx1">
                      <a:lumMod val="85000"/>
                      <a:lumOff val="15000"/>
                    </a:schemeClr>
                  </a:solidFill>
                </a:endParaRPr>
              </a:p>
              <a:p>
                <a:endParaRPr lang="en-IN" sz="1050" dirty="0"/>
              </a:p>
            </p:txBody>
          </p:sp>
        </mc:Choice>
        <mc:Fallback xmlns="">
          <p:sp>
            <p:nvSpPr>
              <p:cNvPr id="25" name="TextBox 24">
                <a:extLst>
                  <a:ext uri="{FF2B5EF4-FFF2-40B4-BE49-F238E27FC236}">
                    <a16:creationId xmlns:a16="http://schemas.microsoft.com/office/drawing/2014/main" id="{229F7634-0D91-63D8-D0CC-5496A02D565F}"/>
                  </a:ext>
                </a:extLst>
              </p:cNvPr>
              <p:cNvSpPr txBox="1">
                <a:spLocks noRot="1" noChangeAspect="1" noMove="1" noResize="1" noEditPoints="1" noAdjustHandles="1" noChangeArrowheads="1" noChangeShapeType="1" noTextEdit="1"/>
              </p:cNvSpPr>
              <p:nvPr/>
            </p:nvSpPr>
            <p:spPr>
              <a:xfrm>
                <a:off x="2826403" y="3803581"/>
                <a:ext cx="1027910" cy="415498"/>
              </a:xfrm>
              <a:prstGeom prst="rect">
                <a:avLst/>
              </a:prstGeom>
              <a:blipFill>
                <a:blip r:embed="rId6"/>
                <a:stretch>
                  <a:fillRect/>
                </a:stretch>
              </a:blipFill>
            </p:spPr>
            <p:txBody>
              <a:bodyPr/>
              <a:lstStyle/>
              <a:p>
                <a:r>
                  <a:rPr lang="en-IN">
                    <a:noFill/>
                  </a:rPr>
                  <a:t> </a:t>
                </a:r>
              </a:p>
            </p:txBody>
          </p:sp>
        </mc:Fallback>
      </mc:AlternateContent>
      <p:sp>
        <p:nvSpPr>
          <p:cNvPr id="36" name="TextBox 35">
            <a:extLst>
              <a:ext uri="{FF2B5EF4-FFF2-40B4-BE49-F238E27FC236}">
                <a16:creationId xmlns:a16="http://schemas.microsoft.com/office/drawing/2014/main" id="{C0DCADEA-3896-C22F-FABC-B6315BC383CA}"/>
              </a:ext>
            </a:extLst>
          </p:cNvPr>
          <p:cNvSpPr txBox="1"/>
          <p:nvPr/>
        </p:nvSpPr>
        <p:spPr>
          <a:xfrm>
            <a:off x="10943306" y="6099688"/>
            <a:ext cx="824265" cy="261610"/>
          </a:xfrm>
          <a:prstGeom prst="rect">
            <a:avLst/>
          </a:prstGeom>
          <a:noFill/>
        </p:spPr>
        <p:txBody>
          <a:bodyPr wrap="none" rtlCol="0">
            <a:spAutoFit/>
          </a:bodyPr>
          <a:lstStyle/>
          <a:p>
            <a:r>
              <a:rPr lang="en-IN" sz="1050" b="1" dirty="0"/>
              <a:t>[</a:t>
            </a:r>
            <a:r>
              <a:rPr lang="en-IN" sz="1050" b="1" dirty="0">
                <a:solidFill>
                  <a:schemeClr val="tx1"/>
                </a:solidFill>
              </a:rPr>
              <a:t>768 → 12]</a:t>
            </a:r>
            <a:endParaRPr lang="en-IN" sz="1050" b="1" dirty="0"/>
          </a:p>
        </p:txBody>
      </p:sp>
      <p:sp>
        <p:nvSpPr>
          <p:cNvPr id="2" name="TextBox 1">
            <a:extLst>
              <a:ext uri="{FF2B5EF4-FFF2-40B4-BE49-F238E27FC236}">
                <a16:creationId xmlns:a16="http://schemas.microsoft.com/office/drawing/2014/main" id="{7BAC0A45-E0B7-6590-A9CD-712AB45A93EF}"/>
              </a:ext>
            </a:extLst>
          </p:cNvPr>
          <p:cNvSpPr txBox="1"/>
          <p:nvPr/>
        </p:nvSpPr>
        <p:spPr>
          <a:xfrm>
            <a:off x="441222" y="299883"/>
            <a:ext cx="3886200"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Swin Transformer:</a:t>
            </a:r>
            <a:endParaRPr lang="en-IN" sz="2400" dirty="0">
              <a:solidFill>
                <a:srgbClr val="AC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102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99AD65-EDA3-018E-C6A3-47A6353BA788}"/>
              </a:ext>
            </a:extLst>
          </p:cNvPr>
          <p:cNvSpPr txBox="1"/>
          <p:nvPr/>
        </p:nvSpPr>
        <p:spPr>
          <a:xfrm>
            <a:off x="165537" y="49156"/>
            <a:ext cx="5376041" cy="2411109"/>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cs typeface="Times New Roman" panose="02020603050405020304" pitchFamily="18" charset="0"/>
              </a:rPr>
              <a:t># Patch Embedding</a:t>
            </a:r>
          </a:p>
          <a:p>
            <a:pPr>
              <a:lnSpc>
                <a:spcPts val="1425"/>
              </a:lnSpc>
              <a:buNone/>
            </a:pPr>
            <a:r>
              <a:rPr lang="en-IN" sz="900" b="0" dirty="0">
                <a:effectLst/>
                <a:latin typeface="Consolas" panose="020B0609020204030204" pitchFamily="49" charset="0"/>
                <a:cs typeface="Times New Roman" panose="02020603050405020304" pitchFamily="18" charset="0"/>
              </a:rPr>
              <a:t>class </a:t>
            </a:r>
            <a:r>
              <a:rPr lang="en-IN" sz="900" b="0" dirty="0" err="1">
                <a:effectLst/>
                <a:latin typeface="Consolas" panose="020B0609020204030204" pitchFamily="49" charset="0"/>
                <a:cs typeface="Times New Roman" panose="02020603050405020304" pitchFamily="18" charset="0"/>
              </a:rPr>
              <a:t>PatchEmbedding</a:t>
            </a:r>
            <a:r>
              <a:rPr lang="en-IN" sz="900" b="0" dirty="0">
                <a:effectLst/>
                <a:latin typeface="Consolas" panose="020B0609020204030204" pitchFamily="49" charset="0"/>
                <a:cs typeface="Times New Roman" panose="02020603050405020304" pitchFamily="18" charset="0"/>
              </a:rPr>
              <a:t>(</a:t>
            </a:r>
            <a:r>
              <a:rPr lang="en-IN" sz="900" b="0" dirty="0" err="1">
                <a:effectLst/>
                <a:latin typeface="Consolas" panose="020B0609020204030204" pitchFamily="49" charset="0"/>
                <a:cs typeface="Times New Roman" panose="02020603050405020304" pitchFamily="18" charset="0"/>
              </a:rPr>
              <a:t>nn.Module</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def __</a:t>
            </a:r>
            <a:r>
              <a:rPr lang="en-IN" sz="900" b="0" dirty="0" err="1">
                <a:effectLst/>
                <a:latin typeface="Consolas" panose="020B0609020204030204" pitchFamily="49" charset="0"/>
                <a:cs typeface="Times New Roman" panose="02020603050405020304" pitchFamily="18" charset="0"/>
              </a:rPr>
              <a:t>init</a:t>
            </a:r>
            <a:r>
              <a:rPr lang="en-IN" sz="900" b="0" dirty="0">
                <a:effectLst/>
                <a:latin typeface="Consolas" panose="020B0609020204030204" pitchFamily="49" charset="0"/>
                <a:cs typeface="Times New Roman" panose="02020603050405020304" pitchFamily="18" charset="0"/>
              </a:rPr>
              <a:t>__(self, </a:t>
            </a:r>
            <a:r>
              <a:rPr lang="en-IN" sz="900" b="0" dirty="0" err="1">
                <a:effectLst/>
                <a:latin typeface="Consolas" panose="020B0609020204030204" pitchFamily="49" charset="0"/>
                <a:cs typeface="Times New Roman" panose="02020603050405020304" pitchFamily="18" charset="0"/>
              </a:rPr>
              <a:t>in_channels</a:t>
            </a:r>
            <a:r>
              <a:rPr lang="en-IN" sz="900" b="0" dirty="0">
                <a:effectLst/>
                <a:latin typeface="Consolas" panose="020B0609020204030204" pitchFamily="49" charset="0"/>
                <a:cs typeface="Times New Roman" panose="02020603050405020304" pitchFamily="18" charset="0"/>
              </a:rPr>
              <a:t>=3, </a:t>
            </a:r>
            <a:r>
              <a:rPr lang="en-IN" sz="900" b="0" dirty="0" err="1">
                <a:effectLst/>
                <a:latin typeface="Consolas" panose="020B0609020204030204" pitchFamily="49" charset="0"/>
                <a:cs typeface="Times New Roman" panose="02020603050405020304" pitchFamily="18" charset="0"/>
              </a:rPr>
              <a:t>patch_size</a:t>
            </a:r>
            <a:r>
              <a:rPr lang="en-IN" sz="900" b="0" dirty="0">
                <a:effectLst/>
                <a:latin typeface="Consolas" panose="020B0609020204030204" pitchFamily="49" charset="0"/>
                <a:cs typeface="Times New Roman" panose="02020603050405020304" pitchFamily="18" charset="0"/>
              </a:rPr>
              <a:t>=4, </a:t>
            </a:r>
            <a:r>
              <a:rPr lang="en-IN" sz="900" b="0" dirty="0" err="1">
                <a:effectLst/>
                <a:latin typeface="Consolas" panose="020B0609020204030204" pitchFamily="49" charset="0"/>
                <a:cs typeface="Times New Roman" panose="02020603050405020304" pitchFamily="18" charset="0"/>
              </a:rPr>
              <a:t>embed_dim</a:t>
            </a:r>
            <a:r>
              <a:rPr lang="en-IN" sz="900" b="0" dirty="0">
                <a:effectLst/>
                <a:latin typeface="Consolas" panose="020B0609020204030204" pitchFamily="49" charset="0"/>
                <a:cs typeface="Times New Roman" panose="02020603050405020304" pitchFamily="18" charset="0"/>
              </a:rPr>
              <a:t>=96):</a:t>
            </a:r>
          </a:p>
          <a:p>
            <a:pPr>
              <a:lnSpc>
                <a:spcPts val="1425"/>
              </a:lnSpc>
              <a:buNone/>
            </a:pPr>
            <a:r>
              <a:rPr lang="en-IN" sz="900" b="0" dirty="0">
                <a:effectLst/>
                <a:latin typeface="Consolas" panose="020B0609020204030204" pitchFamily="49" charset="0"/>
                <a:cs typeface="Times New Roman" panose="02020603050405020304" pitchFamily="18" charset="0"/>
              </a:rPr>
              <a:t>        super().__</a:t>
            </a:r>
            <a:r>
              <a:rPr lang="en-IN" sz="900" b="0" dirty="0" err="1">
                <a:effectLst/>
                <a:latin typeface="Consolas" panose="020B0609020204030204" pitchFamily="49" charset="0"/>
                <a:cs typeface="Times New Roman" panose="02020603050405020304" pitchFamily="18" charset="0"/>
              </a:rPr>
              <a:t>init</a:t>
            </a:r>
            <a:r>
              <a:rPr lang="en-IN" sz="900" b="0" dirty="0">
                <a:effectLst/>
                <a:latin typeface="Consolas" panose="020B0609020204030204" pitchFamily="49" charset="0"/>
                <a:cs typeface="Times New Roman" panose="02020603050405020304" pitchFamily="18" charset="0"/>
              </a:rPr>
              <a:t>__()</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self.proj</a:t>
            </a:r>
            <a:r>
              <a:rPr lang="en-IN" sz="900" b="0" dirty="0">
                <a:effectLst/>
                <a:latin typeface="Consolas" panose="020B0609020204030204" pitchFamily="49" charset="0"/>
                <a:cs typeface="Times New Roman" panose="02020603050405020304" pitchFamily="18" charset="0"/>
              </a:rPr>
              <a:t> = nn.Conv2d(</a:t>
            </a:r>
            <a:r>
              <a:rPr lang="en-IN" sz="900" b="0" dirty="0" err="1">
                <a:effectLst/>
                <a:latin typeface="Consolas" panose="020B0609020204030204" pitchFamily="49" charset="0"/>
                <a:cs typeface="Times New Roman" panose="02020603050405020304" pitchFamily="18" charset="0"/>
              </a:rPr>
              <a:t>in_channels</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embed_dim</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kernel_size</a:t>
            </a:r>
            <a:r>
              <a:rPr lang="en-IN" sz="900" b="0" dirty="0">
                <a:effectLst/>
                <a:latin typeface="Consolas" panose="020B0609020204030204" pitchFamily="49" charset="0"/>
                <a:cs typeface="Times New Roman" panose="02020603050405020304" pitchFamily="18" charset="0"/>
              </a:rPr>
              <a:t>=</a:t>
            </a:r>
            <a:r>
              <a:rPr lang="en-IN" sz="900" b="0" dirty="0" err="1">
                <a:effectLst/>
                <a:latin typeface="Consolas" panose="020B0609020204030204" pitchFamily="49" charset="0"/>
                <a:cs typeface="Times New Roman" panose="02020603050405020304" pitchFamily="18" charset="0"/>
              </a:rPr>
              <a:t>patch_size</a:t>
            </a:r>
            <a:r>
              <a:rPr lang="en-IN" sz="900" b="0" dirty="0">
                <a:effectLst/>
                <a:latin typeface="Consolas" panose="020B0609020204030204" pitchFamily="49" charset="0"/>
                <a:cs typeface="Times New Roman" panose="02020603050405020304" pitchFamily="18" charset="0"/>
              </a:rPr>
              <a:t>, stride=</a:t>
            </a:r>
            <a:r>
              <a:rPr lang="en-IN" sz="900" b="0" dirty="0" err="1">
                <a:effectLst/>
                <a:latin typeface="Consolas" panose="020B0609020204030204" pitchFamily="49" charset="0"/>
                <a:cs typeface="Times New Roman" panose="02020603050405020304" pitchFamily="18" charset="0"/>
              </a:rPr>
              <a:t>patch_size</a:t>
            </a:r>
            <a:r>
              <a:rPr lang="en-IN" sz="900" b="0" dirty="0">
                <a:effectLst/>
                <a:latin typeface="Consolas" panose="020B0609020204030204" pitchFamily="49" charset="0"/>
                <a:cs typeface="Times New Roman" panose="02020603050405020304" pitchFamily="18" charset="0"/>
              </a:rPr>
              <a:t>)</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def forward(self, x):</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self.proj</a:t>
            </a:r>
            <a:r>
              <a:rPr lang="en-IN" sz="900" b="0" dirty="0">
                <a:effectLst/>
                <a:latin typeface="Consolas" panose="020B0609020204030204" pitchFamily="49" charset="0"/>
                <a:cs typeface="Times New Roman" panose="02020603050405020304" pitchFamily="18" charset="0"/>
              </a:rPr>
              <a:t>(x)</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x.flatten</a:t>
            </a:r>
            <a:r>
              <a:rPr lang="en-IN" sz="900" b="0" dirty="0">
                <a:effectLst/>
                <a:latin typeface="Consolas" panose="020B0609020204030204" pitchFamily="49" charset="0"/>
                <a:cs typeface="Times New Roman" panose="02020603050405020304" pitchFamily="18" charset="0"/>
              </a:rPr>
              <a:t>(2).transpose(1, 2)  # B, N, C</a:t>
            </a:r>
          </a:p>
          <a:p>
            <a:pPr>
              <a:lnSpc>
                <a:spcPts val="1425"/>
              </a:lnSpc>
              <a:buNone/>
            </a:pPr>
            <a:r>
              <a:rPr lang="en-IN" sz="900" b="0" dirty="0">
                <a:effectLst/>
                <a:latin typeface="Consolas" panose="020B0609020204030204" pitchFamily="49" charset="0"/>
                <a:cs typeface="Times New Roman" panose="02020603050405020304" pitchFamily="18" charset="0"/>
              </a:rPr>
              <a:t>        return x</a:t>
            </a:r>
          </a:p>
          <a:p>
            <a:pPr>
              <a:lnSpc>
                <a:spcPts val="1425"/>
              </a:lnSpc>
              <a:buNone/>
            </a:pPr>
            <a:br>
              <a:rPr lang="en-IN" sz="900" b="0" dirty="0">
                <a:effectLst/>
                <a:latin typeface="Consolas" panose="020B0609020204030204" pitchFamily="49" charset="0"/>
                <a:cs typeface="Times New Roman" panose="02020603050405020304" pitchFamily="18" charset="0"/>
              </a:rPr>
            </a:br>
            <a:endParaRPr lang="en-IN" sz="900" dirty="0">
              <a:latin typeface="Consolas" panose="020B0609020204030204" pitchFamily="49" charset="0"/>
              <a:cs typeface="Times New Roman" panose="02020603050405020304" pitchFamily="18" charset="0"/>
            </a:endParaRPr>
          </a:p>
        </p:txBody>
      </p:sp>
      <p:sp>
        <p:nvSpPr>
          <p:cNvPr id="3" name="TextBox 2">
            <a:extLst>
              <a:ext uri="{FF2B5EF4-FFF2-40B4-BE49-F238E27FC236}">
                <a16:creationId xmlns:a16="http://schemas.microsoft.com/office/drawing/2014/main" id="{E0FB9793-F382-D7B7-E8A7-DD47E9476911}"/>
              </a:ext>
            </a:extLst>
          </p:cNvPr>
          <p:cNvSpPr txBox="1"/>
          <p:nvPr/>
        </p:nvSpPr>
        <p:spPr>
          <a:xfrm>
            <a:off x="165537" y="1951529"/>
            <a:ext cx="5108028" cy="5257850"/>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cs typeface="Times New Roman" panose="02020603050405020304" pitchFamily="18" charset="0"/>
              </a:rPr>
              <a:t># Window Attention</a:t>
            </a:r>
          </a:p>
          <a:p>
            <a:pPr>
              <a:lnSpc>
                <a:spcPts val="1425"/>
              </a:lnSpc>
              <a:buNone/>
            </a:pPr>
            <a:r>
              <a:rPr lang="en-IN" sz="900" b="0" dirty="0">
                <a:effectLst/>
                <a:latin typeface="Consolas" panose="020B0609020204030204" pitchFamily="49" charset="0"/>
                <a:cs typeface="Times New Roman" panose="02020603050405020304" pitchFamily="18" charset="0"/>
              </a:rPr>
              <a:t>class </a:t>
            </a:r>
            <a:r>
              <a:rPr lang="en-IN" sz="900" b="0" dirty="0" err="1">
                <a:effectLst/>
                <a:latin typeface="Consolas" panose="020B0609020204030204" pitchFamily="49" charset="0"/>
                <a:cs typeface="Times New Roman" panose="02020603050405020304" pitchFamily="18" charset="0"/>
              </a:rPr>
              <a:t>WindowAttention</a:t>
            </a:r>
            <a:r>
              <a:rPr lang="en-IN" sz="900" b="0" dirty="0">
                <a:effectLst/>
                <a:latin typeface="Consolas" panose="020B0609020204030204" pitchFamily="49" charset="0"/>
                <a:cs typeface="Times New Roman" panose="02020603050405020304" pitchFamily="18" charset="0"/>
              </a:rPr>
              <a:t>(</a:t>
            </a:r>
            <a:r>
              <a:rPr lang="en-IN" sz="900" b="0" dirty="0" err="1">
                <a:effectLst/>
                <a:latin typeface="Consolas" panose="020B0609020204030204" pitchFamily="49" charset="0"/>
                <a:cs typeface="Times New Roman" panose="02020603050405020304" pitchFamily="18" charset="0"/>
              </a:rPr>
              <a:t>nn.Module</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def __</a:t>
            </a:r>
            <a:r>
              <a:rPr lang="en-IN" sz="900" b="0" dirty="0" err="1">
                <a:effectLst/>
                <a:latin typeface="Consolas" panose="020B0609020204030204" pitchFamily="49" charset="0"/>
                <a:cs typeface="Times New Roman" panose="02020603050405020304" pitchFamily="18" charset="0"/>
              </a:rPr>
              <a:t>init</a:t>
            </a:r>
            <a:r>
              <a:rPr lang="en-IN" sz="900" b="0" dirty="0">
                <a:effectLst/>
                <a:latin typeface="Consolas" panose="020B0609020204030204" pitchFamily="49" charset="0"/>
                <a:cs typeface="Times New Roman" panose="02020603050405020304" pitchFamily="18" charset="0"/>
              </a:rPr>
              <a:t>__(self, dim,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num_heads</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super().__</a:t>
            </a:r>
            <a:r>
              <a:rPr lang="en-IN" sz="900" b="0" dirty="0" err="1">
                <a:effectLst/>
                <a:latin typeface="Consolas" panose="020B0609020204030204" pitchFamily="49" charset="0"/>
                <a:cs typeface="Times New Roman" panose="02020603050405020304" pitchFamily="18" charset="0"/>
              </a:rPr>
              <a:t>init</a:t>
            </a:r>
            <a:r>
              <a:rPr lang="en-IN" sz="900" b="0" dirty="0">
                <a:effectLst/>
                <a:latin typeface="Consolas" panose="020B0609020204030204" pitchFamily="49" charset="0"/>
                <a:cs typeface="Times New Roman" panose="02020603050405020304" pitchFamily="18" charset="0"/>
              </a:rPr>
              <a:t>__()</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self.dim</a:t>
            </a:r>
            <a:r>
              <a:rPr lang="en-IN" sz="900" b="0" dirty="0">
                <a:effectLst/>
                <a:latin typeface="Consolas" panose="020B0609020204030204" pitchFamily="49" charset="0"/>
                <a:cs typeface="Times New Roman" panose="02020603050405020304" pitchFamily="18" charset="0"/>
              </a:rPr>
              <a:t> = dim</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self.window_size</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window_size</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self.num_heads</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num_heads</a:t>
            </a:r>
            <a:endParaRPr lang="en-IN" sz="900" b="0" dirty="0">
              <a:effectLst/>
              <a:latin typeface="Consolas" panose="020B0609020204030204" pitchFamily="49" charset="0"/>
              <a:cs typeface="Times New Roman" panose="02020603050405020304" pitchFamily="18" charset="0"/>
            </a:endParaRP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self.scale</a:t>
            </a:r>
            <a:r>
              <a:rPr lang="en-IN" sz="900" b="0" dirty="0">
                <a:effectLst/>
                <a:latin typeface="Consolas" panose="020B0609020204030204" pitchFamily="49" charset="0"/>
                <a:cs typeface="Times New Roman" panose="02020603050405020304" pitchFamily="18" charset="0"/>
              </a:rPr>
              <a:t> = (dim // </a:t>
            </a:r>
            <a:r>
              <a:rPr lang="en-IN" sz="900" b="0" dirty="0" err="1">
                <a:effectLst/>
                <a:latin typeface="Consolas" panose="020B0609020204030204" pitchFamily="49" charset="0"/>
                <a:cs typeface="Times New Roman" panose="02020603050405020304" pitchFamily="18" charset="0"/>
              </a:rPr>
              <a:t>num_heads</a:t>
            </a:r>
            <a:r>
              <a:rPr lang="en-IN" sz="900" b="0" dirty="0">
                <a:effectLst/>
                <a:latin typeface="Consolas" panose="020B0609020204030204" pitchFamily="49" charset="0"/>
                <a:cs typeface="Times New Roman" panose="02020603050405020304" pitchFamily="18" charset="0"/>
              </a:rPr>
              <a:t>) ** -0.5</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self.qkv</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nn.Linear</a:t>
            </a:r>
            <a:r>
              <a:rPr lang="en-IN" sz="900" b="0" dirty="0">
                <a:effectLst/>
                <a:latin typeface="Consolas" panose="020B0609020204030204" pitchFamily="49" charset="0"/>
                <a:cs typeface="Times New Roman" panose="02020603050405020304" pitchFamily="18" charset="0"/>
              </a:rPr>
              <a:t>(dim, dim * 3, bias=True)</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self.attn_drop</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nn.Dropout</a:t>
            </a:r>
            <a:r>
              <a:rPr lang="en-IN" sz="900" b="0" dirty="0">
                <a:effectLst/>
                <a:latin typeface="Consolas" panose="020B0609020204030204" pitchFamily="49" charset="0"/>
                <a:cs typeface="Times New Roman" panose="02020603050405020304" pitchFamily="18" charset="0"/>
              </a:rPr>
              <a:t>(0.0)</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self.proj</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nn.Linear</a:t>
            </a:r>
            <a:r>
              <a:rPr lang="en-IN" sz="900" b="0" dirty="0">
                <a:effectLst/>
                <a:latin typeface="Consolas" panose="020B0609020204030204" pitchFamily="49" charset="0"/>
                <a:cs typeface="Times New Roman" panose="02020603050405020304" pitchFamily="18" charset="0"/>
              </a:rPr>
              <a:t>(dim, dim)</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def forward(self, x):</a:t>
            </a:r>
          </a:p>
          <a:p>
            <a:pPr>
              <a:lnSpc>
                <a:spcPts val="1425"/>
              </a:lnSpc>
              <a:buNone/>
            </a:pPr>
            <a:r>
              <a:rPr lang="en-IN" sz="900" b="0" dirty="0">
                <a:effectLst/>
                <a:latin typeface="Consolas" panose="020B0609020204030204" pitchFamily="49" charset="0"/>
                <a:cs typeface="Times New Roman" panose="02020603050405020304" pitchFamily="18" charset="0"/>
              </a:rPr>
              <a:t>        B_, N, C = </a:t>
            </a:r>
            <a:r>
              <a:rPr lang="en-IN" sz="900" b="0" dirty="0" err="1">
                <a:effectLst/>
                <a:latin typeface="Consolas" panose="020B0609020204030204" pitchFamily="49" charset="0"/>
                <a:cs typeface="Times New Roman" panose="02020603050405020304" pitchFamily="18" charset="0"/>
              </a:rPr>
              <a:t>x.shape</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qkv</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self.qkv</a:t>
            </a:r>
            <a:r>
              <a:rPr lang="en-IN" sz="900" b="0" dirty="0">
                <a:effectLst/>
                <a:latin typeface="Consolas" panose="020B0609020204030204" pitchFamily="49" charset="0"/>
                <a:cs typeface="Times New Roman" panose="02020603050405020304" pitchFamily="18" charset="0"/>
              </a:rPr>
              <a:t>(x).reshape(B_, N, 3, </a:t>
            </a:r>
            <a:r>
              <a:rPr lang="en-IN" sz="900" b="0" dirty="0" err="1">
                <a:effectLst/>
                <a:latin typeface="Consolas" panose="020B0609020204030204" pitchFamily="49" charset="0"/>
                <a:cs typeface="Times New Roman" panose="02020603050405020304" pitchFamily="18" charset="0"/>
              </a:rPr>
              <a:t>self.num_heads</a:t>
            </a:r>
            <a:r>
              <a:rPr lang="en-IN" sz="900" b="0" dirty="0">
                <a:effectLst/>
                <a:latin typeface="Consolas" panose="020B0609020204030204" pitchFamily="49" charset="0"/>
                <a:cs typeface="Times New Roman" panose="02020603050405020304" pitchFamily="18" charset="0"/>
              </a:rPr>
              <a:t>, C // </a:t>
            </a:r>
            <a:r>
              <a:rPr lang="en-IN" sz="900" b="0" dirty="0" err="1">
                <a:effectLst/>
                <a:latin typeface="Consolas" panose="020B0609020204030204" pitchFamily="49" charset="0"/>
                <a:cs typeface="Times New Roman" panose="02020603050405020304" pitchFamily="18" charset="0"/>
              </a:rPr>
              <a:t>self.num_heads</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q, k, v = </a:t>
            </a:r>
            <a:r>
              <a:rPr lang="en-IN" sz="900" b="0" dirty="0" err="1">
                <a:effectLst/>
                <a:latin typeface="Consolas" panose="020B0609020204030204" pitchFamily="49" charset="0"/>
                <a:cs typeface="Times New Roman" panose="02020603050405020304" pitchFamily="18" charset="0"/>
              </a:rPr>
              <a:t>qkv.permute</a:t>
            </a:r>
            <a:r>
              <a:rPr lang="en-IN" sz="900" b="0" dirty="0">
                <a:effectLst/>
                <a:latin typeface="Consolas" panose="020B0609020204030204" pitchFamily="49" charset="0"/>
                <a:cs typeface="Times New Roman" panose="02020603050405020304" pitchFamily="18" charset="0"/>
              </a:rPr>
              <a:t>(2, 0, 3, 1, 4)</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attn = (q @ </a:t>
            </a:r>
            <a:r>
              <a:rPr lang="en-IN" sz="900" b="0" dirty="0" err="1">
                <a:effectLst/>
                <a:latin typeface="Consolas" panose="020B0609020204030204" pitchFamily="49" charset="0"/>
                <a:cs typeface="Times New Roman" panose="02020603050405020304" pitchFamily="18" charset="0"/>
              </a:rPr>
              <a:t>k.transpose</a:t>
            </a:r>
            <a:r>
              <a:rPr lang="en-IN" sz="900" b="0" dirty="0">
                <a:effectLst/>
                <a:latin typeface="Consolas" panose="020B0609020204030204" pitchFamily="49" charset="0"/>
                <a:cs typeface="Times New Roman" panose="02020603050405020304" pitchFamily="18" charset="0"/>
              </a:rPr>
              <a:t>(-2, -1)) * </a:t>
            </a:r>
            <a:r>
              <a:rPr lang="en-IN" sz="900" b="0" dirty="0" err="1">
                <a:effectLst/>
                <a:latin typeface="Consolas" panose="020B0609020204030204" pitchFamily="49" charset="0"/>
                <a:cs typeface="Times New Roman" panose="02020603050405020304" pitchFamily="18" charset="0"/>
              </a:rPr>
              <a:t>self.scale</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attn = </a:t>
            </a:r>
            <a:r>
              <a:rPr lang="en-IN" sz="900" b="0" dirty="0" err="1">
                <a:effectLst/>
                <a:latin typeface="Consolas" panose="020B0609020204030204" pitchFamily="49" charset="0"/>
                <a:cs typeface="Times New Roman" panose="02020603050405020304" pitchFamily="18" charset="0"/>
              </a:rPr>
              <a:t>attn.softmax</a:t>
            </a:r>
            <a:r>
              <a:rPr lang="en-IN" sz="900" b="0" dirty="0">
                <a:effectLst/>
                <a:latin typeface="Consolas" panose="020B0609020204030204" pitchFamily="49" charset="0"/>
                <a:cs typeface="Times New Roman" panose="02020603050405020304" pitchFamily="18" charset="0"/>
              </a:rPr>
              <a:t>(dim=-1)</a:t>
            </a:r>
          </a:p>
          <a:p>
            <a:pPr>
              <a:lnSpc>
                <a:spcPts val="1425"/>
              </a:lnSpc>
              <a:buNone/>
            </a:pPr>
            <a:r>
              <a:rPr lang="en-IN" sz="900" b="0" dirty="0">
                <a:effectLst/>
                <a:latin typeface="Consolas" panose="020B0609020204030204" pitchFamily="49" charset="0"/>
                <a:cs typeface="Times New Roman" panose="02020603050405020304" pitchFamily="18" charset="0"/>
              </a:rPr>
              <a:t>        attn = </a:t>
            </a:r>
            <a:r>
              <a:rPr lang="en-IN" sz="900" b="0" dirty="0" err="1">
                <a:effectLst/>
                <a:latin typeface="Consolas" panose="020B0609020204030204" pitchFamily="49" charset="0"/>
                <a:cs typeface="Times New Roman" panose="02020603050405020304" pitchFamily="18" charset="0"/>
              </a:rPr>
              <a:t>self.attn_drop</a:t>
            </a:r>
            <a:r>
              <a:rPr lang="en-IN" sz="900" b="0" dirty="0">
                <a:effectLst/>
                <a:latin typeface="Consolas" panose="020B0609020204030204" pitchFamily="49" charset="0"/>
                <a:cs typeface="Times New Roman" panose="02020603050405020304" pitchFamily="18" charset="0"/>
              </a:rPr>
              <a:t>(attn)</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out = (attn @ v).transpose(1, 2).reshape(B_, N, C)</a:t>
            </a:r>
          </a:p>
          <a:p>
            <a:pPr>
              <a:lnSpc>
                <a:spcPts val="1425"/>
              </a:lnSpc>
              <a:buNone/>
            </a:pPr>
            <a:r>
              <a:rPr lang="en-IN" sz="900" b="0" dirty="0">
                <a:effectLst/>
                <a:latin typeface="Consolas" panose="020B0609020204030204" pitchFamily="49" charset="0"/>
                <a:cs typeface="Times New Roman" panose="02020603050405020304" pitchFamily="18" charset="0"/>
              </a:rPr>
              <a:t>        out = </a:t>
            </a:r>
            <a:r>
              <a:rPr lang="en-IN" sz="900" b="0" dirty="0" err="1">
                <a:effectLst/>
                <a:latin typeface="Consolas" panose="020B0609020204030204" pitchFamily="49" charset="0"/>
                <a:cs typeface="Times New Roman" panose="02020603050405020304" pitchFamily="18" charset="0"/>
              </a:rPr>
              <a:t>self.proj</a:t>
            </a:r>
            <a:r>
              <a:rPr lang="en-IN" sz="900" b="0" dirty="0">
                <a:effectLst/>
                <a:latin typeface="Consolas" panose="020B0609020204030204" pitchFamily="49" charset="0"/>
                <a:cs typeface="Times New Roman" panose="02020603050405020304" pitchFamily="18" charset="0"/>
              </a:rPr>
              <a:t>(out)</a:t>
            </a:r>
          </a:p>
          <a:p>
            <a:pPr>
              <a:lnSpc>
                <a:spcPts val="1425"/>
              </a:lnSpc>
              <a:buNone/>
            </a:pPr>
            <a:r>
              <a:rPr lang="en-IN" sz="900" b="0" dirty="0">
                <a:effectLst/>
                <a:latin typeface="Consolas" panose="020B0609020204030204" pitchFamily="49" charset="0"/>
                <a:cs typeface="Times New Roman" panose="02020603050405020304" pitchFamily="18" charset="0"/>
              </a:rPr>
              <a:t>        return out</a:t>
            </a:r>
          </a:p>
          <a:p>
            <a:pPr>
              <a:lnSpc>
                <a:spcPts val="1425"/>
              </a:lnSpc>
            </a:pPr>
            <a:br>
              <a:rPr lang="en-IN" sz="900" b="0" dirty="0">
                <a:effectLst/>
                <a:latin typeface="Consolas" panose="020B0609020204030204" pitchFamily="49" charset="0"/>
                <a:cs typeface="Times New Roman" panose="02020603050405020304" pitchFamily="18" charset="0"/>
              </a:rPr>
            </a:br>
            <a:endParaRPr lang="en-IN" sz="900" b="0" dirty="0">
              <a:effectLst/>
              <a:latin typeface="Consolas" panose="020B0609020204030204" pitchFamily="49" charset="0"/>
              <a:cs typeface="Times New Roman" panose="02020603050405020304" pitchFamily="18" charset="0"/>
            </a:endParaRPr>
          </a:p>
          <a:p>
            <a:endParaRPr lang="en-IN" sz="9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A16D682-29E5-EC5D-8AB0-8956E0FA0B85}"/>
              </a:ext>
            </a:extLst>
          </p:cNvPr>
          <p:cNvSpPr txBox="1"/>
          <p:nvPr/>
        </p:nvSpPr>
        <p:spPr>
          <a:xfrm>
            <a:off x="6094686" y="25619"/>
            <a:ext cx="6097314" cy="2228944"/>
          </a:xfrm>
          <a:prstGeom prst="rect">
            <a:avLst/>
          </a:prstGeom>
          <a:noFill/>
        </p:spPr>
        <p:txBody>
          <a:bodyPr wrap="square">
            <a:spAutoFit/>
          </a:bodyPr>
          <a:lstStyle/>
          <a:p>
            <a:pPr>
              <a:lnSpc>
                <a:spcPts val="1425"/>
              </a:lnSpc>
              <a:buNone/>
            </a:pPr>
            <a:r>
              <a:rPr lang="en-IN" sz="900" b="0" dirty="0">
                <a:solidFill>
                  <a:srgbClr val="6A9955"/>
                </a:solidFill>
                <a:effectLst/>
                <a:latin typeface="Consolas" panose="020B0609020204030204" pitchFamily="49" charset="0"/>
                <a:cs typeface="Times New Roman" panose="02020603050405020304" pitchFamily="18" charset="0"/>
              </a:rPr>
              <a:t># Window Partition / Reverse</a:t>
            </a:r>
          </a:p>
          <a:p>
            <a:pPr>
              <a:lnSpc>
                <a:spcPts val="1425"/>
              </a:lnSpc>
              <a:buNone/>
            </a:pPr>
            <a:r>
              <a:rPr lang="en-IN" sz="900" b="0" dirty="0">
                <a:effectLst/>
                <a:latin typeface="Consolas" panose="020B0609020204030204" pitchFamily="49" charset="0"/>
                <a:cs typeface="Times New Roman" panose="02020603050405020304" pitchFamily="18" charset="0"/>
              </a:rPr>
              <a:t>def </a:t>
            </a:r>
            <a:r>
              <a:rPr lang="en-IN" sz="900" b="0" dirty="0" err="1">
                <a:effectLst/>
                <a:latin typeface="Consolas" panose="020B0609020204030204" pitchFamily="49" charset="0"/>
                <a:cs typeface="Times New Roman" panose="02020603050405020304" pitchFamily="18" charset="0"/>
              </a:rPr>
              <a:t>window_partition</a:t>
            </a:r>
            <a:r>
              <a:rPr lang="en-IN" sz="900" b="0" dirty="0">
                <a:effectLst/>
                <a:latin typeface="Consolas" panose="020B0609020204030204" pitchFamily="49" charset="0"/>
                <a:cs typeface="Times New Roman" panose="02020603050405020304" pitchFamily="18" charset="0"/>
              </a:rPr>
              <a:t>(x,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B, H, W, C = </a:t>
            </a:r>
            <a:r>
              <a:rPr lang="en-IN" sz="900" b="0" dirty="0" err="1">
                <a:effectLst/>
                <a:latin typeface="Consolas" panose="020B0609020204030204" pitchFamily="49" charset="0"/>
                <a:cs typeface="Times New Roman" panose="02020603050405020304" pitchFamily="18" charset="0"/>
              </a:rPr>
              <a:t>x.shape</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x.view</a:t>
            </a:r>
            <a:r>
              <a:rPr lang="en-IN" sz="900" b="0" dirty="0">
                <a:effectLst/>
                <a:latin typeface="Consolas" panose="020B0609020204030204" pitchFamily="49" charset="0"/>
                <a:cs typeface="Times New Roman" panose="02020603050405020304" pitchFamily="18" charset="0"/>
              </a:rPr>
              <a:t>(B, H //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W //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C)</a:t>
            </a:r>
          </a:p>
          <a:p>
            <a:pPr>
              <a:lnSpc>
                <a:spcPts val="1425"/>
              </a:lnSpc>
              <a:buNone/>
            </a:pPr>
            <a:r>
              <a:rPr lang="en-IN" sz="900" b="0" dirty="0">
                <a:effectLst/>
                <a:latin typeface="Consolas" panose="020B0609020204030204" pitchFamily="49" charset="0"/>
                <a:cs typeface="Times New Roman" panose="02020603050405020304" pitchFamily="18" charset="0"/>
              </a:rPr>
              <a:t>    windows = </a:t>
            </a:r>
            <a:r>
              <a:rPr lang="en-IN" sz="900" b="0" dirty="0" err="1">
                <a:effectLst/>
                <a:latin typeface="Consolas" panose="020B0609020204030204" pitchFamily="49" charset="0"/>
                <a:cs typeface="Times New Roman" panose="02020603050405020304" pitchFamily="18" charset="0"/>
              </a:rPr>
              <a:t>x.permute</a:t>
            </a:r>
            <a:r>
              <a:rPr lang="en-IN" sz="900" b="0" dirty="0">
                <a:effectLst/>
                <a:latin typeface="Consolas" panose="020B0609020204030204" pitchFamily="49" charset="0"/>
                <a:cs typeface="Times New Roman" panose="02020603050405020304" pitchFamily="18" charset="0"/>
              </a:rPr>
              <a:t>(0, 1, 3, 2, 4, 5).contiguous().view(-1,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C)</a:t>
            </a:r>
          </a:p>
          <a:p>
            <a:pPr>
              <a:lnSpc>
                <a:spcPts val="1425"/>
              </a:lnSpc>
              <a:buNone/>
            </a:pPr>
            <a:r>
              <a:rPr lang="en-IN" sz="900" b="0" dirty="0">
                <a:effectLst/>
                <a:latin typeface="Consolas" panose="020B0609020204030204" pitchFamily="49" charset="0"/>
                <a:cs typeface="Times New Roman" panose="02020603050405020304" pitchFamily="18" charset="0"/>
              </a:rPr>
              <a:t>    return windows</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def </a:t>
            </a:r>
            <a:r>
              <a:rPr lang="en-IN" sz="900" b="0" dirty="0" err="1">
                <a:effectLst/>
                <a:latin typeface="Consolas" panose="020B0609020204030204" pitchFamily="49" charset="0"/>
                <a:cs typeface="Times New Roman" panose="02020603050405020304" pitchFamily="18" charset="0"/>
              </a:rPr>
              <a:t>window_reverse</a:t>
            </a:r>
            <a:r>
              <a:rPr lang="en-IN" sz="900" b="0" dirty="0">
                <a:effectLst/>
                <a:latin typeface="Consolas" panose="020B0609020204030204" pitchFamily="49" charset="0"/>
                <a:cs typeface="Times New Roman" panose="02020603050405020304" pitchFamily="18" charset="0"/>
              </a:rPr>
              <a:t>(windows,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H, W):</a:t>
            </a:r>
          </a:p>
          <a:p>
            <a:pPr>
              <a:lnSpc>
                <a:spcPts val="1425"/>
              </a:lnSpc>
              <a:buNone/>
            </a:pPr>
            <a:r>
              <a:rPr lang="en-IN" sz="900" b="0" dirty="0">
                <a:effectLst/>
                <a:latin typeface="Consolas" panose="020B0609020204030204" pitchFamily="49" charset="0"/>
                <a:cs typeface="Times New Roman" panose="02020603050405020304" pitchFamily="18" charset="0"/>
              </a:rPr>
              <a:t>    B = int(</a:t>
            </a:r>
            <a:r>
              <a:rPr lang="en-IN" sz="900" b="0" dirty="0" err="1">
                <a:effectLst/>
                <a:latin typeface="Consolas" panose="020B0609020204030204" pitchFamily="49" charset="0"/>
                <a:cs typeface="Times New Roman" panose="02020603050405020304" pitchFamily="18" charset="0"/>
              </a:rPr>
              <a:t>windows.shape</a:t>
            </a:r>
            <a:r>
              <a:rPr lang="en-IN" sz="900" b="0" dirty="0">
                <a:effectLst/>
                <a:latin typeface="Consolas" panose="020B0609020204030204" pitchFamily="49" charset="0"/>
                <a:cs typeface="Times New Roman" panose="02020603050405020304" pitchFamily="18" charset="0"/>
              </a:rPr>
              <a:t>[0] / (H * W /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windows.view</a:t>
            </a:r>
            <a:r>
              <a:rPr lang="en-IN" sz="900" b="0" dirty="0">
                <a:effectLst/>
                <a:latin typeface="Consolas" panose="020B0609020204030204" pitchFamily="49" charset="0"/>
                <a:cs typeface="Times New Roman" panose="02020603050405020304" pitchFamily="18" charset="0"/>
              </a:rPr>
              <a:t>(B, H //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W //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window_size</a:t>
            </a:r>
            <a:r>
              <a:rPr lang="en-IN" sz="900" b="0" dirty="0">
                <a:effectLst/>
                <a:latin typeface="Consolas" panose="020B0609020204030204" pitchFamily="49" charset="0"/>
                <a:cs typeface="Times New Roman" panose="02020603050405020304" pitchFamily="18" charset="0"/>
              </a:rPr>
              <a:t>, -1)</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x.permute</a:t>
            </a:r>
            <a:r>
              <a:rPr lang="en-IN" sz="900" b="0" dirty="0">
                <a:effectLst/>
                <a:latin typeface="Consolas" panose="020B0609020204030204" pitchFamily="49" charset="0"/>
                <a:cs typeface="Times New Roman" panose="02020603050405020304" pitchFamily="18" charset="0"/>
              </a:rPr>
              <a:t>(0, 1, 3, 2, 4, 5).contiguous().view(B, H, W, -1)</a:t>
            </a:r>
          </a:p>
          <a:p>
            <a:pPr>
              <a:lnSpc>
                <a:spcPts val="1425"/>
              </a:lnSpc>
            </a:pPr>
            <a:r>
              <a:rPr lang="en-IN" sz="900" b="0" dirty="0">
                <a:effectLst/>
                <a:latin typeface="Consolas" panose="020B0609020204030204" pitchFamily="49" charset="0"/>
                <a:cs typeface="Times New Roman" panose="02020603050405020304" pitchFamily="18" charset="0"/>
              </a:rPr>
              <a:t>    return x</a:t>
            </a:r>
          </a:p>
        </p:txBody>
      </p:sp>
      <p:sp>
        <p:nvSpPr>
          <p:cNvPr id="6" name="TextBox 5">
            <a:extLst>
              <a:ext uri="{FF2B5EF4-FFF2-40B4-BE49-F238E27FC236}">
                <a16:creationId xmlns:a16="http://schemas.microsoft.com/office/drawing/2014/main" id="{A0C67861-46CD-2E32-E4A8-78DCBB21B122}"/>
              </a:ext>
            </a:extLst>
          </p:cNvPr>
          <p:cNvSpPr txBox="1"/>
          <p:nvPr/>
        </p:nvSpPr>
        <p:spPr>
          <a:xfrm>
            <a:off x="6032844" y="2370083"/>
            <a:ext cx="5755822" cy="4719241"/>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cs typeface="Times New Roman" panose="02020603050405020304" pitchFamily="18" charset="0"/>
              </a:rPr>
              <a:t># </a:t>
            </a:r>
            <a:r>
              <a:rPr lang="en-IN" sz="900" b="0" dirty="0" err="1">
                <a:solidFill>
                  <a:srgbClr val="6A9955"/>
                </a:solidFill>
                <a:effectLst/>
                <a:latin typeface="Consolas" panose="020B0609020204030204" pitchFamily="49" charset="0"/>
                <a:cs typeface="Times New Roman" panose="02020603050405020304" pitchFamily="18" charset="0"/>
              </a:rPr>
              <a:t>Downsampling</a:t>
            </a:r>
            <a:r>
              <a:rPr lang="en-IN" sz="900" b="0" dirty="0">
                <a:solidFill>
                  <a:srgbClr val="6A9955"/>
                </a:solidFill>
                <a:effectLst/>
                <a:latin typeface="Consolas" panose="020B0609020204030204" pitchFamily="49" charset="0"/>
                <a:cs typeface="Times New Roman" panose="02020603050405020304" pitchFamily="18" charset="0"/>
              </a:rPr>
              <a:t> Layer (</a:t>
            </a:r>
            <a:r>
              <a:rPr lang="en-IN" sz="900" b="0" dirty="0" err="1">
                <a:solidFill>
                  <a:srgbClr val="6A9955"/>
                </a:solidFill>
                <a:effectLst/>
                <a:latin typeface="Consolas" panose="020B0609020204030204" pitchFamily="49" charset="0"/>
                <a:cs typeface="Times New Roman" panose="02020603050405020304" pitchFamily="18" charset="0"/>
              </a:rPr>
              <a:t>PatchMerging</a:t>
            </a:r>
            <a:r>
              <a:rPr lang="en-IN" sz="900" b="0" dirty="0">
                <a:solidFill>
                  <a:srgbClr val="6A9955"/>
                </a:solidFill>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class </a:t>
            </a:r>
            <a:r>
              <a:rPr lang="en-IN" sz="900" b="0" dirty="0" err="1">
                <a:effectLst/>
                <a:latin typeface="Consolas" panose="020B0609020204030204" pitchFamily="49" charset="0"/>
                <a:cs typeface="Times New Roman" panose="02020603050405020304" pitchFamily="18" charset="0"/>
              </a:rPr>
              <a:t>PatchMerging</a:t>
            </a:r>
            <a:r>
              <a:rPr lang="en-IN" sz="900" b="0" dirty="0">
                <a:effectLst/>
                <a:latin typeface="Consolas" panose="020B0609020204030204" pitchFamily="49" charset="0"/>
                <a:cs typeface="Times New Roman" panose="02020603050405020304" pitchFamily="18" charset="0"/>
              </a:rPr>
              <a:t>(</a:t>
            </a:r>
            <a:r>
              <a:rPr lang="en-IN" sz="900" b="0" dirty="0" err="1">
                <a:effectLst/>
                <a:latin typeface="Consolas" panose="020B0609020204030204" pitchFamily="49" charset="0"/>
                <a:cs typeface="Times New Roman" panose="02020603050405020304" pitchFamily="18" charset="0"/>
              </a:rPr>
              <a:t>nn.Module</a:t>
            </a:r>
            <a:r>
              <a:rPr lang="en-IN" sz="900" b="0" dirty="0">
                <a:effectLst/>
                <a:latin typeface="Consolas" panose="020B0609020204030204" pitchFamily="49" charset="0"/>
                <a:cs typeface="Times New Roman" panose="02020603050405020304" pitchFamily="18" charset="0"/>
              </a:rPr>
              <a:t>):</a:t>
            </a:r>
          </a:p>
          <a:p>
            <a:pPr>
              <a:lnSpc>
                <a:spcPts val="1425"/>
              </a:lnSpc>
              <a:buNone/>
            </a:pPr>
            <a:r>
              <a:rPr lang="en-IN" sz="900" b="0" dirty="0">
                <a:effectLst/>
                <a:latin typeface="Consolas" panose="020B0609020204030204" pitchFamily="49" charset="0"/>
                <a:cs typeface="Times New Roman" panose="02020603050405020304" pitchFamily="18" charset="0"/>
              </a:rPr>
              <a:t>    def __</a:t>
            </a:r>
            <a:r>
              <a:rPr lang="en-IN" sz="900" b="0" dirty="0" err="1">
                <a:effectLst/>
                <a:latin typeface="Consolas" panose="020B0609020204030204" pitchFamily="49" charset="0"/>
                <a:cs typeface="Times New Roman" panose="02020603050405020304" pitchFamily="18" charset="0"/>
              </a:rPr>
              <a:t>init</a:t>
            </a:r>
            <a:r>
              <a:rPr lang="en-IN" sz="900" b="0" dirty="0">
                <a:effectLst/>
                <a:latin typeface="Consolas" panose="020B0609020204030204" pitchFamily="49" charset="0"/>
                <a:cs typeface="Times New Roman" panose="02020603050405020304" pitchFamily="18" charset="0"/>
              </a:rPr>
              <a:t>__(self, </a:t>
            </a:r>
            <a:r>
              <a:rPr lang="en-IN" sz="900" b="0" dirty="0" err="1">
                <a:effectLst/>
                <a:latin typeface="Consolas" panose="020B0609020204030204" pitchFamily="49" charset="0"/>
                <a:cs typeface="Times New Roman" panose="02020603050405020304" pitchFamily="18" charset="0"/>
              </a:rPr>
              <a:t>input_resolution</a:t>
            </a:r>
            <a:r>
              <a:rPr lang="en-IN" sz="900" b="0" dirty="0">
                <a:effectLst/>
                <a:latin typeface="Consolas" panose="020B0609020204030204" pitchFamily="49" charset="0"/>
                <a:cs typeface="Times New Roman" panose="02020603050405020304" pitchFamily="18" charset="0"/>
              </a:rPr>
              <a:t>, dim):</a:t>
            </a:r>
          </a:p>
          <a:p>
            <a:pPr>
              <a:lnSpc>
                <a:spcPts val="1425"/>
              </a:lnSpc>
              <a:buNone/>
            </a:pPr>
            <a:r>
              <a:rPr lang="en-IN" sz="900" b="0" dirty="0">
                <a:effectLst/>
                <a:latin typeface="Consolas" panose="020B0609020204030204" pitchFamily="49" charset="0"/>
                <a:cs typeface="Times New Roman" panose="02020603050405020304" pitchFamily="18" charset="0"/>
              </a:rPr>
              <a:t>        super().__</a:t>
            </a:r>
            <a:r>
              <a:rPr lang="en-IN" sz="900" b="0" dirty="0" err="1">
                <a:effectLst/>
                <a:latin typeface="Consolas" panose="020B0609020204030204" pitchFamily="49" charset="0"/>
                <a:cs typeface="Times New Roman" panose="02020603050405020304" pitchFamily="18" charset="0"/>
              </a:rPr>
              <a:t>init</a:t>
            </a:r>
            <a:r>
              <a:rPr lang="en-IN" sz="900" b="0" dirty="0">
                <a:effectLst/>
                <a:latin typeface="Consolas" panose="020B0609020204030204" pitchFamily="49" charset="0"/>
                <a:cs typeface="Times New Roman" panose="02020603050405020304" pitchFamily="18" charset="0"/>
              </a:rPr>
              <a:t>__()</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self.input_resolution</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input_resolution</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self.dim</a:t>
            </a:r>
            <a:r>
              <a:rPr lang="en-IN" sz="900" b="0" dirty="0">
                <a:effectLst/>
                <a:latin typeface="Consolas" panose="020B0609020204030204" pitchFamily="49" charset="0"/>
                <a:cs typeface="Times New Roman" panose="02020603050405020304" pitchFamily="18" charset="0"/>
              </a:rPr>
              <a:t> = dim</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self.norm</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nn.LayerNorm</a:t>
            </a:r>
            <a:r>
              <a:rPr lang="en-IN" sz="900" b="0" dirty="0">
                <a:effectLst/>
                <a:latin typeface="Consolas" panose="020B0609020204030204" pitchFamily="49" charset="0"/>
                <a:cs typeface="Times New Roman" panose="02020603050405020304" pitchFamily="18" charset="0"/>
              </a:rPr>
              <a:t>(4 * dim) </a:t>
            </a:r>
            <a:r>
              <a:rPr lang="en-IN" sz="900" b="0" dirty="0">
                <a:solidFill>
                  <a:srgbClr val="6A9955"/>
                </a:solidFill>
                <a:effectLst/>
                <a:latin typeface="Consolas" panose="020B0609020204030204" pitchFamily="49" charset="0"/>
                <a:cs typeface="Times New Roman" panose="02020603050405020304" pitchFamily="18" charset="0"/>
              </a:rPr>
              <a:t> # 4 * dim due to concatenation of 4 patches</a:t>
            </a:r>
          </a:p>
          <a:p>
            <a:pPr>
              <a:lnSpc>
                <a:spcPts val="1425"/>
              </a:lnSpc>
              <a:buNone/>
            </a:pPr>
            <a:r>
              <a:rPr lang="en-IN" sz="900" b="0" dirty="0">
                <a:effectLst/>
                <a:latin typeface="Consolas" panose="020B0609020204030204" pitchFamily="49" charset="0"/>
                <a:cs typeface="Times New Roman" panose="02020603050405020304" pitchFamily="18" charset="0"/>
              </a:rPr>
              <a:t>        </a:t>
            </a:r>
            <a:r>
              <a:rPr lang="en-IN" sz="900" b="0" dirty="0" err="1">
                <a:effectLst/>
                <a:latin typeface="Consolas" panose="020B0609020204030204" pitchFamily="49" charset="0"/>
                <a:cs typeface="Times New Roman" panose="02020603050405020304" pitchFamily="18" charset="0"/>
              </a:rPr>
              <a:t>self.reduction</a:t>
            </a:r>
            <a:r>
              <a:rPr lang="en-IN" sz="900" b="0" dirty="0">
                <a:effectLst/>
                <a:latin typeface="Consolas" panose="020B0609020204030204" pitchFamily="49" charset="0"/>
                <a:cs typeface="Times New Roman" panose="02020603050405020304" pitchFamily="18" charset="0"/>
              </a:rPr>
              <a:t> = </a:t>
            </a:r>
            <a:r>
              <a:rPr lang="en-IN" sz="900" b="0" dirty="0" err="1">
                <a:effectLst/>
                <a:latin typeface="Consolas" panose="020B0609020204030204" pitchFamily="49" charset="0"/>
                <a:cs typeface="Times New Roman" panose="02020603050405020304" pitchFamily="18" charset="0"/>
              </a:rPr>
              <a:t>nn.Linear</a:t>
            </a:r>
            <a:r>
              <a:rPr lang="en-IN" sz="900" b="0" dirty="0">
                <a:effectLst/>
                <a:latin typeface="Consolas" panose="020B0609020204030204" pitchFamily="49" charset="0"/>
                <a:cs typeface="Times New Roman" panose="02020603050405020304" pitchFamily="18" charset="0"/>
              </a:rPr>
              <a:t>(4 * dim, 2 * dim, bias=False)</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def forward(self, x):</a:t>
            </a:r>
          </a:p>
          <a:p>
            <a:pPr>
              <a:lnSpc>
                <a:spcPts val="1425"/>
              </a:lnSpc>
              <a:buNone/>
            </a:pPr>
            <a:r>
              <a:rPr lang="en-IN" sz="900" b="0" dirty="0">
                <a:effectLst/>
                <a:latin typeface="Consolas" panose="020B0609020204030204" pitchFamily="49" charset="0"/>
                <a:cs typeface="Times New Roman" panose="02020603050405020304" pitchFamily="18" charset="0"/>
              </a:rPr>
              <a:t>        H, W = </a:t>
            </a:r>
            <a:r>
              <a:rPr lang="en-IN" sz="900" b="0" dirty="0" err="1">
                <a:effectLst/>
                <a:latin typeface="Consolas" panose="020B0609020204030204" pitchFamily="49" charset="0"/>
                <a:cs typeface="Times New Roman" panose="02020603050405020304" pitchFamily="18" charset="0"/>
              </a:rPr>
              <a:t>self.input_resolution</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B, L, C = </a:t>
            </a:r>
            <a:r>
              <a:rPr lang="en-IN" sz="900" b="0" dirty="0" err="1">
                <a:effectLst/>
                <a:latin typeface="Consolas" panose="020B0609020204030204" pitchFamily="49" charset="0"/>
                <a:cs typeface="Times New Roman" panose="02020603050405020304" pitchFamily="18" charset="0"/>
              </a:rPr>
              <a:t>x.shape</a:t>
            </a:r>
            <a:endParaRPr lang="en-IN" sz="900" b="0" dirty="0">
              <a:effectLst/>
              <a:latin typeface="Consolas" panose="020B0609020204030204" pitchFamily="49" charset="0"/>
              <a:cs typeface="Times New Roman" panose="02020603050405020304" pitchFamily="18" charset="0"/>
            </a:endParaRPr>
          </a:p>
          <a:p>
            <a:pPr>
              <a:lnSpc>
                <a:spcPts val="1425"/>
              </a:lnSpc>
              <a:buNone/>
            </a:pPr>
            <a:r>
              <a:rPr lang="en-IN" sz="900" b="0" dirty="0">
                <a:effectLst/>
                <a:latin typeface="Consolas" panose="020B0609020204030204" pitchFamily="49" charset="0"/>
                <a:cs typeface="Times New Roman" panose="02020603050405020304" pitchFamily="18" charset="0"/>
              </a:rPr>
              <a:t>        assert L == H * W, "Input feature dimensions do not match H*W"</a:t>
            </a:r>
          </a:p>
          <a:p>
            <a:pPr>
              <a:lnSpc>
                <a:spcPts val="1425"/>
              </a:lnSpc>
              <a:buNone/>
            </a:pPr>
            <a:r>
              <a:rPr lang="en-IN" sz="900" b="0" dirty="0">
                <a:effectLst/>
                <a:latin typeface="Consolas" panose="020B0609020204030204" pitchFamily="49" charset="0"/>
                <a:cs typeface="Times New Roman" panose="02020603050405020304" pitchFamily="18" charset="0"/>
              </a:rPr>
              <a:t>        assert H % 2 == 0 and W % 2 == 0, </a:t>
            </a:r>
            <a:r>
              <a:rPr lang="en-IN" sz="900" b="0" dirty="0" err="1">
                <a:effectLst/>
                <a:latin typeface="Consolas" panose="020B0609020204030204" pitchFamily="49" charset="0"/>
                <a:cs typeface="Times New Roman" panose="02020603050405020304" pitchFamily="18" charset="0"/>
              </a:rPr>
              <a:t>f"Input</a:t>
            </a:r>
            <a:r>
              <a:rPr lang="en-IN" sz="900" b="0" dirty="0">
                <a:effectLst/>
                <a:latin typeface="Consolas" panose="020B0609020204030204" pitchFamily="49" charset="0"/>
                <a:cs typeface="Times New Roman" panose="02020603050405020304" pitchFamily="18" charset="0"/>
              </a:rPr>
              <a:t> resolution ({H}, {W}) must be divisible by 2"</a:t>
            </a:r>
          </a:p>
          <a:p>
            <a:pPr>
              <a:lnSpc>
                <a:spcPts val="1425"/>
              </a:lnSpc>
              <a:buNone/>
            </a:pP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a:t>
            </a:r>
            <a:r>
              <a:rPr lang="en-IN" sz="900" b="0" dirty="0">
                <a:solidFill>
                  <a:srgbClr val="6A9955"/>
                </a:solidFill>
                <a:effectLst/>
                <a:latin typeface="Consolas" panose="020B0609020204030204" pitchFamily="49" charset="0"/>
                <a:cs typeface="Times New Roman" panose="02020603050405020304" pitchFamily="18" charset="0"/>
              </a:rPr>
              <a:t>    # Reshape to (B, H/2, 2, W/2, 2, C) and permute to concatenate 4 </a:t>
            </a:r>
            <a:r>
              <a:rPr lang="en-IN" sz="900" b="0" dirty="0" err="1">
                <a:solidFill>
                  <a:srgbClr val="6A9955"/>
                </a:solidFill>
                <a:effectLst/>
                <a:latin typeface="Consolas" panose="020B0609020204030204" pitchFamily="49" charset="0"/>
                <a:cs typeface="Times New Roman" panose="02020603050405020304" pitchFamily="18" charset="0"/>
              </a:rPr>
              <a:t>neighboring</a:t>
            </a:r>
            <a:r>
              <a:rPr lang="en-IN" sz="900" b="0" dirty="0">
                <a:solidFill>
                  <a:srgbClr val="6A9955"/>
                </a:solidFill>
                <a:effectLst/>
                <a:latin typeface="Consolas" panose="020B0609020204030204" pitchFamily="49" charset="0"/>
                <a:cs typeface="Times New Roman" panose="02020603050405020304" pitchFamily="18" charset="0"/>
              </a:rPr>
              <a:t> patches</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x.view</a:t>
            </a:r>
            <a:r>
              <a:rPr lang="en-IN" sz="900" b="0" dirty="0">
                <a:effectLst/>
                <a:latin typeface="Consolas" panose="020B0609020204030204" pitchFamily="49" charset="0"/>
                <a:cs typeface="Times New Roman" panose="02020603050405020304" pitchFamily="18" charset="0"/>
              </a:rPr>
              <a:t>(B, H // 2, 2, W // 2, 2, C)</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x.permute</a:t>
            </a:r>
            <a:r>
              <a:rPr lang="en-IN" sz="900" b="0" dirty="0">
                <a:effectLst/>
                <a:latin typeface="Consolas" panose="020B0609020204030204" pitchFamily="49" charset="0"/>
                <a:cs typeface="Times New Roman" panose="02020603050405020304" pitchFamily="18" charset="0"/>
              </a:rPr>
              <a:t>(0, 1, 3, 2, 4, 5).contiguous() </a:t>
            </a:r>
            <a:r>
              <a:rPr lang="en-IN" sz="900" b="0" dirty="0">
                <a:solidFill>
                  <a:srgbClr val="6A9955"/>
                </a:solidFill>
                <a:effectLst/>
                <a:latin typeface="Consolas" panose="020B0609020204030204" pitchFamily="49" charset="0"/>
                <a:cs typeface="Times New Roman" panose="02020603050405020304" pitchFamily="18" charset="0"/>
              </a:rPr>
              <a:t> # (B, H/2, W/2, 2, 2, C)</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x.view</a:t>
            </a:r>
            <a:r>
              <a:rPr lang="en-IN" sz="900" b="0" dirty="0">
                <a:effectLst/>
                <a:latin typeface="Consolas" panose="020B0609020204030204" pitchFamily="49" charset="0"/>
                <a:cs typeface="Times New Roman" panose="02020603050405020304" pitchFamily="18" charset="0"/>
              </a:rPr>
              <a:t>(B, (H // 2) * (W // 2), 4 * C)  </a:t>
            </a:r>
            <a:r>
              <a:rPr lang="en-IN" sz="900" b="0" dirty="0">
                <a:solidFill>
                  <a:srgbClr val="6A9955"/>
                </a:solidFill>
                <a:effectLst/>
                <a:latin typeface="Consolas" panose="020B0609020204030204" pitchFamily="49" charset="0"/>
                <a:cs typeface="Times New Roman" panose="02020603050405020304" pitchFamily="18" charset="0"/>
              </a:rPr>
              <a:t># Concatenate to 4*C</a:t>
            </a: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 Apply </a:t>
            </a:r>
            <a:r>
              <a:rPr lang="en-IN" sz="900" b="0" dirty="0" err="1">
                <a:effectLst/>
                <a:latin typeface="Consolas" panose="020B0609020204030204" pitchFamily="49" charset="0"/>
                <a:cs typeface="Times New Roman" panose="02020603050405020304" pitchFamily="18" charset="0"/>
              </a:rPr>
              <a:t>LayerNorm</a:t>
            </a:r>
            <a:r>
              <a:rPr lang="en-IN" sz="900" b="0" dirty="0">
                <a:effectLst/>
                <a:latin typeface="Consolas" panose="020B0609020204030204" pitchFamily="49" charset="0"/>
                <a:cs typeface="Times New Roman" panose="02020603050405020304" pitchFamily="18" charset="0"/>
              </a:rPr>
              <a:t> and Linear reduction</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self.norm</a:t>
            </a:r>
            <a:r>
              <a:rPr lang="en-IN" sz="900" b="0" dirty="0">
                <a:effectLst/>
                <a:latin typeface="Consolas" panose="020B0609020204030204" pitchFamily="49" charset="0"/>
                <a:cs typeface="Times New Roman" panose="02020603050405020304" pitchFamily="18" charset="0"/>
              </a:rPr>
              <a:t>(x)</a:t>
            </a:r>
          </a:p>
          <a:p>
            <a:pPr>
              <a:lnSpc>
                <a:spcPts val="1425"/>
              </a:lnSpc>
              <a:buNone/>
            </a:pPr>
            <a:r>
              <a:rPr lang="en-IN" sz="900" b="0" dirty="0">
                <a:effectLst/>
                <a:latin typeface="Consolas" panose="020B0609020204030204" pitchFamily="49" charset="0"/>
                <a:cs typeface="Times New Roman" panose="02020603050405020304" pitchFamily="18" charset="0"/>
              </a:rPr>
              <a:t>        x = </a:t>
            </a:r>
            <a:r>
              <a:rPr lang="en-IN" sz="900" b="0" dirty="0" err="1">
                <a:effectLst/>
                <a:latin typeface="Consolas" panose="020B0609020204030204" pitchFamily="49" charset="0"/>
                <a:cs typeface="Times New Roman" panose="02020603050405020304" pitchFamily="18" charset="0"/>
              </a:rPr>
              <a:t>self.reduction</a:t>
            </a:r>
            <a:r>
              <a:rPr lang="en-IN" sz="900" b="0" dirty="0">
                <a:effectLst/>
                <a:latin typeface="Consolas" panose="020B0609020204030204" pitchFamily="49" charset="0"/>
                <a:cs typeface="Times New Roman" panose="02020603050405020304" pitchFamily="18" charset="0"/>
              </a:rPr>
              <a:t>(x) </a:t>
            </a:r>
            <a:r>
              <a:rPr lang="en-IN" sz="900" b="0" dirty="0">
                <a:solidFill>
                  <a:srgbClr val="6A9955"/>
                </a:solidFill>
                <a:effectLst/>
                <a:latin typeface="Consolas" panose="020B0609020204030204" pitchFamily="49" charset="0"/>
                <a:cs typeface="Times New Roman" panose="02020603050405020304" pitchFamily="18" charset="0"/>
              </a:rPr>
              <a:t> # (B, (H/2)*(W/2), 2*C)</a:t>
            </a:r>
            <a:br>
              <a:rPr lang="en-IN" sz="900" b="0" dirty="0">
                <a:effectLst/>
                <a:latin typeface="Consolas" panose="020B0609020204030204" pitchFamily="49" charset="0"/>
                <a:cs typeface="Times New Roman" panose="02020603050405020304" pitchFamily="18" charset="0"/>
              </a:rPr>
            </a:br>
            <a:r>
              <a:rPr lang="en-IN" sz="900" b="0" dirty="0">
                <a:effectLst/>
                <a:latin typeface="Consolas" panose="020B0609020204030204" pitchFamily="49" charset="0"/>
                <a:cs typeface="Times New Roman" panose="02020603050405020304" pitchFamily="18" charset="0"/>
              </a:rPr>
              <a:t>        return x</a:t>
            </a:r>
          </a:p>
          <a:p>
            <a:endParaRPr lang="en-IN"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1821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56806A-7EED-3B0F-2BB9-EA13C576B8CC}"/>
              </a:ext>
            </a:extLst>
          </p:cNvPr>
          <p:cNvSpPr txBox="1"/>
          <p:nvPr/>
        </p:nvSpPr>
        <p:spPr>
          <a:xfrm>
            <a:off x="0" y="137249"/>
            <a:ext cx="6668814" cy="6720751"/>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rPr>
              <a:t># Swin Transformer Block</a:t>
            </a: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SwinBlock</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dim, </a:t>
            </a:r>
            <a:r>
              <a:rPr lang="en-IN" sz="900" b="0" dirty="0" err="1">
                <a:effectLst/>
                <a:latin typeface="Consolas" panose="020B0609020204030204" pitchFamily="49" charset="0"/>
              </a:rPr>
              <a:t>input_resolution</a:t>
            </a: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 </a:t>
            </a:r>
            <a:r>
              <a:rPr lang="en-IN" sz="900" b="0" dirty="0" err="1">
                <a:effectLst/>
                <a:latin typeface="Consolas" panose="020B0609020204030204" pitchFamily="49" charset="0"/>
              </a:rPr>
              <a:t>window_size</a:t>
            </a:r>
            <a:r>
              <a:rPr lang="en-IN" sz="900" b="0" dirty="0">
                <a:effectLst/>
                <a:latin typeface="Consolas" panose="020B0609020204030204" pitchFamily="49" charset="0"/>
              </a:rPr>
              <a:t>=7, </a:t>
            </a:r>
            <a:r>
              <a:rPr lang="en-IN" sz="900" b="0" dirty="0" err="1">
                <a:effectLst/>
                <a:latin typeface="Consolas" panose="020B0609020204030204" pitchFamily="49" charset="0"/>
              </a:rPr>
              <a:t>shift_size</a:t>
            </a:r>
            <a:r>
              <a:rPr lang="en-IN" sz="900" b="0" dirty="0">
                <a:effectLst/>
                <a:latin typeface="Consolas" panose="020B0609020204030204" pitchFamily="49" charset="0"/>
              </a:rPr>
              <a:t>=0, </a:t>
            </a:r>
            <a:r>
              <a:rPr lang="en-IN" sz="900" b="0" dirty="0" err="1">
                <a:effectLst/>
                <a:latin typeface="Consolas" panose="020B0609020204030204" pitchFamily="49" charset="0"/>
              </a:rPr>
              <a:t>mlp_ratio</a:t>
            </a:r>
            <a:r>
              <a:rPr lang="en-IN" sz="900" b="0" dirty="0">
                <a:effectLst/>
                <a:latin typeface="Consolas" panose="020B0609020204030204" pitchFamily="49" charset="0"/>
              </a:rPr>
              <a:t>=4.0):</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self.dim</a:t>
            </a:r>
            <a:r>
              <a:rPr lang="en-IN" sz="900" b="0" dirty="0">
                <a:effectLst/>
                <a:latin typeface="Consolas" panose="020B0609020204030204" pitchFamily="49" charset="0"/>
              </a:rPr>
              <a:t> = dim</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self.input_resolution</a:t>
            </a:r>
            <a:r>
              <a:rPr lang="en-IN" sz="900" b="0" dirty="0">
                <a:effectLst/>
                <a:latin typeface="Consolas" panose="020B0609020204030204" pitchFamily="49" charset="0"/>
              </a:rPr>
              <a:t> = </a:t>
            </a:r>
            <a:r>
              <a:rPr lang="en-IN" sz="900" b="0" dirty="0" err="1">
                <a:effectLst/>
                <a:latin typeface="Consolas" panose="020B0609020204030204" pitchFamily="49" charset="0"/>
              </a:rPr>
              <a:t>input_resolution</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self.num_heads</a:t>
            </a:r>
            <a:r>
              <a:rPr lang="en-IN" sz="900" b="0" dirty="0">
                <a:effectLst/>
                <a:latin typeface="Consolas" panose="020B0609020204030204" pitchFamily="49" charset="0"/>
              </a:rPr>
              <a:t> = </a:t>
            </a:r>
            <a:r>
              <a:rPr lang="en-IN" sz="900" b="0" dirty="0" err="1">
                <a:effectLst/>
                <a:latin typeface="Consolas" panose="020B0609020204030204" pitchFamily="49" charset="0"/>
              </a:rPr>
              <a:t>num_heads</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 </a:t>
            </a:r>
            <a:r>
              <a:rPr lang="en-IN" sz="900" b="0" dirty="0" err="1">
                <a:effectLst/>
                <a:latin typeface="Consolas" panose="020B0609020204030204" pitchFamily="49" charset="0"/>
              </a:rPr>
              <a:t>window_size</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 </a:t>
            </a:r>
            <a:r>
              <a:rPr lang="en-IN" sz="900" b="0" dirty="0" err="1">
                <a:effectLst/>
                <a:latin typeface="Consolas" panose="020B0609020204030204" pitchFamily="49" charset="0"/>
              </a:rPr>
              <a:t>shift_size</a:t>
            </a:r>
            <a:endParaRPr lang="en-IN" sz="900" b="0" dirty="0">
              <a:effectLst/>
              <a:latin typeface="Consolas" panose="020B0609020204030204" pitchFamily="49" charset="0"/>
            </a:endParaRP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self.norm1 = </a:t>
            </a:r>
            <a:r>
              <a:rPr lang="en-IN" sz="900" b="0" dirty="0" err="1">
                <a:effectLst/>
                <a:latin typeface="Consolas" panose="020B0609020204030204" pitchFamily="49" charset="0"/>
              </a:rPr>
              <a:t>nn.LayerNorm</a:t>
            </a:r>
            <a:r>
              <a:rPr lang="en-IN" sz="900" b="0" dirty="0">
                <a:effectLst/>
                <a:latin typeface="Consolas" panose="020B0609020204030204" pitchFamily="49" charset="0"/>
              </a:rPr>
              <a:t>(dim)</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self.attn</a:t>
            </a:r>
            <a:r>
              <a:rPr lang="en-IN" sz="900" b="0" dirty="0">
                <a:effectLst/>
                <a:latin typeface="Consolas" panose="020B0609020204030204" pitchFamily="49" charset="0"/>
              </a:rPr>
              <a:t> = </a:t>
            </a:r>
            <a:r>
              <a:rPr lang="en-IN" sz="900" b="0" dirty="0" err="1">
                <a:effectLst/>
                <a:latin typeface="Consolas" panose="020B0609020204030204" pitchFamily="49" charset="0"/>
              </a:rPr>
              <a:t>WindowAttention</a:t>
            </a:r>
            <a:r>
              <a:rPr lang="en-IN" sz="900" b="0" dirty="0">
                <a:effectLst/>
                <a:latin typeface="Consolas" panose="020B0609020204030204" pitchFamily="49" charset="0"/>
              </a:rPr>
              <a:t>(dim, </a:t>
            </a:r>
            <a:r>
              <a:rPr lang="en-IN" sz="900" b="0" dirty="0" err="1">
                <a:effectLst/>
                <a:latin typeface="Consolas" panose="020B0609020204030204" pitchFamily="49" charset="0"/>
              </a:rPr>
              <a:t>window_size</a:t>
            </a: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self.norm2 = </a:t>
            </a:r>
            <a:r>
              <a:rPr lang="en-IN" sz="900" b="0" dirty="0" err="1">
                <a:effectLst/>
                <a:latin typeface="Consolas" panose="020B0609020204030204" pitchFamily="49" charset="0"/>
              </a:rPr>
              <a:t>nn.LayerNorm</a:t>
            </a:r>
            <a:r>
              <a:rPr lang="en-IN" sz="900" b="0" dirty="0">
                <a:effectLst/>
                <a:latin typeface="Consolas" panose="020B0609020204030204" pitchFamily="49" charset="0"/>
              </a:rPr>
              <a:t>(dim)</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self.mlp</a:t>
            </a:r>
            <a:r>
              <a:rPr lang="en-IN" sz="900" b="0" dirty="0">
                <a:effectLst/>
                <a:latin typeface="Consolas" panose="020B0609020204030204" pitchFamily="49" charset="0"/>
              </a:rPr>
              <a:t> = </a:t>
            </a:r>
            <a:r>
              <a:rPr lang="en-IN" sz="900" b="0" dirty="0" err="1">
                <a:effectLst/>
                <a:latin typeface="Consolas" panose="020B0609020204030204" pitchFamily="49" charset="0"/>
              </a:rPr>
              <a:t>nn.Sequential</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nn.Linear</a:t>
            </a:r>
            <a:r>
              <a:rPr lang="en-IN" sz="900" b="0" dirty="0">
                <a:effectLst/>
                <a:latin typeface="Consolas" panose="020B0609020204030204" pitchFamily="49" charset="0"/>
              </a:rPr>
              <a:t>(dim, int(dim * </a:t>
            </a:r>
            <a:r>
              <a:rPr lang="en-IN" sz="900" b="0" dirty="0" err="1">
                <a:effectLst/>
                <a:latin typeface="Consolas" panose="020B0609020204030204" pitchFamily="49" charset="0"/>
              </a:rPr>
              <a:t>mlp_ratio</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nn.GELU</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nn.Linear</a:t>
            </a:r>
            <a:r>
              <a:rPr lang="en-IN" sz="900" b="0" dirty="0">
                <a:effectLst/>
                <a:latin typeface="Consolas" panose="020B0609020204030204" pitchFamily="49" charset="0"/>
              </a:rPr>
              <a:t>(int(dim * </a:t>
            </a:r>
            <a:r>
              <a:rPr lang="en-IN" sz="900" b="0" dirty="0" err="1">
                <a:effectLst/>
                <a:latin typeface="Consolas" panose="020B0609020204030204" pitchFamily="49" charset="0"/>
              </a:rPr>
              <a:t>mlp_ratio</a:t>
            </a:r>
            <a:r>
              <a:rPr lang="en-IN" sz="900" b="0" dirty="0">
                <a:effectLst/>
                <a:latin typeface="Consolas" panose="020B0609020204030204" pitchFamily="49" charset="0"/>
              </a:rPr>
              <a:t>), dim),</a:t>
            </a:r>
          </a:p>
          <a:p>
            <a:pPr>
              <a:lnSpc>
                <a:spcPts val="1425"/>
              </a:lnSpc>
              <a:buNone/>
            </a:pPr>
            <a:r>
              <a:rPr lang="en-IN" sz="900" b="0" dirty="0">
                <a:effectLst/>
                <a:latin typeface="Consolas" panose="020B0609020204030204" pitchFamily="49" charset="0"/>
              </a:rPr>
              <a:t>        )</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a:t>
            </a:r>
          </a:p>
          <a:p>
            <a:pPr>
              <a:lnSpc>
                <a:spcPts val="1425"/>
              </a:lnSpc>
              <a:buNone/>
            </a:pPr>
            <a:r>
              <a:rPr lang="en-IN" sz="900" b="0" dirty="0">
                <a:effectLst/>
                <a:latin typeface="Consolas" panose="020B0609020204030204" pitchFamily="49" charset="0"/>
              </a:rPr>
              <a:t>        H, W = </a:t>
            </a:r>
            <a:r>
              <a:rPr lang="en-IN" sz="900" b="0" dirty="0" err="1">
                <a:effectLst/>
                <a:latin typeface="Consolas" panose="020B0609020204030204" pitchFamily="49" charset="0"/>
              </a:rPr>
              <a:t>self.input_resolution</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B, L, C = </a:t>
            </a:r>
            <a:r>
              <a:rPr lang="en-IN" sz="900" b="0" dirty="0" err="1">
                <a:effectLst/>
                <a:latin typeface="Consolas" panose="020B0609020204030204" pitchFamily="49" charset="0"/>
              </a:rPr>
              <a:t>x.shape</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assert L == H * W, "Input feature dimensions do not match H*W"</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shortcut = x</a:t>
            </a:r>
          </a:p>
          <a:p>
            <a:pPr>
              <a:lnSpc>
                <a:spcPts val="1425"/>
              </a:lnSpc>
              <a:buNone/>
            </a:pPr>
            <a:r>
              <a:rPr lang="en-IN" sz="900" b="0" dirty="0">
                <a:effectLst/>
                <a:latin typeface="Consolas" panose="020B0609020204030204" pitchFamily="49" charset="0"/>
              </a:rPr>
              <a:t>        x = self.norm1(x)</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x.view</a:t>
            </a:r>
            <a:r>
              <a:rPr lang="en-IN" sz="900" b="0" dirty="0">
                <a:effectLst/>
                <a:latin typeface="Consolas" panose="020B0609020204030204" pitchFamily="49" charset="0"/>
              </a:rPr>
              <a:t>(B, H, W, C)</a:t>
            </a:r>
          </a:p>
          <a:p>
            <a:pPr>
              <a:lnSpc>
                <a:spcPts val="1425"/>
              </a:lnSpc>
              <a:buNone/>
            </a:pPr>
            <a:br>
              <a:rPr lang="en-IN" sz="900" b="0" dirty="0">
                <a:effectLst/>
                <a:latin typeface="Consolas" panose="020B0609020204030204" pitchFamily="49" charset="0"/>
              </a:rPr>
            </a:br>
            <a:r>
              <a:rPr lang="en-IN" sz="900" b="0" dirty="0">
                <a:solidFill>
                  <a:srgbClr val="6A9955"/>
                </a:solidFill>
                <a:effectLst/>
                <a:latin typeface="Consolas" panose="020B0609020204030204" pitchFamily="49" charset="0"/>
              </a:rPr>
              <a:t>        # Cyclic shift</a:t>
            </a:r>
          </a:p>
          <a:p>
            <a:pPr>
              <a:lnSpc>
                <a:spcPts val="1425"/>
              </a:lnSpc>
              <a:buNone/>
            </a:pPr>
            <a:r>
              <a:rPr lang="en-IN" sz="900" b="0" dirty="0">
                <a:effectLst/>
                <a:latin typeface="Consolas" panose="020B0609020204030204" pitchFamily="49" charset="0"/>
              </a:rPr>
              <a:t>        if </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&gt; 0:</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shifted_x</a:t>
            </a:r>
            <a:r>
              <a:rPr lang="en-IN" sz="900" b="0" dirty="0">
                <a:effectLst/>
                <a:latin typeface="Consolas" panose="020B0609020204030204" pitchFamily="49" charset="0"/>
              </a:rPr>
              <a:t> = </a:t>
            </a:r>
            <a:r>
              <a:rPr lang="en-IN" sz="900" b="0" dirty="0" err="1">
                <a:effectLst/>
                <a:latin typeface="Consolas" panose="020B0609020204030204" pitchFamily="49" charset="0"/>
              </a:rPr>
              <a:t>torch.roll</a:t>
            </a:r>
            <a:r>
              <a:rPr lang="en-IN" sz="900" b="0" dirty="0">
                <a:effectLst/>
                <a:latin typeface="Consolas" panose="020B0609020204030204" pitchFamily="49" charset="0"/>
              </a:rPr>
              <a:t>(x, shifts=(-</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dims=(1, 2))</a:t>
            </a:r>
          </a:p>
          <a:p>
            <a:pPr>
              <a:lnSpc>
                <a:spcPts val="1425"/>
              </a:lnSpc>
              <a:buNone/>
            </a:pPr>
            <a:r>
              <a:rPr lang="en-IN" sz="900" b="0" dirty="0">
                <a:effectLst/>
                <a:latin typeface="Consolas" panose="020B0609020204030204" pitchFamily="49" charset="0"/>
              </a:rPr>
              <a:t>        else:</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shifted_x</a:t>
            </a:r>
            <a:r>
              <a:rPr lang="en-IN" sz="900" b="0" dirty="0">
                <a:effectLst/>
                <a:latin typeface="Consolas" panose="020B0609020204030204" pitchFamily="49" charset="0"/>
              </a:rPr>
              <a:t> = x</a:t>
            </a:r>
          </a:p>
          <a:p>
            <a:pPr>
              <a:lnSpc>
                <a:spcPts val="1425"/>
              </a:lnSpc>
              <a:buNone/>
            </a:pPr>
            <a:br>
              <a:rPr lang="en-IN" sz="900" b="0" dirty="0">
                <a:effectLst/>
                <a:latin typeface="Consolas" panose="020B0609020204030204" pitchFamily="49" charset="0"/>
              </a:rPr>
            </a:br>
            <a:endParaRPr lang="en-IN" sz="900" dirty="0"/>
          </a:p>
        </p:txBody>
      </p:sp>
      <p:sp>
        <p:nvSpPr>
          <p:cNvPr id="3" name="TextBox 2">
            <a:extLst>
              <a:ext uri="{FF2B5EF4-FFF2-40B4-BE49-F238E27FC236}">
                <a16:creationId xmlns:a16="http://schemas.microsoft.com/office/drawing/2014/main" id="{2AFBA980-29A0-4FA4-0A7C-97542CF07F48}"/>
              </a:ext>
            </a:extLst>
          </p:cNvPr>
          <p:cNvSpPr txBox="1"/>
          <p:nvPr/>
        </p:nvSpPr>
        <p:spPr>
          <a:xfrm>
            <a:off x="6160563" y="929185"/>
            <a:ext cx="6227380" cy="4719241"/>
          </a:xfrm>
          <a:prstGeom prst="rect">
            <a:avLst/>
          </a:prstGeom>
          <a:noFill/>
        </p:spPr>
        <p:txBody>
          <a:bodyPr wrap="square" rtlCol="0">
            <a:spAutoFit/>
          </a:bodyPr>
          <a:lstStyle/>
          <a:p>
            <a:pPr>
              <a:lnSpc>
                <a:spcPts val="1425"/>
              </a:lnSpc>
              <a:buNone/>
            </a:pPr>
            <a:r>
              <a:rPr lang="en-IN" sz="900" b="0" dirty="0">
                <a:solidFill>
                  <a:srgbClr val="6A9955"/>
                </a:solidFill>
                <a:effectLst/>
                <a:latin typeface="Consolas" panose="020B0609020204030204" pitchFamily="49" charset="0"/>
              </a:rPr>
              <a:t>        # Partition windows</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x_windows</a:t>
            </a:r>
            <a:r>
              <a:rPr lang="en-IN" sz="900" b="0" dirty="0">
                <a:effectLst/>
                <a:latin typeface="Consolas" panose="020B0609020204030204" pitchFamily="49" charset="0"/>
              </a:rPr>
              <a:t> = </a:t>
            </a:r>
            <a:r>
              <a:rPr lang="en-IN" sz="900" b="0" dirty="0" err="1">
                <a:effectLst/>
                <a:latin typeface="Consolas" panose="020B0609020204030204" pitchFamily="49" charset="0"/>
              </a:rPr>
              <a:t>window_partition</a:t>
            </a:r>
            <a:r>
              <a:rPr lang="en-IN" sz="900" b="0" dirty="0">
                <a:effectLst/>
                <a:latin typeface="Consolas" panose="020B0609020204030204" pitchFamily="49" charset="0"/>
              </a:rPr>
              <a:t>(</a:t>
            </a:r>
            <a:r>
              <a:rPr lang="en-IN" sz="900" b="0" dirty="0" err="1">
                <a:effectLst/>
                <a:latin typeface="Consolas" panose="020B0609020204030204" pitchFamily="49" charset="0"/>
              </a:rPr>
              <a:t>shifted_x</a:t>
            </a:r>
            <a:r>
              <a:rPr lang="en-IN" sz="900" b="0" dirty="0">
                <a:effectLst/>
                <a:latin typeface="Consolas" panose="020B0609020204030204" pitchFamily="49" charset="0"/>
              </a:rPr>
              <a:t>,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a:t>
            </a:r>
          </a:p>
          <a:p>
            <a:pPr>
              <a:lnSpc>
                <a:spcPts val="1425"/>
              </a:lnSpc>
              <a:buNone/>
            </a:pPr>
            <a:r>
              <a:rPr lang="en-IN" sz="900" dirty="0">
                <a:latin typeface="Consolas" panose="020B0609020204030204" pitchFamily="49" charset="0"/>
              </a:rPr>
              <a:t>       </a:t>
            </a:r>
            <a:r>
              <a:rPr lang="en-IN" sz="900" b="0" dirty="0">
                <a:effectLst/>
                <a:latin typeface="Consolas" panose="020B0609020204030204" pitchFamily="49" charset="0"/>
              </a:rPr>
              <a:t> </a:t>
            </a:r>
            <a:r>
              <a:rPr lang="en-IN" sz="900" b="0" dirty="0">
                <a:solidFill>
                  <a:srgbClr val="6A9955"/>
                </a:solidFill>
                <a:effectLst/>
                <a:latin typeface="Consolas" panose="020B0609020204030204" pitchFamily="49" charset="0"/>
              </a:rPr>
              <a:t># </a:t>
            </a:r>
            <a:r>
              <a:rPr lang="en-IN" sz="900" b="0" dirty="0" err="1">
                <a:solidFill>
                  <a:srgbClr val="6A9955"/>
                </a:solidFill>
                <a:effectLst/>
                <a:latin typeface="Consolas" panose="020B0609020204030204" pitchFamily="49" charset="0"/>
              </a:rPr>
              <a:t>nW</a:t>
            </a:r>
            <a:r>
              <a:rPr lang="en-IN" sz="900" b="0" dirty="0">
                <a:solidFill>
                  <a:srgbClr val="6A9955"/>
                </a:solidFill>
                <a:effectLst/>
                <a:latin typeface="Consolas" panose="020B0609020204030204" pitchFamily="49" charset="0"/>
              </a:rPr>
              <a:t>*B, </a:t>
            </a:r>
            <a:r>
              <a:rPr lang="en-IN" sz="900" b="0" dirty="0" err="1">
                <a:solidFill>
                  <a:srgbClr val="6A9955"/>
                </a:solidFill>
                <a:effectLst/>
                <a:latin typeface="Consolas" panose="020B0609020204030204" pitchFamily="49" charset="0"/>
              </a:rPr>
              <a:t>window_size</a:t>
            </a:r>
            <a:r>
              <a:rPr lang="en-IN" sz="900" b="0" dirty="0">
                <a:solidFill>
                  <a:srgbClr val="6A9955"/>
                </a:solidFill>
                <a:effectLst/>
                <a:latin typeface="Consolas" panose="020B0609020204030204" pitchFamily="49" charset="0"/>
              </a:rPr>
              <a:t>, </a:t>
            </a:r>
            <a:r>
              <a:rPr lang="en-IN" sz="900" b="0" dirty="0" err="1">
                <a:solidFill>
                  <a:srgbClr val="6A9955"/>
                </a:solidFill>
                <a:effectLst/>
                <a:latin typeface="Consolas" panose="020B0609020204030204" pitchFamily="49" charset="0"/>
              </a:rPr>
              <a:t>window_size</a:t>
            </a:r>
            <a:r>
              <a:rPr lang="en-IN" sz="900" b="0" dirty="0">
                <a:solidFill>
                  <a:srgbClr val="6A9955"/>
                </a:solidFill>
                <a:effectLst/>
                <a:latin typeface="Consolas" panose="020B0609020204030204" pitchFamily="49" charset="0"/>
              </a:rPr>
              <a:t>, C</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x_windows</a:t>
            </a:r>
            <a:r>
              <a:rPr lang="en-IN" sz="900" b="0" dirty="0">
                <a:effectLst/>
                <a:latin typeface="Consolas" panose="020B0609020204030204" pitchFamily="49" charset="0"/>
              </a:rPr>
              <a:t> = </a:t>
            </a:r>
            <a:r>
              <a:rPr lang="en-IN" sz="900" b="0" dirty="0" err="1">
                <a:effectLst/>
                <a:latin typeface="Consolas" panose="020B0609020204030204" pitchFamily="49" charset="0"/>
              </a:rPr>
              <a:t>x_windows.view</a:t>
            </a:r>
            <a:r>
              <a:rPr lang="en-IN" sz="900" b="0" dirty="0">
                <a:effectLst/>
                <a:latin typeface="Consolas" panose="020B0609020204030204" pitchFamily="49" charset="0"/>
              </a:rPr>
              <a:t>(-1,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C)</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a:t>
            </a:r>
            <a:r>
              <a:rPr lang="en-IN" sz="900" b="0" dirty="0">
                <a:solidFill>
                  <a:srgbClr val="6A9955"/>
                </a:solidFill>
                <a:effectLst/>
                <a:latin typeface="Consolas" panose="020B0609020204030204" pitchFamily="49" charset="0"/>
              </a:rPr>
              <a:t># W-MSA/SW-MSA</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attn_windows</a:t>
            </a:r>
            <a:r>
              <a:rPr lang="en-IN" sz="900" b="0" dirty="0">
                <a:effectLst/>
                <a:latin typeface="Consolas" panose="020B0609020204030204" pitchFamily="49" charset="0"/>
              </a:rPr>
              <a:t> = </a:t>
            </a:r>
            <a:r>
              <a:rPr lang="en-IN" sz="900" b="0" dirty="0" err="1">
                <a:effectLst/>
                <a:latin typeface="Consolas" panose="020B0609020204030204" pitchFamily="49" charset="0"/>
              </a:rPr>
              <a:t>self.attn</a:t>
            </a:r>
            <a:r>
              <a:rPr lang="en-IN" sz="900" b="0" dirty="0">
                <a:effectLst/>
                <a:latin typeface="Consolas" panose="020B0609020204030204" pitchFamily="49" charset="0"/>
              </a:rPr>
              <a:t>(</a:t>
            </a:r>
            <a:r>
              <a:rPr lang="en-IN" sz="900" b="0" dirty="0" err="1">
                <a:effectLst/>
                <a:latin typeface="Consolas" panose="020B0609020204030204" pitchFamily="49" charset="0"/>
              </a:rPr>
              <a:t>x_windows</a:t>
            </a:r>
            <a:r>
              <a:rPr lang="en-IN" sz="900" b="0" dirty="0">
                <a:effectLst/>
                <a:latin typeface="Consolas" panose="020B0609020204030204" pitchFamily="49" charset="0"/>
              </a:rPr>
              <a:t>)</a:t>
            </a:r>
          </a:p>
          <a:p>
            <a:pPr>
              <a:lnSpc>
                <a:spcPts val="1425"/>
              </a:lnSpc>
              <a:buNone/>
            </a:pPr>
            <a:br>
              <a:rPr lang="en-IN" sz="900" b="0" dirty="0">
                <a:effectLst/>
                <a:latin typeface="Consolas" panose="020B0609020204030204" pitchFamily="49" charset="0"/>
              </a:rPr>
            </a:br>
            <a:r>
              <a:rPr lang="en-IN" sz="900" b="0" dirty="0">
                <a:solidFill>
                  <a:srgbClr val="6A9955"/>
                </a:solidFill>
                <a:effectLst/>
                <a:latin typeface="Consolas" panose="020B0609020204030204" pitchFamily="49" charset="0"/>
              </a:rPr>
              <a:t>        # Merge windows</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attn_windows</a:t>
            </a:r>
            <a:r>
              <a:rPr lang="en-IN" sz="900" b="0" dirty="0">
                <a:effectLst/>
                <a:latin typeface="Consolas" panose="020B0609020204030204" pitchFamily="49" charset="0"/>
              </a:rPr>
              <a:t> = </a:t>
            </a:r>
            <a:r>
              <a:rPr lang="en-IN" sz="900" b="0" dirty="0" err="1">
                <a:effectLst/>
                <a:latin typeface="Consolas" panose="020B0609020204030204" pitchFamily="49" charset="0"/>
              </a:rPr>
              <a:t>attn_windows.view</a:t>
            </a:r>
            <a:r>
              <a:rPr lang="en-IN" sz="900" b="0" dirty="0">
                <a:effectLst/>
                <a:latin typeface="Consolas" panose="020B0609020204030204" pitchFamily="49" charset="0"/>
              </a:rPr>
              <a:t>(-1,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C)</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shifted_x</a:t>
            </a:r>
            <a:r>
              <a:rPr lang="en-IN" sz="900" b="0" dirty="0">
                <a:effectLst/>
                <a:latin typeface="Consolas" panose="020B0609020204030204" pitchFamily="49" charset="0"/>
              </a:rPr>
              <a:t> = </a:t>
            </a:r>
            <a:r>
              <a:rPr lang="en-IN" sz="900" b="0" dirty="0" err="1">
                <a:effectLst/>
                <a:latin typeface="Consolas" panose="020B0609020204030204" pitchFamily="49" charset="0"/>
              </a:rPr>
              <a:t>window_reverse</a:t>
            </a:r>
            <a:r>
              <a:rPr lang="en-IN" sz="900" b="0" dirty="0">
                <a:effectLst/>
                <a:latin typeface="Consolas" panose="020B0609020204030204" pitchFamily="49" charset="0"/>
              </a:rPr>
              <a:t>(</a:t>
            </a:r>
            <a:r>
              <a:rPr lang="en-IN" sz="900" b="0" dirty="0" err="1">
                <a:effectLst/>
                <a:latin typeface="Consolas" panose="020B0609020204030204" pitchFamily="49" charset="0"/>
              </a:rPr>
              <a:t>attn_windows</a:t>
            </a:r>
            <a:r>
              <a:rPr lang="en-IN" sz="900" b="0" dirty="0">
                <a:effectLst/>
                <a:latin typeface="Consolas" panose="020B0609020204030204" pitchFamily="49" charset="0"/>
              </a:rPr>
              <a:t>, </a:t>
            </a:r>
            <a:r>
              <a:rPr lang="en-IN" sz="900" b="0" dirty="0" err="1">
                <a:effectLst/>
                <a:latin typeface="Consolas" panose="020B0609020204030204" pitchFamily="49" charset="0"/>
              </a:rPr>
              <a:t>self.window_size</a:t>
            </a:r>
            <a:r>
              <a:rPr lang="en-IN" sz="900" b="0" dirty="0">
                <a:effectLst/>
                <a:latin typeface="Consolas" panose="020B0609020204030204" pitchFamily="49" charset="0"/>
              </a:rPr>
              <a:t>, H, W)</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a:t>
            </a:r>
            <a:r>
              <a:rPr lang="en-IN" sz="900" b="0" dirty="0">
                <a:solidFill>
                  <a:srgbClr val="6A9955"/>
                </a:solidFill>
                <a:effectLst/>
                <a:latin typeface="Consolas" panose="020B0609020204030204" pitchFamily="49" charset="0"/>
              </a:rPr>
              <a:t># Reverse cyclic shift</a:t>
            </a:r>
          </a:p>
          <a:p>
            <a:pPr>
              <a:lnSpc>
                <a:spcPts val="1425"/>
              </a:lnSpc>
              <a:buNone/>
            </a:pPr>
            <a:r>
              <a:rPr lang="en-IN" sz="900" b="0" dirty="0">
                <a:effectLst/>
                <a:latin typeface="Consolas" panose="020B0609020204030204" pitchFamily="49" charset="0"/>
              </a:rPr>
              <a:t>        if </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&gt; 0:</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torch.roll</a:t>
            </a:r>
            <a:r>
              <a:rPr lang="en-IN" sz="900" b="0" dirty="0">
                <a:effectLst/>
                <a:latin typeface="Consolas" panose="020B0609020204030204" pitchFamily="49" charset="0"/>
              </a:rPr>
              <a:t>(</a:t>
            </a:r>
            <a:r>
              <a:rPr lang="en-IN" sz="900" b="0" dirty="0" err="1">
                <a:effectLst/>
                <a:latin typeface="Consolas" panose="020B0609020204030204" pitchFamily="49" charset="0"/>
              </a:rPr>
              <a:t>shifted_x</a:t>
            </a:r>
            <a:r>
              <a:rPr lang="en-IN" sz="900" b="0" dirty="0">
                <a:effectLst/>
                <a:latin typeface="Consolas" panose="020B0609020204030204" pitchFamily="49" charset="0"/>
              </a:rPr>
              <a:t>, shifts=(</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a:t>
            </a:r>
            <a:r>
              <a:rPr lang="en-IN" sz="900" b="0" dirty="0" err="1">
                <a:effectLst/>
                <a:latin typeface="Consolas" panose="020B0609020204030204" pitchFamily="49" charset="0"/>
              </a:rPr>
              <a:t>self.shift_size</a:t>
            </a:r>
            <a:r>
              <a:rPr lang="en-IN" sz="900" b="0" dirty="0">
                <a:effectLst/>
                <a:latin typeface="Consolas" panose="020B0609020204030204" pitchFamily="49" charset="0"/>
              </a:rPr>
              <a:t>), dims=(1, 2))</a:t>
            </a:r>
          </a:p>
          <a:p>
            <a:pPr>
              <a:lnSpc>
                <a:spcPts val="1425"/>
              </a:lnSpc>
              <a:buNone/>
            </a:pPr>
            <a:r>
              <a:rPr lang="en-IN" sz="900" b="0" dirty="0">
                <a:effectLst/>
                <a:latin typeface="Consolas" panose="020B0609020204030204" pitchFamily="49" charset="0"/>
              </a:rPr>
              <a:t>        else:</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shifted_x</a:t>
            </a:r>
            <a:endParaRPr lang="en-IN" sz="900" b="0" dirty="0">
              <a:effectLst/>
              <a:latin typeface="Consolas" panose="020B0609020204030204" pitchFamily="49" charset="0"/>
            </a:endParaRP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x = </a:t>
            </a:r>
            <a:r>
              <a:rPr lang="en-IN" sz="900" b="0" dirty="0" err="1">
                <a:effectLst/>
                <a:latin typeface="Consolas" panose="020B0609020204030204" pitchFamily="49" charset="0"/>
              </a:rPr>
              <a:t>x.view</a:t>
            </a:r>
            <a:r>
              <a:rPr lang="en-IN" sz="900" b="0" dirty="0">
                <a:effectLst/>
                <a:latin typeface="Consolas" panose="020B0609020204030204" pitchFamily="49" charset="0"/>
              </a:rPr>
              <a:t>(B, H * W, C)</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a:t>
            </a:r>
            <a:r>
              <a:rPr lang="en-IN" sz="900" b="0" dirty="0">
                <a:solidFill>
                  <a:srgbClr val="6A9955"/>
                </a:solidFill>
                <a:effectLst/>
                <a:latin typeface="Consolas" panose="020B0609020204030204" pitchFamily="49" charset="0"/>
              </a:rPr>
              <a:t># FFN</a:t>
            </a:r>
          </a:p>
          <a:p>
            <a:pPr>
              <a:lnSpc>
                <a:spcPts val="1425"/>
              </a:lnSpc>
              <a:buNone/>
            </a:pPr>
            <a:r>
              <a:rPr lang="en-IN" sz="900" b="0" dirty="0">
                <a:effectLst/>
                <a:latin typeface="Consolas" panose="020B0609020204030204" pitchFamily="49" charset="0"/>
              </a:rPr>
              <a:t>        x = shortcut + x</a:t>
            </a:r>
          </a:p>
          <a:p>
            <a:pPr>
              <a:lnSpc>
                <a:spcPts val="1425"/>
              </a:lnSpc>
              <a:buNone/>
            </a:pPr>
            <a:r>
              <a:rPr lang="en-IN" sz="900" b="0" dirty="0">
                <a:effectLst/>
                <a:latin typeface="Consolas" panose="020B0609020204030204" pitchFamily="49" charset="0"/>
              </a:rPr>
              <a:t>        x = x + </a:t>
            </a:r>
            <a:r>
              <a:rPr lang="en-IN" sz="900" b="0" dirty="0" err="1">
                <a:effectLst/>
                <a:latin typeface="Consolas" panose="020B0609020204030204" pitchFamily="49" charset="0"/>
              </a:rPr>
              <a:t>self.mlp</a:t>
            </a:r>
            <a:r>
              <a:rPr lang="en-IN" sz="900" b="0" dirty="0">
                <a:effectLst/>
                <a:latin typeface="Consolas" panose="020B0609020204030204" pitchFamily="49" charset="0"/>
              </a:rPr>
              <a:t>(self.norm2(x))</a:t>
            </a:r>
          </a:p>
          <a:p>
            <a:pPr>
              <a:lnSpc>
                <a:spcPts val="1425"/>
              </a:lnSpc>
            </a:pPr>
            <a:br>
              <a:rPr lang="en-IN" sz="900" b="0" dirty="0">
                <a:effectLst/>
                <a:latin typeface="Consolas" panose="020B0609020204030204" pitchFamily="49" charset="0"/>
              </a:rPr>
            </a:br>
            <a:r>
              <a:rPr lang="en-IN" sz="900" b="0" dirty="0">
                <a:effectLst/>
                <a:latin typeface="Consolas" panose="020B0609020204030204" pitchFamily="49" charset="0"/>
              </a:rPr>
              <a:t>        return x</a:t>
            </a:r>
          </a:p>
          <a:p>
            <a:endParaRPr lang="en-IN" sz="900" dirty="0"/>
          </a:p>
        </p:txBody>
      </p:sp>
    </p:spTree>
    <p:extLst>
      <p:ext uri="{BB962C8B-B14F-4D97-AF65-F5344CB8AC3E}">
        <p14:creationId xmlns:p14="http://schemas.microsoft.com/office/powerpoint/2010/main" val="4245598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728BDC-6031-AF95-4C74-8AA8B8BE9720}"/>
              </a:ext>
            </a:extLst>
          </p:cNvPr>
          <p:cNvSpPr txBox="1"/>
          <p:nvPr/>
        </p:nvSpPr>
        <p:spPr>
          <a:xfrm>
            <a:off x="0" y="-179614"/>
            <a:ext cx="6237514" cy="4206473"/>
          </a:xfrm>
          <a:prstGeom prst="rect">
            <a:avLst/>
          </a:prstGeom>
          <a:noFill/>
        </p:spPr>
        <p:txBody>
          <a:bodyPr wrap="square" rtlCol="0">
            <a:spAutoFit/>
          </a:bodyPr>
          <a:lstStyle/>
          <a:p>
            <a:pPr>
              <a:lnSpc>
                <a:spcPts val="1425"/>
              </a:lnSpc>
              <a:buNone/>
            </a:pPr>
            <a:br>
              <a:rPr lang="en-IN" sz="900" b="0" dirty="0">
                <a:effectLst/>
                <a:latin typeface="Consolas" panose="020B0609020204030204" pitchFamily="49" charset="0"/>
              </a:rPr>
            </a:br>
            <a:r>
              <a:rPr lang="en-IN" sz="900" b="0" dirty="0">
                <a:solidFill>
                  <a:srgbClr val="6A9955"/>
                </a:solidFill>
                <a:effectLst/>
                <a:latin typeface="Consolas" panose="020B0609020204030204" pitchFamily="49" charset="0"/>
              </a:rPr>
              <a:t># Swin Transformer Stage</a:t>
            </a:r>
          </a:p>
          <a:p>
            <a:pPr>
              <a:lnSpc>
                <a:spcPts val="1425"/>
              </a:lnSpc>
              <a:buNone/>
            </a:pPr>
            <a:r>
              <a:rPr lang="en-IN" sz="900" b="0" dirty="0">
                <a:effectLst/>
                <a:latin typeface="Consolas" panose="020B0609020204030204" pitchFamily="49" charset="0"/>
              </a:rPr>
              <a:t>class Stage(</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dim, </a:t>
            </a:r>
            <a:r>
              <a:rPr lang="en-IN" sz="900" b="0" dirty="0" err="1">
                <a:effectLst/>
                <a:latin typeface="Consolas" panose="020B0609020204030204" pitchFamily="49" charset="0"/>
              </a:rPr>
              <a:t>input_resolution</a:t>
            </a:r>
            <a:r>
              <a:rPr lang="en-IN" sz="900" b="0" dirty="0">
                <a:effectLst/>
                <a:latin typeface="Consolas" panose="020B0609020204030204" pitchFamily="49" charset="0"/>
              </a:rPr>
              <a:t>, depth, </a:t>
            </a:r>
            <a:r>
              <a:rPr lang="en-IN" sz="900" b="0" dirty="0" err="1">
                <a:effectLst/>
                <a:latin typeface="Consolas" panose="020B0609020204030204" pitchFamily="49" charset="0"/>
              </a:rPr>
              <a:t>num_heads</a:t>
            </a:r>
            <a:r>
              <a:rPr lang="en-IN" sz="900" b="0" dirty="0">
                <a:effectLst/>
                <a:latin typeface="Consolas" panose="020B0609020204030204" pitchFamily="49" charset="0"/>
              </a:rPr>
              <a:t>, </a:t>
            </a:r>
            <a:r>
              <a:rPr lang="en-IN" sz="900" b="0" dirty="0" err="1">
                <a:effectLst/>
                <a:latin typeface="Consolas" panose="020B0609020204030204" pitchFamily="49" charset="0"/>
              </a:rPr>
              <a:t>window_size</a:t>
            </a:r>
            <a:r>
              <a:rPr lang="en-IN" sz="900" b="0" dirty="0">
                <a:effectLst/>
                <a:latin typeface="Consolas" panose="020B0609020204030204" pitchFamily="49" charset="0"/>
              </a:rPr>
              <a:t>,</a:t>
            </a:r>
          </a:p>
          <a:p>
            <a:pPr>
              <a:lnSpc>
                <a:spcPts val="1425"/>
              </a:lnSpc>
              <a:buNone/>
            </a:pPr>
            <a:r>
              <a:rPr lang="en-IN" sz="900" dirty="0">
                <a:latin typeface="Consolas" panose="020B0609020204030204" pitchFamily="49" charset="0"/>
              </a:rPr>
              <a:t>   </a:t>
            </a:r>
            <a:r>
              <a:rPr lang="en-IN" sz="900" b="0" dirty="0">
                <a:effectLst/>
                <a:latin typeface="Consolas" panose="020B0609020204030204" pitchFamily="49" charset="0"/>
              </a:rPr>
              <a:t> </a:t>
            </a:r>
            <a:r>
              <a:rPr lang="en-IN" sz="900" b="0" dirty="0" err="1">
                <a:effectLst/>
                <a:latin typeface="Consolas" panose="020B0609020204030204" pitchFamily="49" charset="0"/>
              </a:rPr>
              <a:t>downsample</a:t>
            </a:r>
            <a:r>
              <a:rPr lang="en-IN" sz="900" b="0" dirty="0">
                <a:effectLst/>
                <a:latin typeface="Consolas" panose="020B0609020204030204" pitchFamily="49" charset="0"/>
              </a:rPr>
              <a:t>=False):</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self.blocks</a:t>
            </a:r>
            <a:r>
              <a:rPr lang="en-IN" sz="900" b="0" dirty="0">
                <a:effectLst/>
                <a:latin typeface="Consolas" panose="020B0609020204030204" pitchFamily="49" charset="0"/>
              </a:rPr>
              <a:t> = </a:t>
            </a:r>
            <a:r>
              <a:rPr lang="en-IN" sz="900" b="0" dirty="0" err="1">
                <a:effectLst/>
                <a:latin typeface="Consolas" panose="020B0609020204030204" pitchFamily="49" charset="0"/>
              </a:rPr>
              <a:t>nn.ModuleList</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SwinBlock</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dim=dim,</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input_resolution</a:t>
            </a:r>
            <a:r>
              <a:rPr lang="en-IN" sz="900" b="0" dirty="0">
                <a:effectLst/>
                <a:latin typeface="Consolas" panose="020B0609020204030204" pitchFamily="49" charset="0"/>
              </a:rPr>
              <a:t>=</a:t>
            </a:r>
            <a:r>
              <a:rPr lang="en-IN" sz="900" b="0" dirty="0" err="1">
                <a:effectLst/>
                <a:latin typeface="Consolas" panose="020B0609020204030204" pitchFamily="49" charset="0"/>
              </a:rPr>
              <a:t>input_resolution</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num_heads</a:t>
            </a:r>
            <a:r>
              <a:rPr lang="en-IN" sz="900" b="0" dirty="0">
                <a:effectLst/>
                <a:latin typeface="Consolas" panose="020B0609020204030204" pitchFamily="49" charset="0"/>
              </a:rPr>
              <a:t>=</a:t>
            </a:r>
            <a:r>
              <a:rPr lang="en-IN" sz="900" b="0" dirty="0" err="1">
                <a:effectLst/>
                <a:latin typeface="Consolas" panose="020B0609020204030204" pitchFamily="49" charset="0"/>
              </a:rPr>
              <a:t>num_heads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window_size</a:t>
            </a:r>
            <a:r>
              <a:rPr lang="en-IN" sz="900" b="0" dirty="0">
                <a:effectLst/>
                <a:latin typeface="Consolas" panose="020B0609020204030204" pitchFamily="49" charset="0"/>
              </a:rPr>
              <a:t>=</a:t>
            </a:r>
            <a:r>
              <a:rPr lang="en-IN" sz="900" b="0" dirty="0" err="1">
                <a:effectLst/>
                <a:latin typeface="Consolas" panose="020B0609020204030204" pitchFamily="49" charset="0"/>
              </a:rPr>
              <a:t>window_size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shift_size</a:t>
            </a:r>
            <a:r>
              <a:rPr lang="en-IN" sz="900" b="0" dirty="0">
                <a:effectLst/>
                <a:latin typeface="Consolas" panose="020B0609020204030204" pitchFamily="49" charset="0"/>
              </a:rPr>
              <a:t>=0 if (</a:t>
            </a:r>
            <a:r>
              <a:rPr lang="en-IN" sz="900" b="0" dirty="0" err="1">
                <a:effectLst/>
                <a:latin typeface="Consolas" panose="020B0609020204030204" pitchFamily="49" charset="0"/>
              </a:rPr>
              <a:t>i</a:t>
            </a:r>
            <a:r>
              <a:rPr lang="en-IN" sz="900" b="0" dirty="0">
                <a:effectLst/>
                <a:latin typeface="Consolas" panose="020B0609020204030204" pitchFamily="49" charset="0"/>
              </a:rPr>
              <a:t> % 2 == 0) else </a:t>
            </a:r>
            <a:r>
              <a:rPr lang="en-IN" sz="900" b="0" dirty="0" err="1">
                <a:effectLst/>
                <a:latin typeface="Consolas" panose="020B0609020204030204" pitchFamily="49" charset="0"/>
              </a:rPr>
              <a:t>window_size</a:t>
            </a:r>
            <a:r>
              <a:rPr lang="en-IN" sz="900" b="0" dirty="0">
                <a:effectLst/>
                <a:latin typeface="Consolas" panose="020B0609020204030204" pitchFamily="49" charset="0"/>
              </a:rPr>
              <a:t> // 2,</a:t>
            </a:r>
          </a:p>
          <a:p>
            <a:pPr>
              <a:lnSpc>
                <a:spcPts val="1425"/>
              </a:lnSpc>
              <a:buNone/>
            </a:pPr>
            <a:r>
              <a:rPr lang="en-IN" sz="900" b="0" dirty="0">
                <a:effectLst/>
                <a:latin typeface="Consolas" panose="020B0609020204030204" pitchFamily="49" charset="0"/>
              </a:rPr>
              <a:t>            ) for </a:t>
            </a:r>
            <a:r>
              <a:rPr lang="en-IN" sz="900" b="0" dirty="0" err="1">
                <a:effectLst/>
                <a:latin typeface="Consolas" panose="020B0609020204030204" pitchFamily="49" charset="0"/>
              </a:rPr>
              <a:t>i</a:t>
            </a:r>
            <a:r>
              <a:rPr lang="en-IN" sz="900" b="0" dirty="0">
                <a:effectLst/>
                <a:latin typeface="Consolas" panose="020B0609020204030204" pitchFamily="49" charset="0"/>
              </a:rPr>
              <a:t> in range(depth)</a:t>
            </a:r>
          </a:p>
          <a:p>
            <a:pPr>
              <a:lnSpc>
                <a:spcPts val="1425"/>
              </a:lnSpc>
              <a:buNone/>
            </a:pPr>
            <a:r>
              <a:rPr lang="en-IN" sz="900" b="0" dirty="0">
                <a:effectLst/>
                <a:latin typeface="Consolas" panose="020B0609020204030204" pitchFamily="49" charset="0"/>
              </a:rPr>
              <a:t>        ])</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self.downsample</a:t>
            </a:r>
            <a:r>
              <a:rPr lang="en-IN" sz="900" b="0" dirty="0">
                <a:effectLst/>
                <a:latin typeface="Consolas" panose="020B0609020204030204" pitchFamily="49" charset="0"/>
              </a:rPr>
              <a:t> = </a:t>
            </a:r>
            <a:r>
              <a:rPr lang="en-IN" sz="900" b="0" dirty="0" err="1">
                <a:effectLst/>
                <a:latin typeface="Consolas" panose="020B0609020204030204" pitchFamily="49" charset="0"/>
              </a:rPr>
              <a:t>PatchMerging</a:t>
            </a:r>
            <a:r>
              <a:rPr lang="en-IN" sz="900" b="0" dirty="0">
                <a:effectLst/>
                <a:latin typeface="Consolas" panose="020B0609020204030204" pitchFamily="49" charset="0"/>
              </a:rPr>
              <a:t>(</a:t>
            </a:r>
            <a:r>
              <a:rPr lang="en-IN" sz="900" b="0" dirty="0" err="1">
                <a:effectLst/>
                <a:latin typeface="Consolas" panose="020B0609020204030204" pitchFamily="49" charset="0"/>
              </a:rPr>
              <a:t>input_resolution</a:t>
            </a:r>
            <a:r>
              <a:rPr lang="en-IN" sz="900" b="0" dirty="0">
                <a:effectLst/>
                <a:latin typeface="Consolas" panose="020B0609020204030204" pitchFamily="49" charset="0"/>
              </a:rPr>
              <a:t>, dim) if </a:t>
            </a:r>
            <a:r>
              <a:rPr lang="en-IN" sz="900" b="0" dirty="0" err="1">
                <a:effectLst/>
                <a:latin typeface="Consolas" panose="020B0609020204030204" pitchFamily="49" charset="0"/>
              </a:rPr>
              <a:t>downsample</a:t>
            </a:r>
            <a:r>
              <a:rPr lang="en-IN" sz="900" b="0" dirty="0">
                <a:effectLst/>
                <a:latin typeface="Consolas" panose="020B0609020204030204" pitchFamily="49" charset="0"/>
              </a:rPr>
              <a:t> else None</a:t>
            </a:r>
          </a:p>
          <a:p>
            <a:pPr>
              <a:lnSpc>
                <a:spcPts val="1425"/>
              </a:lnSpc>
              <a:buNone/>
            </a:pPr>
            <a:br>
              <a:rPr lang="en-IN" sz="900" b="0" dirty="0">
                <a:effectLst/>
                <a:latin typeface="Consolas" panose="020B0609020204030204" pitchFamily="49" charset="0"/>
              </a:rPr>
            </a:br>
            <a:r>
              <a:rPr lang="en-IN" sz="900" b="0" dirty="0">
                <a:effectLst/>
                <a:latin typeface="Consolas" panose="020B0609020204030204" pitchFamily="49" charset="0"/>
              </a:rPr>
              <a:t>    def forward(self, x):</a:t>
            </a:r>
          </a:p>
          <a:p>
            <a:pPr>
              <a:lnSpc>
                <a:spcPts val="1425"/>
              </a:lnSpc>
              <a:buNone/>
            </a:pPr>
            <a:r>
              <a:rPr lang="en-IN" sz="900" b="0" dirty="0">
                <a:effectLst/>
                <a:latin typeface="Consolas" panose="020B0609020204030204" pitchFamily="49" charset="0"/>
              </a:rPr>
              <a:t>        for </a:t>
            </a:r>
            <a:r>
              <a:rPr lang="en-IN" sz="900" b="0" dirty="0" err="1">
                <a:effectLst/>
                <a:latin typeface="Consolas" panose="020B0609020204030204" pitchFamily="49" charset="0"/>
              </a:rPr>
              <a:t>blk</a:t>
            </a:r>
            <a:r>
              <a:rPr lang="en-IN" sz="900" b="0" dirty="0">
                <a:effectLst/>
                <a:latin typeface="Consolas" panose="020B0609020204030204" pitchFamily="49" charset="0"/>
              </a:rPr>
              <a:t> in </a:t>
            </a:r>
            <a:r>
              <a:rPr lang="en-IN" sz="900" b="0" dirty="0" err="1">
                <a:effectLst/>
                <a:latin typeface="Consolas" panose="020B0609020204030204" pitchFamily="49" charset="0"/>
              </a:rPr>
              <a:t>self.blocks</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blk</a:t>
            </a:r>
            <a:r>
              <a:rPr lang="en-IN" sz="900" b="0" dirty="0">
                <a:effectLst/>
                <a:latin typeface="Consolas" panose="020B0609020204030204" pitchFamily="49" charset="0"/>
              </a:rPr>
              <a:t>(x)</a:t>
            </a:r>
          </a:p>
          <a:p>
            <a:pPr>
              <a:lnSpc>
                <a:spcPts val="1425"/>
              </a:lnSpc>
              <a:buNone/>
            </a:pPr>
            <a:r>
              <a:rPr lang="en-IN" sz="900" b="0" dirty="0">
                <a:effectLst/>
                <a:latin typeface="Consolas" panose="020B0609020204030204" pitchFamily="49" charset="0"/>
              </a:rPr>
              <a:t>        if </a:t>
            </a:r>
            <a:r>
              <a:rPr lang="en-IN" sz="900" b="0" dirty="0" err="1">
                <a:effectLst/>
                <a:latin typeface="Consolas" panose="020B0609020204030204" pitchFamily="49" charset="0"/>
              </a:rPr>
              <a:t>self.downsample</a:t>
            </a:r>
            <a:r>
              <a:rPr lang="en-IN" sz="900" b="0" dirty="0">
                <a:effectLst/>
                <a:latin typeface="Consolas" panose="020B0609020204030204" pitchFamily="49" charset="0"/>
              </a:rPr>
              <a:t> is not None:</a:t>
            </a:r>
          </a:p>
          <a:p>
            <a:pPr>
              <a:lnSpc>
                <a:spcPts val="1425"/>
              </a:lnSpc>
              <a:buNone/>
            </a:pPr>
            <a:r>
              <a:rPr lang="en-IN" sz="900" b="0" dirty="0">
                <a:effectLst/>
                <a:latin typeface="Consolas" panose="020B0609020204030204" pitchFamily="49" charset="0"/>
              </a:rPr>
              <a:t>            x = </a:t>
            </a:r>
            <a:r>
              <a:rPr lang="en-IN" sz="900" b="0" dirty="0" err="1">
                <a:effectLst/>
                <a:latin typeface="Consolas" panose="020B0609020204030204" pitchFamily="49" charset="0"/>
              </a:rPr>
              <a:t>self.downsample</a:t>
            </a:r>
            <a:r>
              <a:rPr lang="en-IN" sz="900" b="0" dirty="0">
                <a:effectLst/>
                <a:latin typeface="Consolas" panose="020B0609020204030204" pitchFamily="49" charset="0"/>
              </a:rPr>
              <a:t>(x)</a:t>
            </a:r>
          </a:p>
          <a:p>
            <a:pPr>
              <a:lnSpc>
                <a:spcPts val="1425"/>
              </a:lnSpc>
            </a:pPr>
            <a:r>
              <a:rPr lang="en-IN" sz="900" b="0" dirty="0">
                <a:effectLst/>
                <a:latin typeface="Consolas" panose="020B0609020204030204" pitchFamily="49" charset="0"/>
              </a:rPr>
              <a:t>        return x</a:t>
            </a:r>
          </a:p>
        </p:txBody>
      </p:sp>
      <p:sp>
        <p:nvSpPr>
          <p:cNvPr id="6" name="TextBox 5">
            <a:extLst>
              <a:ext uri="{FF2B5EF4-FFF2-40B4-BE49-F238E27FC236}">
                <a16:creationId xmlns:a16="http://schemas.microsoft.com/office/drawing/2014/main" id="{4EC79AA0-E0BA-9EFA-ED3B-42A5FD4B0F19}"/>
              </a:ext>
            </a:extLst>
          </p:cNvPr>
          <p:cNvSpPr txBox="1"/>
          <p:nvPr/>
        </p:nvSpPr>
        <p:spPr>
          <a:xfrm>
            <a:off x="142876" y="4010608"/>
            <a:ext cx="6094638" cy="2231573"/>
          </a:xfrm>
          <a:prstGeom prst="rect">
            <a:avLst/>
          </a:prstGeom>
          <a:noFill/>
        </p:spPr>
        <p:txBody>
          <a:bodyPr wrap="square">
            <a:spAutoFit/>
          </a:bodyPr>
          <a:lstStyle/>
          <a:p>
            <a:pPr>
              <a:lnSpc>
                <a:spcPts val="1425"/>
              </a:lnSpc>
              <a:buNone/>
            </a:pPr>
            <a:r>
              <a:rPr lang="en-IN" sz="900" b="0" dirty="0">
                <a:solidFill>
                  <a:srgbClr val="6A9955"/>
                </a:solidFill>
                <a:effectLst/>
                <a:latin typeface="Consolas" panose="020B0609020204030204" pitchFamily="49" charset="0"/>
              </a:rPr>
              <a:t># Swin Transformer</a:t>
            </a:r>
          </a:p>
          <a:p>
            <a:pPr>
              <a:lnSpc>
                <a:spcPts val="1425"/>
              </a:lnSpc>
              <a:buNone/>
            </a:pPr>
            <a:r>
              <a:rPr lang="en-IN" sz="900" b="0" dirty="0">
                <a:effectLst/>
                <a:latin typeface="Consolas" panose="020B0609020204030204" pitchFamily="49" charset="0"/>
              </a:rPr>
              <a:t>class </a:t>
            </a:r>
            <a:r>
              <a:rPr lang="en-IN" sz="900" b="0" dirty="0" err="1">
                <a:effectLst/>
                <a:latin typeface="Consolas" panose="020B0609020204030204" pitchFamily="49" charset="0"/>
              </a:rPr>
              <a:t>SwinTransformer</a:t>
            </a:r>
            <a:r>
              <a:rPr lang="en-IN" sz="900" b="0" dirty="0">
                <a:effectLst/>
                <a:latin typeface="Consolas" panose="020B0609020204030204" pitchFamily="49" charset="0"/>
              </a:rPr>
              <a:t>(</a:t>
            </a:r>
            <a:r>
              <a:rPr lang="en-IN" sz="900" b="0" dirty="0" err="1">
                <a:effectLst/>
                <a:latin typeface="Consolas" panose="020B0609020204030204" pitchFamily="49" charset="0"/>
              </a:rPr>
              <a:t>nn.Module</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def __</a:t>
            </a:r>
            <a:r>
              <a:rPr lang="en-IN" sz="900" b="0" dirty="0" err="1">
                <a:effectLst/>
                <a:latin typeface="Consolas" panose="020B0609020204030204" pitchFamily="49" charset="0"/>
              </a:rPr>
              <a:t>init</a:t>
            </a:r>
            <a:r>
              <a:rPr lang="en-IN" sz="900" b="0" dirty="0">
                <a:effectLst/>
                <a:latin typeface="Consolas" panose="020B0609020204030204" pitchFamily="49" charset="0"/>
              </a:rPr>
              <a:t>__(self, </a:t>
            </a:r>
            <a:r>
              <a:rPr lang="en-IN" sz="900" b="0" dirty="0" err="1">
                <a:effectLst/>
                <a:latin typeface="Consolas" panose="020B0609020204030204" pitchFamily="49" charset="0"/>
              </a:rPr>
              <a:t>img_size</a:t>
            </a:r>
            <a:r>
              <a:rPr lang="en-IN" sz="900" b="0" dirty="0">
                <a:effectLst/>
                <a:latin typeface="Consolas" panose="020B0609020204030204" pitchFamily="49" charset="0"/>
              </a:rPr>
              <a:t>=224, </a:t>
            </a:r>
            <a:r>
              <a:rPr lang="en-IN" sz="900" b="0" dirty="0" err="1">
                <a:effectLst/>
                <a:latin typeface="Consolas" panose="020B0609020204030204" pitchFamily="49" charset="0"/>
              </a:rPr>
              <a:t>patch_size</a:t>
            </a:r>
            <a:r>
              <a:rPr lang="en-IN" sz="900" b="0" dirty="0">
                <a:effectLst/>
                <a:latin typeface="Consolas" panose="020B0609020204030204" pitchFamily="49" charset="0"/>
              </a:rPr>
              <a:t>=4, </a:t>
            </a:r>
            <a:r>
              <a:rPr lang="en-IN" sz="900" b="0" dirty="0" err="1">
                <a:effectLst/>
                <a:latin typeface="Consolas" panose="020B0609020204030204" pitchFamily="49" charset="0"/>
              </a:rPr>
              <a:t>in_channels</a:t>
            </a:r>
            <a:r>
              <a:rPr lang="en-IN" sz="900" b="0" dirty="0">
                <a:effectLst/>
                <a:latin typeface="Consolas" panose="020B0609020204030204" pitchFamily="49" charset="0"/>
              </a:rPr>
              <a:t>=3, </a:t>
            </a:r>
            <a:r>
              <a:rPr lang="en-IN" sz="900" b="0" dirty="0" err="1">
                <a:effectLst/>
                <a:latin typeface="Consolas" panose="020B0609020204030204" pitchFamily="49" charset="0"/>
              </a:rPr>
              <a:t>num_classes</a:t>
            </a:r>
            <a:r>
              <a:rPr lang="en-IN" sz="900" b="0" dirty="0">
                <a:effectLst/>
                <a:latin typeface="Consolas" panose="020B0609020204030204" pitchFamily="49" charset="0"/>
              </a:rPr>
              <a:t>=12, </a:t>
            </a:r>
            <a:r>
              <a:rPr lang="en-IN" sz="900" b="0" dirty="0" err="1">
                <a:effectLst/>
                <a:latin typeface="Consolas" panose="020B0609020204030204" pitchFamily="49" charset="0"/>
              </a:rPr>
              <a:t>embed_dim</a:t>
            </a:r>
            <a:r>
              <a:rPr lang="en-IN" sz="900" b="0" dirty="0">
                <a:effectLst/>
                <a:latin typeface="Consolas" panose="020B0609020204030204" pitchFamily="49" charset="0"/>
              </a:rPr>
              <a:t>=96, depths=[2, 2, 6, 2], </a:t>
            </a:r>
            <a:r>
              <a:rPr lang="en-IN" sz="900" b="0" dirty="0" err="1">
                <a:effectLst/>
                <a:latin typeface="Consolas" panose="020B0609020204030204" pitchFamily="49" charset="0"/>
              </a:rPr>
              <a:t>num_heads</a:t>
            </a:r>
            <a:r>
              <a:rPr lang="en-IN" sz="900" b="0" dirty="0">
                <a:effectLst/>
                <a:latin typeface="Consolas" panose="020B0609020204030204" pitchFamily="49" charset="0"/>
              </a:rPr>
              <a:t>=[3, 6, 12, 24], </a:t>
            </a:r>
            <a:r>
              <a:rPr lang="en-IN" sz="900" b="0" dirty="0" err="1">
                <a:effectLst/>
                <a:latin typeface="Consolas" panose="020B0609020204030204" pitchFamily="49" charset="0"/>
              </a:rPr>
              <a:t>window_size</a:t>
            </a:r>
            <a:r>
              <a:rPr lang="en-IN" sz="900" b="0" dirty="0">
                <a:effectLst/>
                <a:latin typeface="Consolas" panose="020B0609020204030204" pitchFamily="49" charset="0"/>
              </a:rPr>
              <a:t>=7):</a:t>
            </a:r>
          </a:p>
          <a:p>
            <a:pPr>
              <a:lnSpc>
                <a:spcPts val="1425"/>
              </a:lnSpc>
              <a:buNone/>
            </a:pPr>
            <a:r>
              <a:rPr lang="en-IN" sz="900" b="0" dirty="0">
                <a:effectLst/>
                <a:latin typeface="Consolas" panose="020B0609020204030204" pitchFamily="49" charset="0"/>
              </a:rPr>
              <a:t>        super().__</a:t>
            </a:r>
            <a:r>
              <a:rPr lang="en-IN" sz="900" b="0" dirty="0" err="1">
                <a:effectLst/>
                <a:latin typeface="Consolas" panose="020B0609020204030204" pitchFamily="49" charset="0"/>
              </a:rPr>
              <a:t>init</a:t>
            </a:r>
            <a:r>
              <a:rPr lang="en-IN" sz="900" b="0" dirty="0">
                <a:effectLst/>
                <a:latin typeface="Consolas" panose="020B0609020204030204" pitchFamily="49" charset="0"/>
              </a:rPr>
              <a:t>__()</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self.num_classes</a:t>
            </a:r>
            <a:r>
              <a:rPr lang="en-IN" sz="900" b="0" dirty="0">
                <a:effectLst/>
                <a:latin typeface="Consolas" panose="020B0609020204030204" pitchFamily="49" charset="0"/>
              </a:rPr>
              <a:t> = </a:t>
            </a:r>
            <a:r>
              <a:rPr lang="en-IN" sz="900" b="0" dirty="0" err="1">
                <a:effectLst/>
                <a:latin typeface="Consolas" panose="020B0609020204030204" pitchFamily="49" charset="0"/>
              </a:rPr>
              <a:t>num_classes</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self.num_layers</a:t>
            </a:r>
            <a:r>
              <a:rPr lang="en-IN" sz="900" b="0" dirty="0">
                <a:effectLst/>
                <a:latin typeface="Consolas" panose="020B0609020204030204" pitchFamily="49" charset="0"/>
              </a:rPr>
              <a:t> = </a:t>
            </a:r>
            <a:r>
              <a:rPr lang="en-IN" sz="900" b="0" dirty="0" err="1">
                <a:effectLst/>
                <a:latin typeface="Consolas" panose="020B0609020204030204" pitchFamily="49" charset="0"/>
              </a:rPr>
              <a:t>len</a:t>
            </a:r>
            <a:r>
              <a:rPr lang="en-IN" sz="900" b="0" dirty="0">
                <a:effectLst/>
                <a:latin typeface="Consolas" panose="020B0609020204030204" pitchFamily="49" charset="0"/>
              </a:rPr>
              <a:t>(depths)</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self.embed_dim</a:t>
            </a:r>
            <a:r>
              <a:rPr lang="en-IN" sz="900" b="0" dirty="0">
                <a:effectLst/>
                <a:latin typeface="Consolas" panose="020B0609020204030204" pitchFamily="49" charset="0"/>
              </a:rPr>
              <a:t> = </a:t>
            </a:r>
            <a:r>
              <a:rPr lang="en-IN" sz="900" b="0" dirty="0" err="1">
                <a:effectLst/>
                <a:latin typeface="Consolas" panose="020B0609020204030204" pitchFamily="49" charset="0"/>
              </a:rPr>
              <a:t>embed_dim</a:t>
            </a:r>
            <a:endParaRPr lang="en-IN" sz="900" b="0" dirty="0">
              <a:effectLst/>
              <a:latin typeface="Consolas" panose="020B0609020204030204" pitchFamily="49" charset="0"/>
            </a:endParaRP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self.patch_embed</a:t>
            </a:r>
            <a:r>
              <a:rPr lang="en-IN" sz="900" b="0" dirty="0">
                <a:effectLst/>
                <a:latin typeface="Consolas" panose="020B0609020204030204" pitchFamily="49" charset="0"/>
              </a:rPr>
              <a:t> = </a:t>
            </a:r>
            <a:r>
              <a:rPr lang="en-IN" sz="900" b="0" dirty="0" err="1">
                <a:effectLst/>
                <a:latin typeface="Consolas" panose="020B0609020204030204" pitchFamily="49" charset="0"/>
              </a:rPr>
              <a:t>PatchEmbedding</a:t>
            </a:r>
            <a:r>
              <a:rPr lang="en-IN" sz="900" b="0" dirty="0">
                <a:effectLst/>
                <a:latin typeface="Consolas" panose="020B0609020204030204" pitchFamily="49" charset="0"/>
              </a:rPr>
              <a:t>(</a:t>
            </a:r>
            <a:r>
              <a:rPr lang="en-IN" sz="900" b="0" dirty="0" err="1">
                <a:effectLst/>
                <a:latin typeface="Consolas" panose="020B0609020204030204" pitchFamily="49" charset="0"/>
              </a:rPr>
              <a:t>in_channels</a:t>
            </a:r>
            <a:r>
              <a:rPr lang="en-IN" sz="900" b="0" dirty="0">
                <a:effectLst/>
                <a:latin typeface="Consolas" panose="020B0609020204030204" pitchFamily="49" charset="0"/>
              </a:rPr>
              <a:t>, </a:t>
            </a:r>
            <a:r>
              <a:rPr lang="en-IN" sz="900" b="0" dirty="0" err="1">
                <a:effectLst/>
                <a:latin typeface="Consolas" panose="020B0609020204030204" pitchFamily="49" charset="0"/>
              </a:rPr>
              <a:t>patch_size</a:t>
            </a:r>
            <a:r>
              <a:rPr lang="en-IN" sz="900" b="0" dirty="0">
                <a:effectLst/>
                <a:latin typeface="Consolas" panose="020B0609020204030204" pitchFamily="49" charset="0"/>
              </a:rPr>
              <a:t>, </a:t>
            </a:r>
            <a:r>
              <a:rPr lang="en-IN" sz="900" b="0" dirty="0" err="1">
                <a:effectLst/>
                <a:latin typeface="Consolas" panose="020B0609020204030204" pitchFamily="49" charset="0"/>
              </a:rPr>
              <a:t>embed_dim</a:t>
            </a:r>
            <a:r>
              <a:rPr lang="en-IN" sz="900" b="0" dirty="0">
                <a:effectLst/>
                <a:latin typeface="Consolas" panose="020B0609020204030204" pitchFamily="49" charset="0"/>
              </a:rPr>
              <a:t>)</a:t>
            </a:r>
          </a:p>
          <a:p>
            <a:pPr>
              <a:lnSpc>
                <a:spcPts val="1425"/>
              </a:lnSpc>
              <a:buNone/>
            </a:pPr>
            <a:r>
              <a:rPr lang="en-IN" sz="900" b="0" dirty="0">
                <a:effectLst/>
                <a:latin typeface="Consolas" panose="020B0609020204030204" pitchFamily="49" charset="0"/>
              </a:rPr>
              <a:t>        </a:t>
            </a:r>
            <a:r>
              <a:rPr lang="en-IN" sz="900" b="0" dirty="0" err="1">
                <a:effectLst/>
                <a:latin typeface="Consolas" panose="020B0609020204030204" pitchFamily="49" charset="0"/>
              </a:rPr>
              <a:t>self.pos_drop</a:t>
            </a:r>
            <a:r>
              <a:rPr lang="en-IN" sz="900" b="0" dirty="0">
                <a:effectLst/>
                <a:latin typeface="Consolas" panose="020B0609020204030204" pitchFamily="49" charset="0"/>
              </a:rPr>
              <a:t> = </a:t>
            </a:r>
            <a:r>
              <a:rPr lang="en-IN" sz="900" b="0" dirty="0" err="1">
                <a:effectLst/>
                <a:latin typeface="Consolas" panose="020B0609020204030204" pitchFamily="49" charset="0"/>
              </a:rPr>
              <a:t>nn.Dropout</a:t>
            </a:r>
            <a:r>
              <a:rPr lang="en-IN" sz="900" b="0" dirty="0">
                <a:effectLst/>
                <a:latin typeface="Consolas" panose="020B0609020204030204" pitchFamily="49" charset="0"/>
              </a:rPr>
              <a:t>(p=0.0)</a:t>
            </a:r>
          </a:p>
          <a:p>
            <a:pPr>
              <a:lnSpc>
                <a:spcPts val="1425"/>
              </a:lnSpc>
              <a:buNone/>
            </a:pPr>
            <a:br>
              <a:rPr lang="en-IN" sz="900" b="0" dirty="0">
                <a:effectLst/>
                <a:latin typeface="Consolas" panose="020B0609020204030204" pitchFamily="49" charset="0"/>
              </a:rPr>
            </a:br>
            <a:endParaRPr lang="en-IN" sz="900" b="0" dirty="0">
              <a:effectLst/>
              <a:latin typeface="Consolas" panose="020B0609020204030204" pitchFamily="49" charset="0"/>
            </a:endParaRPr>
          </a:p>
        </p:txBody>
      </p:sp>
      <p:sp>
        <p:nvSpPr>
          <p:cNvPr id="10" name="TextBox 9">
            <a:extLst>
              <a:ext uri="{FF2B5EF4-FFF2-40B4-BE49-F238E27FC236}">
                <a16:creationId xmlns:a16="http://schemas.microsoft.com/office/drawing/2014/main" id="{5285037A-A16F-9CB6-50E8-CF84AF31EABF}"/>
              </a:ext>
            </a:extLst>
          </p:cNvPr>
          <p:cNvSpPr txBox="1"/>
          <p:nvPr/>
        </p:nvSpPr>
        <p:spPr>
          <a:xfrm>
            <a:off x="5110844" y="117959"/>
            <a:ext cx="7280500" cy="6181372"/>
          </a:xfrm>
          <a:prstGeom prst="rect">
            <a:avLst/>
          </a:prstGeom>
          <a:noFill/>
        </p:spPr>
        <p:txBody>
          <a:bodyPr wrap="square">
            <a:spAutoFit/>
          </a:bodyPr>
          <a:lstStyle/>
          <a:p>
            <a:pPr>
              <a:lnSpc>
                <a:spcPts val="1425"/>
              </a:lnSpc>
              <a:buNone/>
            </a:pPr>
            <a:r>
              <a:rPr lang="en-IN" sz="900" b="0" dirty="0">
                <a:solidFill>
                  <a:srgbClr val="6A9955"/>
                </a:solidFill>
                <a:effectLst/>
                <a:latin typeface="Consolas" panose="020B0609020204030204" pitchFamily="49" charset="0"/>
              </a:rPr>
              <a:t> # Swin Transformer stages</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self.layers</a:t>
            </a:r>
            <a:r>
              <a:rPr lang="en-IN" sz="900" b="0" dirty="0">
                <a:solidFill>
                  <a:schemeClr val="tx1">
                    <a:lumMod val="95000"/>
                    <a:lumOff val="5000"/>
                  </a:schemeClr>
                </a:solidFill>
                <a:effectLst/>
                <a:latin typeface="Consolas" panose="020B0609020204030204" pitchFamily="49" charset="0"/>
              </a:rPr>
              <a:t> = </a:t>
            </a:r>
            <a:r>
              <a:rPr lang="en-IN" sz="900" b="0" dirty="0" err="1">
                <a:solidFill>
                  <a:schemeClr val="tx1">
                    <a:lumMod val="95000"/>
                    <a:lumOff val="5000"/>
                  </a:schemeClr>
                </a:solidFill>
                <a:effectLst/>
                <a:latin typeface="Consolas" panose="020B0609020204030204" pitchFamily="49" charset="0"/>
              </a:rPr>
              <a:t>nn.ModuleList</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patches_resolution</a:t>
            </a:r>
            <a:r>
              <a:rPr lang="en-IN" sz="900" b="0" dirty="0">
                <a:solidFill>
                  <a:schemeClr val="tx1">
                    <a:lumMod val="95000"/>
                    <a:lumOff val="5000"/>
                  </a:schemeClr>
                </a:solidFill>
                <a:effectLst/>
                <a:latin typeface="Consolas" panose="020B0609020204030204" pitchFamily="49" charset="0"/>
              </a:rPr>
              <a:t> = </a:t>
            </a:r>
            <a:r>
              <a:rPr lang="en-IN" sz="900" b="0" dirty="0" err="1">
                <a:solidFill>
                  <a:schemeClr val="tx1">
                    <a:lumMod val="95000"/>
                    <a:lumOff val="5000"/>
                  </a:schemeClr>
                </a:solidFill>
                <a:effectLst/>
                <a:latin typeface="Consolas" panose="020B0609020204030204" pitchFamily="49" charset="0"/>
              </a:rPr>
              <a:t>img_size</a:t>
            </a:r>
            <a:r>
              <a:rPr lang="en-IN" sz="900" b="0" dirty="0">
                <a:solidFill>
                  <a:schemeClr val="tx1">
                    <a:lumMod val="95000"/>
                    <a:lumOff val="5000"/>
                  </a:schemeClr>
                </a:solidFill>
                <a:effectLst/>
                <a:latin typeface="Consolas" panose="020B0609020204030204" pitchFamily="49" charset="0"/>
              </a:rPr>
              <a:t> // </a:t>
            </a:r>
            <a:r>
              <a:rPr lang="en-IN" sz="900" b="0" dirty="0" err="1">
                <a:solidFill>
                  <a:schemeClr val="tx1">
                    <a:lumMod val="95000"/>
                    <a:lumOff val="5000"/>
                  </a:schemeClr>
                </a:solidFill>
                <a:effectLst/>
                <a:latin typeface="Consolas" panose="020B0609020204030204" pitchFamily="49" charset="0"/>
              </a:rPr>
              <a:t>patch_size</a:t>
            </a:r>
            <a:endParaRPr lang="en-IN" sz="900" b="0" dirty="0">
              <a:solidFill>
                <a:schemeClr val="tx1">
                  <a:lumMod val="95000"/>
                  <a:lumOff val="5000"/>
                </a:schemeClr>
              </a:solidFill>
              <a:effectLst/>
              <a:latin typeface="Consolas" panose="020B0609020204030204" pitchFamily="49" charset="0"/>
            </a:endParaRPr>
          </a:p>
          <a:p>
            <a:pPr>
              <a:lnSpc>
                <a:spcPts val="1425"/>
              </a:lnSpc>
              <a:buNone/>
            </a:pPr>
            <a:r>
              <a:rPr lang="en-IN" sz="900" b="0" dirty="0">
                <a:solidFill>
                  <a:schemeClr val="tx1">
                    <a:lumMod val="95000"/>
                    <a:lumOff val="5000"/>
                  </a:schemeClr>
                </a:solidFill>
                <a:effectLst/>
                <a:latin typeface="Consolas" panose="020B0609020204030204" pitchFamily="49" charset="0"/>
              </a:rPr>
              <a:t>        for </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 in range(</a:t>
            </a:r>
            <a:r>
              <a:rPr lang="en-IN" sz="900" b="0" dirty="0" err="1">
                <a:solidFill>
                  <a:schemeClr val="tx1">
                    <a:lumMod val="95000"/>
                    <a:lumOff val="5000"/>
                  </a:schemeClr>
                </a:solidFill>
                <a:effectLst/>
                <a:latin typeface="Consolas" panose="020B0609020204030204" pitchFamily="49" charset="0"/>
              </a:rPr>
              <a:t>self.num_layers</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stage = Stage(</a:t>
            </a:r>
          </a:p>
          <a:p>
            <a:pPr>
              <a:lnSpc>
                <a:spcPts val="1425"/>
              </a:lnSpc>
              <a:buNone/>
            </a:pPr>
            <a:r>
              <a:rPr lang="en-IN" sz="900" b="0" dirty="0">
                <a:solidFill>
                  <a:schemeClr val="tx1">
                    <a:lumMod val="95000"/>
                    <a:lumOff val="5000"/>
                  </a:schemeClr>
                </a:solidFill>
                <a:effectLst/>
                <a:latin typeface="Consolas" panose="020B0609020204030204" pitchFamily="49" charset="0"/>
              </a:rPr>
              <a:t>                dim=</a:t>
            </a:r>
            <a:r>
              <a:rPr lang="en-IN" sz="900" b="0" dirty="0" err="1">
                <a:solidFill>
                  <a:schemeClr val="tx1">
                    <a:lumMod val="95000"/>
                    <a:lumOff val="5000"/>
                  </a:schemeClr>
                </a:solidFill>
                <a:effectLst/>
                <a:latin typeface="Consolas" panose="020B0609020204030204" pitchFamily="49" charset="0"/>
              </a:rPr>
              <a:t>embed_dim</a:t>
            </a:r>
            <a:r>
              <a:rPr lang="en-IN" sz="900" b="0" dirty="0">
                <a:solidFill>
                  <a:schemeClr val="tx1">
                    <a:lumMod val="95000"/>
                    <a:lumOff val="5000"/>
                  </a:schemeClr>
                </a:solidFill>
                <a:effectLst/>
                <a:latin typeface="Consolas" panose="020B0609020204030204" pitchFamily="49" charset="0"/>
              </a:rPr>
              <a:t> * (2 ** </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input_resolution</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patches_resolution</a:t>
            </a:r>
            <a:r>
              <a:rPr lang="en-IN" sz="900" b="0" dirty="0">
                <a:solidFill>
                  <a:schemeClr val="tx1">
                    <a:lumMod val="95000"/>
                    <a:lumOff val="5000"/>
                  </a:schemeClr>
                </a:solidFill>
                <a:effectLst/>
                <a:latin typeface="Consolas" panose="020B0609020204030204" pitchFamily="49" charset="0"/>
              </a:rPr>
              <a:t> // (2 ** </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patches_resolution</a:t>
            </a:r>
            <a:r>
              <a:rPr lang="en-IN" sz="900" b="0" dirty="0">
                <a:solidFill>
                  <a:schemeClr val="tx1">
                    <a:lumMod val="95000"/>
                    <a:lumOff val="5000"/>
                  </a:schemeClr>
                </a:solidFill>
                <a:effectLst/>
                <a:latin typeface="Consolas" panose="020B0609020204030204" pitchFamily="49" charset="0"/>
              </a:rPr>
              <a:t> // (2 ** </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depth=depths[</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num_heads</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num_heads</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window_size</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window_size</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downsample</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i_layer</a:t>
            </a:r>
            <a:r>
              <a:rPr lang="en-IN" sz="900" b="0" dirty="0">
                <a:solidFill>
                  <a:schemeClr val="tx1">
                    <a:lumMod val="95000"/>
                    <a:lumOff val="5000"/>
                  </a:schemeClr>
                </a:solidFill>
                <a:effectLst/>
                <a:latin typeface="Consolas" panose="020B0609020204030204" pitchFamily="49" charset="0"/>
              </a:rPr>
              <a:t> &lt; </a:t>
            </a:r>
            <a:r>
              <a:rPr lang="en-IN" sz="900" b="0" dirty="0" err="1">
                <a:solidFill>
                  <a:schemeClr val="tx1">
                    <a:lumMod val="95000"/>
                    <a:lumOff val="5000"/>
                  </a:schemeClr>
                </a:solidFill>
                <a:effectLst/>
                <a:latin typeface="Consolas" panose="020B0609020204030204" pitchFamily="49" charset="0"/>
              </a:rPr>
              <a:t>self.num_layers</a:t>
            </a:r>
            <a:r>
              <a:rPr lang="en-IN" sz="900" b="0" dirty="0">
                <a:solidFill>
                  <a:schemeClr val="tx1">
                    <a:lumMod val="95000"/>
                    <a:lumOff val="5000"/>
                  </a:schemeClr>
                </a:solidFill>
                <a:effectLst/>
                <a:latin typeface="Consolas" panose="020B0609020204030204" pitchFamily="49" charset="0"/>
              </a:rPr>
              <a:t> - 1)  </a:t>
            </a:r>
          </a:p>
          <a:p>
            <a:pPr>
              <a:lnSpc>
                <a:spcPts val="1425"/>
              </a:lnSpc>
              <a:buNone/>
            </a:pPr>
            <a:r>
              <a:rPr lang="en-IN" sz="900" dirty="0">
                <a:solidFill>
                  <a:srgbClr val="6A9955"/>
                </a:solidFill>
                <a:latin typeface="Consolas" panose="020B0609020204030204" pitchFamily="49" charset="0"/>
              </a:rPr>
              <a:t>                 </a:t>
            </a:r>
            <a:r>
              <a:rPr lang="en-IN" sz="900" b="0" dirty="0">
                <a:solidFill>
                  <a:srgbClr val="6A9955"/>
                </a:solidFill>
                <a:effectLst/>
                <a:latin typeface="Consolas" panose="020B0609020204030204" pitchFamily="49" charset="0"/>
              </a:rPr>
              <a:t># </a:t>
            </a:r>
            <a:r>
              <a:rPr lang="en-IN" sz="900" b="0" dirty="0" err="1">
                <a:solidFill>
                  <a:srgbClr val="6A9955"/>
                </a:solidFill>
                <a:effectLst/>
                <a:latin typeface="Consolas" panose="020B0609020204030204" pitchFamily="49" charset="0"/>
              </a:rPr>
              <a:t>Downsample</a:t>
            </a:r>
            <a:r>
              <a:rPr lang="en-IN" sz="900" b="0" dirty="0">
                <a:solidFill>
                  <a:srgbClr val="6A9955"/>
                </a:solidFill>
                <a:effectLst/>
                <a:latin typeface="Consolas" panose="020B0609020204030204" pitchFamily="49" charset="0"/>
              </a:rPr>
              <a:t> except for the last stage</a:t>
            </a:r>
          </a:p>
          <a:p>
            <a:pPr>
              <a:lnSpc>
                <a:spcPts val="1425"/>
              </a:lnSpc>
              <a:buNone/>
            </a:pPr>
            <a:r>
              <a:rPr lang="en-IN" sz="900" b="0" dirty="0">
                <a:solidFill>
                  <a:schemeClr val="tx1">
                    <a:lumMod val="95000"/>
                    <a:lumOff val="5000"/>
                  </a:schemeClr>
                </a:solidFill>
                <a:effectLst/>
                <a:latin typeface="Consolas" panose="020B0609020204030204" pitchFamily="49" charset="0"/>
              </a:rPr>
              <a:t>            )</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self.layers.append</a:t>
            </a:r>
            <a:r>
              <a:rPr lang="en-IN" sz="900" b="0" dirty="0">
                <a:solidFill>
                  <a:schemeClr val="tx1">
                    <a:lumMod val="95000"/>
                    <a:lumOff val="5000"/>
                  </a:schemeClr>
                </a:solidFill>
                <a:effectLst/>
                <a:latin typeface="Consolas" panose="020B0609020204030204" pitchFamily="49" charset="0"/>
              </a:rPr>
              <a:t>(stage)</a:t>
            </a:r>
          </a:p>
          <a:p>
            <a:pPr>
              <a:lnSpc>
                <a:spcPts val="1425"/>
              </a:lnSpc>
              <a:buNone/>
            </a:pPr>
            <a:br>
              <a:rPr lang="en-IN" sz="900" b="0" dirty="0">
                <a:solidFill>
                  <a:schemeClr val="tx1">
                    <a:lumMod val="95000"/>
                    <a:lumOff val="5000"/>
                  </a:schemeClr>
                </a:solidFill>
                <a:effectLst/>
                <a:latin typeface="Consolas" panose="020B0609020204030204" pitchFamily="49" charset="0"/>
              </a:rPr>
            </a:b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self.norm</a:t>
            </a:r>
            <a:r>
              <a:rPr lang="en-IN" sz="900" b="0" dirty="0">
                <a:solidFill>
                  <a:schemeClr val="tx1">
                    <a:lumMod val="95000"/>
                    <a:lumOff val="5000"/>
                  </a:schemeClr>
                </a:solidFill>
                <a:effectLst/>
                <a:latin typeface="Consolas" panose="020B0609020204030204" pitchFamily="49" charset="0"/>
              </a:rPr>
              <a:t> = </a:t>
            </a:r>
            <a:r>
              <a:rPr lang="en-IN" sz="900" b="0" dirty="0" err="1">
                <a:solidFill>
                  <a:schemeClr val="tx1">
                    <a:lumMod val="95000"/>
                    <a:lumOff val="5000"/>
                  </a:schemeClr>
                </a:solidFill>
                <a:effectLst/>
                <a:latin typeface="Consolas" panose="020B0609020204030204" pitchFamily="49" charset="0"/>
              </a:rPr>
              <a:t>nn.LayerNorm</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embed_dim</a:t>
            </a:r>
            <a:r>
              <a:rPr lang="en-IN" sz="900" b="0" dirty="0">
                <a:solidFill>
                  <a:schemeClr val="tx1">
                    <a:lumMod val="95000"/>
                    <a:lumOff val="5000"/>
                  </a:schemeClr>
                </a:solidFill>
                <a:effectLst/>
                <a:latin typeface="Consolas" panose="020B0609020204030204" pitchFamily="49" charset="0"/>
              </a:rPr>
              <a:t> * (2 ** (</a:t>
            </a:r>
            <a:r>
              <a:rPr lang="en-IN" sz="900" b="0" dirty="0" err="1">
                <a:solidFill>
                  <a:schemeClr val="tx1">
                    <a:lumMod val="95000"/>
                    <a:lumOff val="5000"/>
                  </a:schemeClr>
                </a:solidFill>
                <a:effectLst/>
                <a:latin typeface="Consolas" panose="020B0609020204030204" pitchFamily="49" charset="0"/>
              </a:rPr>
              <a:t>self.num_layers</a:t>
            </a:r>
            <a:r>
              <a:rPr lang="en-IN" sz="900" b="0" dirty="0">
                <a:solidFill>
                  <a:schemeClr val="tx1">
                    <a:lumMod val="95000"/>
                    <a:lumOff val="5000"/>
                  </a:schemeClr>
                </a:solidFill>
                <a:effectLst/>
                <a:latin typeface="Consolas" panose="020B0609020204030204" pitchFamily="49" charset="0"/>
              </a:rPr>
              <a:t> - 1)))</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self.avgpool</a:t>
            </a:r>
            <a:r>
              <a:rPr lang="en-IN" sz="900" b="0" dirty="0">
                <a:solidFill>
                  <a:schemeClr val="tx1">
                    <a:lumMod val="95000"/>
                    <a:lumOff val="5000"/>
                  </a:schemeClr>
                </a:solidFill>
                <a:effectLst/>
                <a:latin typeface="Consolas" panose="020B0609020204030204" pitchFamily="49" charset="0"/>
              </a:rPr>
              <a:t> = nn.AdaptiveAvgPool1d(1)</a:t>
            </a:r>
          </a:p>
          <a:p>
            <a:pPr>
              <a:lnSpc>
                <a:spcPts val="1425"/>
              </a:lnSpc>
              <a:buNone/>
            </a:pPr>
            <a:r>
              <a:rPr lang="en-IN" sz="900" b="0" dirty="0">
                <a:solidFill>
                  <a:schemeClr val="tx1">
                    <a:lumMod val="95000"/>
                    <a:lumOff val="5000"/>
                  </a:schemeClr>
                </a:solidFill>
                <a:effectLst/>
                <a:latin typeface="Consolas" panose="020B0609020204030204" pitchFamily="49" charset="0"/>
              </a:rPr>
              <a:t>        </a:t>
            </a:r>
            <a:r>
              <a:rPr lang="en-IN" sz="900" b="0" dirty="0" err="1">
                <a:solidFill>
                  <a:schemeClr val="tx1">
                    <a:lumMod val="95000"/>
                    <a:lumOff val="5000"/>
                  </a:schemeClr>
                </a:solidFill>
                <a:effectLst/>
                <a:latin typeface="Consolas" panose="020B0609020204030204" pitchFamily="49" charset="0"/>
              </a:rPr>
              <a:t>self.head</a:t>
            </a:r>
            <a:r>
              <a:rPr lang="en-IN" sz="900" b="0" dirty="0">
                <a:solidFill>
                  <a:schemeClr val="tx1">
                    <a:lumMod val="95000"/>
                    <a:lumOff val="5000"/>
                  </a:schemeClr>
                </a:solidFill>
                <a:effectLst/>
                <a:latin typeface="Consolas" panose="020B0609020204030204" pitchFamily="49" charset="0"/>
              </a:rPr>
              <a:t> = </a:t>
            </a:r>
            <a:r>
              <a:rPr lang="en-IN" sz="900" b="0" dirty="0" err="1">
                <a:solidFill>
                  <a:schemeClr val="tx1">
                    <a:lumMod val="95000"/>
                    <a:lumOff val="5000"/>
                  </a:schemeClr>
                </a:solidFill>
                <a:effectLst/>
                <a:latin typeface="Consolas" panose="020B0609020204030204" pitchFamily="49" charset="0"/>
              </a:rPr>
              <a:t>nn.Linear</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embed_dim</a:t>
            </a:r>
            <a:r>
              <a:rPr lang="en-IN" sz="900" b="0" dirty="0">
                <a:solidFill>
                  <a:schemeClr val="tx1">
                    <a:lumMod val="95000"/>
                    <a:lumOff val="5000"/>
                  </a:schemeClr>
                </a:solidFill>
                <a:effectLst/>
                <a:latin typeface="Consolas" panose="020B0609020204030204" pitchFamily="49" charset="0"/>
              </a:rPr>
              <a:t> * (2 ** (</a:t>
            </a:r>
            <a:r>
              <a:rPr lang="en-IN" sz="900" b="0" dirty="0" err="1">
                <a:solidFill>
                  <a:schemeClr val="tx1">
                    <a:lumMod val="95000"/>
                    <a:lumOff val="5000"/>
                  </a:schemeClr>
                </a:solidFill>
                <a:effectLst/>
                <a:latin typeface="Consolas" panose="020B0609020204030204" pitchFamily="49" charset="0"/>
              </a:rPr>
              <a:t>self.num_layers</a:t>
            </a:r>
            <a:r>
              <a:rPr lang="en-IN" sz="900" b="0" dirty="0">
                <a:solidFill>
                  <a:schemeClr val="tx1">
                    <a:lumMod val="95000"/>
                    <a:lumOff val="5000"/>
                  </a:schemeClr>
                </a:solidFill>
                <a:effectLst/>
                <a:latin typeface="Consolas" panose="020B0609020204030204" pitchFamily="49" charset="0"/>
              </a:rPr>
              <a:t> - 1)), </a:t>
            </a:r>
            <a:r>
              <a:rPr lang="en-IN" sz="900" b="0" dirty="0" err="1">
                <a:solidFill>
                  <a:schemeClr val="tx1">
                    <a:lumMod val="95000"/>
                    <a:lumOff val="5000"/>
                  </a:schemeClr>
                </a:solidFill>
                <a:effectLst/>
                <a:latin typeface="Consolas" panose="020B0609020204030204" pitchFamily="49" charset="0"/>
              </a:rPr>
              <a:t>num_classes</a:t>
            </a:r>
            <a:r>
              <a:rPr lang="en-IN" sz="900" b="0" dirty="0">
                <a:solidFill>
                  <a:schemeClr val="tx1">
                    <a:lumMod val="95000"/>
                    <a:lumOff val="5000"/>
                  </a:schemeClr>
                </a:solidFill>
                <a:effectLst/>
                <a:latin typeface="Consolas" panose="020B0609020204030204" pitchFamily="49" charset="0"/>
              </a:rPr>
              <a:t>)</a:t>
            </a:r>
          </a:p>
          <a:p>
            <a:pPr>
              <a:lnSpc>
                <a:spcPts val="1425"/>
              </a:lnSpc>
              <a:buNone/>
            </a:pPr>
            <a:br>
              <a:rPr lang="en-IN" sz="900" b="0" dirty="0">
                <a:solidFill>
                  <a:schemeClr val="tx1">
                    <a:lumMod val="95000"/>
                    <a:lumOff val="5000"/>
                  </a:schemeClr>
                </a:solidFill>
                <a:effectLst/>
                <a:latin typeface="Consolas" panose="020B0609020204030204" pitchFamily="49" charset="0"/>
              </a:rPr>
            </a:br>
            <a:r>
              <a:rPr lang="en-IN" sz="900" b="0" dirty="0">
                <a:solidFill>
                  <a:schemeClr val="tx1">
                    <a:lumMod val="95000"/>
                    <a:lumOff val="5000"/>
                  </a:schemeClr>
                </a:solidFill>
                <a:effectLst/>
                <a:latin typeface="Consolas" panose="020B0609020204030204" pitchFamily="49" charset="0"/>
              </a:rPr>
              <a:t>    def forward(self, x):</a:t>
            </a:r>
          </a:p>
          <a:p>
            <a:pPr>
              <a:lnSpc>
                <a:spcPts val="1425"/>
              </a:lnSpc>
              <a:buNone/>
            </a:pPr>
            <a:r>
              <a:rPr lang="en-IN" sz="900" b="0" dirty="0">
                <a:solidFill>
                  <a:schemeClr val="tx1">
                    <a:lumMod val="95000"/>
                    <a:lumOff val="5000"/>
                  </a:schemeClr>
                </a:solidFill>
                <a:effectLst/>
                <a:latin typeface="Consolas" panose="020B0609020204030204" pitchFamily="49" charset="0"/>
              </a:rPr>
              <a:t>        x = </a:t>
            </a:r>
            <a:r>
              <a:rPr lang="en-IN" sz="900" b="0" dirty="0" err="1">
                <a:solidFill>
                  <a:schemeClr val="tx1">
                    <a:lumMod val="95000"/>
                    <a:lumOff val="5000"/>
                  </a:schemeClr>
                </a:solidFill>
                <a:effectLst/>
                <a:latin typeface="Consolas" panose="020B0609020204030204" pitchFamily="49" charset="0"/>
              </a:rPr>
              <a:t>self.patch_embed</a:t>
            </a:r>
            <a:r>
              <a:rPr lang="en-IN" sz="900" b="0" dirty="0">
                <a:solidFill>
                  <a:schemeClr val="tx1">
                    <a:lumMod val="95000"/>
                    <a:lumOff val="5000"/>
                  </a:schemeClr>
                </a:solidFill>
                <a:effectLst/>
                <a:latin typeface="Consolas" panose="020B0609020204030204" pitchFamily="49" charset="0"/>
              </a:rPr>
              <a:t>(x)</a:t>
            </a:r>
          </a:p>
          <a:p>
            <a:pPr>
              <a:lnSpc>
                <a:spcPts val="1425"/>
              </a:lnSpc>
              <a:buNone/>
            </a:pPr>
            <a:r>
              <a:rPr lang="en-IN" sz="900" b="0" dirty="0">
                <a:solidFill>
                  <a:schemeClr val="tx1">
                    <a:lumMod val="95000"/>
                    <a:lumOff val="5000"/>
                  </a:schemeClr>
                </a:solidFill>
                <a:effectLst/>
                <a:latin typeface="Consolas" panose="020B0609020204030204" pitchFamily="49" charset="0"/>
              </a:rPr>
              <a:t>        x = </a:t>
            </a:r>
            <a:r>
              <a:rPr lang="en-IN" sz="900" b="0" dirty="0" err="1">
                <a:solidFill>
                  <a:schemeClr val="tx1">
                    <a:lumMod val="95000"/>
                    <a:lumOff val="5000"/>
                  </a:schemeClr>
                </a:solidFill>
                <a:effectLst/>
                <a:latin typeface="Consolas" panose="020B0609020204030204" pitchFamily="49" charset="0"/>
              </a:rPr>
              <a:t>self.pos_drop</a:t>
            </a:r>
            <a:r>
              <a:rPr lang="en-IN" sz="900" b="0" dirty="0">
                <a:solidFill>
                  <a:schemeClr val="tx1">
                    <a:lumMod val="95000"/>
                    <a:lumOff val="5000"/>
                  </a:schemeClr>
                </a:solidFill>
                <a:effectLst/>
                <a:latin typeface="Consolas" panose="020B0609020204030204" pitchFamily="49" charset="0"/>
              </a:rPr>
              <a:t>(x)</a:t>
            </a:r>
          </a:p>
          <a:p>
            <a:pPr>
              <a:lnSpc>
                <a:spcPts val="1425"/>
              </a:lnSpc>
              <a:buNone/>
            </a:pPr>
            <a:br>
              <a:rPr lang="en-IN" sz="900" b="0" dirty="0">
                <a:solidFill>
                  <a:schemeClr val="tx1">
                    <a:lumMod val="95000"/>
                    <a:lumOff val="5000"/>
                  </a:schemeClr>
                </a:solidFill>
                <a:effectLst/>
                <a:latin typeface="Consolas" panose="020B0609020204030204" pitchFamily="49" charset="0"/>
              </a:rPr>
            </a:br>
            <a:r>
              <a:rPr lang="en-IN" sz="900" b="0" dirty="0">
                <a:solidFill>
                  <a:schemeClr val="tx1">
                    <a:lumMod val="95000"/>
                    <a:lumOff val="5000"/>
                  </a:schemeClr>
                </a:solidFill>
                <a:effectLst/>
                <a:latin typeface="Consolas" panose="020B0609020204030204" pitchFamily="49" charset="0"/>
              </a:rPr>
              <a:t>        for layer in </a:t>
            </a:r>
            <a:r>
              <a:rPr lang="en-IN" sz="900" b="0" dirty="0" err="1">
                <a:solidFill>
                  <a:schemeClr val="tx1">
                    <a:lumMod val="95000"/>
                    <a:lumOff val="5000"/>
                  </a:schemeClr>
                </a:solidFill>
                <a:effectLst/>
                <a:latin typeface="Consolas" panose="020B0609020204030204" pitchFamily="49" charset="0"/>
              </a:rPr>
              <a:t>self.layers</a:t>
            </a:r>
            <a:r>
              <a:rPr lang="en-IN" sz="900" b="0" dirty="0">
                <a:solidFill>
                  <a:schemeClr val="tx1">
                    <a:lumMod val="95000"/>
                    <a:lumOff val="5000"/>
                  </a:schemeClr>
                </a:solidFill>
                <a:effectLst/>
                <a:latin typeface="Consolas" panose="020B0609020204030204" pitchFamily="49" charset="0"/>
              </a:rPr>
              <a:t>:</a:t>
            </a:r>
          </a:p>
          <a:p>
            <a:pPr>
              <a:lnSpc>
                <a:spcPts val="1425"/>
              </a:lnSpc>
              <a:buNone/>
            </a:pPr>
            <a:r>
              <a:rPr lang="en-IN" sz="900" b="0" dirty="0">
                <a:solidFill>
                  <a:schemeClr val="tx1">
                    <a:lumMod val="95000"/>
                    <a:lumOff val="5000"/>
                  </a:schemeClr>
                </a:solidFill>
                <a:effectLst/>
                <a:latin typeface="Consolas" panose="020B0609020204030204" pitchFamily="49" charset="0"/>
              </a:rPr>
              <a:t>            x = layer(x)</a:t>
            </a:r>
          </a:p>
          <a:p>
            <a:pPr>
              <a:lnSpc>
                <a:spcPts val="1425"/>
              </a:lnSpc>
              <a:buNone/>
            </a:pPr>
            <a:br>
              <a:rPr lang="en-IN" sz="900" b="0" dirty="0">
                <a:solidFill>
                  <a:schemeClr val="tx1">
                    <a:lumMod val="95000"/>
                    <a:lumOff val="5000"/>
                  </a:schemeClr>
                </a:solidFill>
                <a:effectLst/>
                <a:latin typeface="Consolas" panose="020B0609020204030204" pitchFamily="49" charset="0"/>
              </a:rPr>
            </a:br>
            <a:r>
              <a:rPr lang="en-IN" sz="900" b="0" dirty="0">
                <a:solidFill>
                  <a:schemeClr val="tx1">
                    <a:lumMod val="95000"/>
                    <a:lumOff val="5000"/>
                  </a:schemeClr>
                </a:solidFill>
                <a:effectLst/>
                <a:latin typeface="Consolas" panose="020B0609020204030204" pitchFamily="49" charset="0"/>
              </a:rPr>
              <a:t>        x = </a:t>
            </a:r>
            <a:r>
              <a:rPr lang="en-IN" sz="900" b="0" dirty="0" err="1">
                <a:solidFill>
                  <a:schemeClr val="tx1">
                    <a:lumMod val="95000"/>
                    <a:lumOff val="5000"/>
                  </a:schemeClr>
                </a:solidFill>
                <a:effectLst/>
                <a:latin typeface="Consolas" panose="020B0609020204030204" pitchFamily="49" charset="0"/>
              </a:rPr>
              <a:t>self.norm</a:t>
            </a:r>
            <a:r>
              <a:rPr lang="en-IN" sz="900" b="0" dirty="0">
                <a:solidFill>
                  <a:schemeClr val="tx1">
                    <a:lumMod val="95000"/>
                    <a:lumOff val="5000"/>
                  </a:schemeClr>
                </a:solidFill>
                <a:effectLst/>
                <a:latin typeface="Consolas" panose="020B0609020204030204" pitchFamily="49" charset="0"/>
              </a:rPr>
              <a:t>(x)</a:t>
            </a:r>
          </a:p>
          <a:p>
            <a:pPr>
              <a:lnSpc>
                <a:spcPts val="1425"/>
              </a:lnSpc>
              <a:buNone/>
            </a:pPr>
            <a:r>
              <a:rPr lang="en-IN" sz="900" b="0" dirty="0">
                <a:solidFill>
                  <a:schemeClr val="tx1">
                    <a:lumMod val="95000"/>
                    <a:lumOff val="5000"/>
                  </a:schemeClr>
                </a:solidFill>
                <a:effectLst/>
                <a:latin typeface="Consolas" panose="020B0609020204030204" pitchFamily="49" charset="0"/>
              </a:rPr>
              <a:t>        x = </a:t>
            </a:r>
            <a:r>
              <a:rPr lang="en-IN" sz="900" b="0" dirty="0" err="1">
                <a:solidFill>
                  <a:schemeClr val="tx1">
                    <a:lumMod val="95000"/>
                    <a:lumOff val="5000"/>
                  </a:schemeClr>
                </a:solidFill>
                <a:effectLst/>
                <a:latin typeface="Consolas" panose="020B0609020204030204" pitchFamily="49" charset="0"/>
              </a:rPr>
              <a:t>self.avgpool</a:t>
            </a:r>
            <a:r>
              <a:rPr lang="en-IN" sz="900" b="0" dirty="0">
                <a:solidFill>
                  <a:schemeClr val="tx1">
                    <a:lumMod val="95000"/>
                    <a:lumOff val="5000"/>
                  </a:schemeClr>
                </a:solidFill>
                <a:effectLst/>
                <a:latin typeface="Consolas" panose="020B0609020204030204" pitchFamily="49" charset="0"/>
              </a:rPr>
              <a:t>(</a:t>
            </a:r>
            <a:r>
              <a:rPr lang="en-IN" sz="900" b="0" dirty="0" err="1">
                <a:solidFill>
                  <a:schemeClr val="tx1">
                    <a:lumMod val="95000"/>
                    <a:lumOff val="5000"/>
                  </a:schemeClr>
                </a:solidFill>
                <a:effectLst/>
                <a:latin typeface="Consolas" panose="020B0609020204030204" pitchFamily="49" charset="0"/>
              </a:rPr>
              <a:t>x.transpose</a:t>
            </a:r>
            <a:r>
              <a:rPr lang="en-IN" sz="900" b="0" dirty="0">
                <a:solidFill>
                  <a:schemeClr val="tx1">
                    <a:lumMod val="95000"/>
                    <a:lumOff val="5000"/>
                  </a:schemeClr>
                </a:solidFill>
                <a:effectLst/>
                <a:latin typeface="Consolas" panose="020B0609020204030204" pitchFamily="49" charset="0"/>
              </a:rPr>
              <a:t>(1, 2))  </a:t>
            </a:r>
            <a:r>
              <a:rPr lang="en-IN" sz="900" b="0" dirty="0">
                <a:solidFill>
                  <a:srgbClr val="6A9955"/>
                </a:solidFill>
                <a:effectLst/>
                <a:latin typeface="Consolas" panose="020B0609020204030204" pitchFamily="49" charset="0"/>
              </a:rPr>
              <a:t># B, C, 1</a:t>
            </a:r>
          </a:p>
          <a:p>
            <a:pPr>
              <a:lnSpc>
                <a:spcPts val="1425"/>
              </a:lnSpc>
              <a:buNone/>
            </a:pPr>
            <a:r>
              <a:rPr lang="en-IN" sz="900" b="0" dirty="0">
                <a:solidFill>
                  <a:schemeClr val="tx1">
                    <a:lumMod val="95000"/>
                    <a:lumOff val="5000"/>
                  </a:schemeClr>
                </a:solidFill>
                <a:effectLst/>
                <a:latin typeface="Consolas" panose="020B0609020204030204" pitchFamily="49" charset="0"/>
              </a:rPr>
              <a:t>        x = </a:t>
            </a:r>
            <a:r>
              <a:rPr lang="en-IN" sz="900" b="0" dirty="0" err="1">
                <a:solidFill>
                  <a:schemeClr val="tx1">
                    <a:lumMod val="95000"/>
                    <a:lumOff val="5000"/>
                  </a:schemeClr>
                </a:solidFill>
                <a:effectLst/>
                <a:latin typeface="Consolas" panose="020B0609020204030204" pitchFamily="49" charset="0"/>
              </a:rPr>
              <a:t>torch.flatten</a:t>
            </a:r>
            <a:r>
              <a:rPr lang="en-IN" sz="900" b="0" dirty="0">
                <a:solidFill>
                  <a:schemeClr val="tx1">
                    <a:lumMod val="95000"/>
                    <a:lumOff val="5000"/>
                  </a:schemeClr>
                </a:solidFill>
                <a:effectLst/>
                <a:latin typeface="Consolas" panose="020B0609020204030204" pitchFamily="49" charset="0"/>
              </a:rPr>
              <a:t>(x, 1)</a:t>
            </a:r>
          </a:p>
          <a:p>
            <a:pPr>
              <a:lnSpc>
                <a:spcPts val="1425"/>
              </a:lnSpc>
              <a:buNone/>
            </a:pPr>
            <a:r>
              <a:rPr lang="en-IN" sz="900" b="0" dirty="0">
                <a:solidFill>
                  <a:schemeClr val="tx1">
                    <a:lumMod val="95000"/>
                    <a:lumOff val="5000"/>
                  </a:schemeClr>
                </a:solidFill>
                <a:effectLst/>
                <a:latin typeface="Consolas" panose="020B0609020204030204" pitchFamily="49" charset="0"/>
              </a:rPr>
              <a:t>        x = </a:t>
            </a:r>
            <a:r>
              <a:rPr lang="en-IN" sz="900" b="0" dirty="0" err="1">
                <a:solidFill>
                  <a:schemeClr val="tx1">
                    <a:lumMod val="95000"/>
                    <a:lumOff val="5000"/>
                  </a:schemeClr>
                </a:solidFill>
                <a:effectLst/>
                <a:latin typeface="Consolas" panose="020B0609020204030204" pitchFamily="49" charset="0"/>
              </a:rPr>
              <a:t>self.head</a:t>
            </a:r>
            <a:r>
              <a:rPr lang="en-IN" sz="900" b="0" dirty="0">
                <a:solidFill>
                  <a:schemeClr val="tx1">
                    <a:lumMod val="95000"/>
                    <a:lumOff val="5000"/>
                  </a:schemeClr>
                </a:solidFill>
                <a:effectLst/>
                <a:latin typeface="Consolas" panose="020B0609020204030204" pitchFamily="49" charset="0"/>
              </a:rPr>
              <a:t>(x)</a:t>
            </a:r>
          </a:p>
          <a:p>
            <a:pPr>
              <a:lnSpc>
                <a:spcPts val="1425"/>
              </a:lnSpc>
              <a:buNone/>
            </a:pPr>
            <a:r>
              <a:rPr lang="en-IN" sz="900" b="0" dirty="0">
                <a:solidFill>
                  <a:schemeClr val="tx1">
                    <a:lumMod val="95000"/>
                    <a:lumOff val="5000"/>
                  </a:schemeClr>
                </a:solidFill>
                <a:effectLst/>
                <a:latin typeface="Consolas" panose="020B0609020204030204" pitchFamily="49" charset="0"/>
              </a:rPr>
              <a:t>        return x</a:t>
            </a:r>
          </a:p>
          <a:p>
            <a:pPr>
              <a:lnSpc>
                <a:spcPts val="1425"/>
              </a:lnSpc>
            </a:pPr>
            <a:br>
              <a:rPr lang="en-IN" sz="900" b="0" dirty="0">
                <a:solidFill>
                  <a:schemeClr val="tx1">
                    <a:lumMod val="95000"/>
                    <a:lumOff val="5000"/>
                  </a:schemeClr>
                </a:solidFill>
                <a:effectLst/>
                <a:latin typeface="Consolas" panose="020B0609020204030204" pitchFamily="49" charset="0"/>
              </a:rPr>
            </a:br>
            <a:endParaRPr lang="en-IN" sz="900" b="0" dirty="0">
              <a:solidFill>
                <a:schemeClr val="tx1">
                  <a:lumMod val="95000"/>
                  <a:lumOff val="5000"/>
                </a:schemeClr>
              </a:solidFill>
              <a:effectLst/>
              <a:latin typeface="Consolas" panose="020B0609020204030204" pitchFamily="49" charset="0"/>
            </a:endParaRPr>
          </a:p>
        </p:txBody>
      </p:sp>
    </p:spTree>
    <p:extLst>
      <p:ext uri="{BB962C8B-B14F-4D97-AF65-F5344CB8AC3E}">
        <p14:creationId xmlns:p14="http://schemas.microsoft.com/office/powerpoint/2010/main" val="2520299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4E2C6CFB-3477-CF4C-A060-70E120C1DA24}"/>
              </a:ext>
            </a:extLst>
          </p:cNvPr>
          <p:cNvSpPr/>
          <p:nvPr/>
        </p:nvSpPr>
        <p:spPr>
          <a:xfrm>
            <a:off x="1776845" y="1402772"/>
            <a:ext cx="1620982" cy="4468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Input Image</a:t>
            </a:r>
          </a:p>
        </p:txBody>
      </p:sp>
      <p:sp>
        <p:nvSpPr>
          <p:cNvPr id="14" name="Rectangle: Rounded Corners 13">
            <a:extLst>
              <a:ext uri="{FF2B5EF4-FFF2-40B4-BE49-F238E27FC236}">
                <a16:creationId xmlns:a16="http://schemas.microsoft.com/office/drawing/2014/main" id="{64A59E0D-5B04-7668-CFF1-F64FD6B42CCF}"/>
              </a:ext>
            </a:extLst>
          </p:cNvPr>
          <p:cNvSpPr/>
          <p:nvPr/>
        </p:nvSpPr>
        <p:spPr>
          <a:xfrm>
            <a:off x="878188" y="2431037"/>
            <a:ext cx="1153391" cy="4468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CNN</a:t>
            </a:r>
          </a:p>
        </p:txBody>
      </p:sp>
      <p:sp>
        <p:nvSpPr>
          <p:cNvPr id="17" name="Rectangle: Rounded Corners 16">
            <a:extLst>
              <a:ext uri="{FF2B5EF4-FFF2-40B4-BE49-F238E27FC236}">
                <a16:creationId xmlns:a16="http://schemas.microsoft.com/office/drawing/2014/main" id="{674610C5-C34B-5ACF-3B7B-099E17DB1186}"/>
              </a:ext>
            </a:extLst>
          </p:cNvPr>
          <p:cNvSpPr/>
          <p:nvPr/>
        </p:nvSpPr>
        <p:spPr>
          <a:xfrm>
            <a:off x="384621" y="3265343"/>
            <a:ext cx="2140527" cy="4468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err="1"/>
              <a:t>cnn_features</a:t>
            </a:r>
            <a:r>
              <a:rPr lang="en-US" sz="1400" dirty="0"/>
              <a:t> = </a:t>
            </a:r>
            <a:r>
              <a:rPr lang="en-US" sz="1400" dirty="0" err="1"/>
              <a:t>self.cnn</a:t>
            </a:r>
            <a:r>
              <a:rPr lang="en-US" sz="1400" dirty="0"/>
              <a:t>(x)</a:t>
            </a:r>
            <a:endParaRPr lang="en-IN" sz="1400" dirty="0"/>
          </a:p>
        </p:txBody>
      </p:sp>
      <p:sp>
        <p:nvSpPr>
          <p:cNvPr id="16" name="Rectangle: Rounded Corners 15">
            <a:extLst>
              <a:ext uri="{FF2B5EF4-FFF2-40B4-BE49-F238E27FC236}">
                <a16:creationId xmlns:a16="http://schemas.microsoft.com/office/drawing/2014/main" id="{07F7799D-761A-27F7-B502-0C78523C0912}"/>
              </a:ext>
            </a:extLst>
          </p:cNvPr>
          <p:cNvSpPr/>
          <p:nvPr/>
        </p:nvSpPr>
        <p:spPr>
          <a:xfrm>
            <a:off x="3262981" y="2431039"/>
            <a:ext cx="1153391" cy="4468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Swin</a:t>
            </a:r>
          </a:p>
        </p:txBody>
      </p:sp>
      <p:sp>
        <p:nvSpPr>
          <p:cNvPr id="18" name="Rectangle: Rounded Corners 17">
            <a:extLst>
              <a:ext uri="{FF2B5EF4-FFF2-40B4-BE49-F238E27FC236}">
                <a16:creationId xmlns:a16="http://schemas.microsoft.com/office/drawing/2014/main" id="{0B412BC6-DA48-F986-C644-534DE31B5146}"/>
              </a:ext>
            </a:extLst>
          </p:cNvPr>
          <p:cNvSpPr/>
          <p:nvPr/>
        </p:nvSpPr>
        <p:spPr>
          <a:xfrm>
            <a:off x="2687780" y="3301753"/>
            <a:ext cx="2303791" cy="4468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err="1"/>
              <a:t>swin_features</a:t>
            </a:r>
            <a:r>
              <a:rPr lang="en-US" sz="1400" dirty="0"/>
              <a:t> = </a:t>
            </a:r>
            <a:r>
              <a:rPr lang="en-US" sz="1400" dirty="0" err="1"/>
              <a:t>self.swin</a:t>
            </a:r>
            <a:r>
              <a:rPr lang="en-US" sz="1400" dirty="0"/>
              <a:t>(x)</a:t>
            </a:r>
            <a:endParaRPr lang="en-IN" sz="1400" dirty="0"/>
          </a:p>
        </p:txBody>
      </p:sp>
      <p:sp>
        <p:nvSpPr>
          <p:cNvPr id="20" name="Rectangle: Rounded Corners 19">
            <a:extLst>
              <a:ext uri="{FF2B5EF4-FFF2-40B4-BE49-F238E27FC236}">
                <a16:creationId xmlns:a16="http://schemas.microsoft.com/office/drawing/2014/main" id="{CB5C60B4-0E3E-AECD-49CE-69D3C853DACF}"/>
              </a:ext>
            </a:extLst>
          </p:cNvPr>
          <p:cNvSpPr/>
          <p:nvPr/>
        </p:nvSpPr>
        <p:spPr>
          <a:xfrm>
            <a:off x="1331768" y="4257678"/>
            <a:ext cx="2710296" cy="44383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dirty="0"/>
              <a:t>Concatenate</a:t>
            </a:r>
          </a:p>
          <a:p>
            <a:pPr algn="ctr"/>
            <a:r>
              <a:rPr lang="en-IN" sz="1600" dirty="0" err="1"/>
              <a:t>Concat</a:t>
            </a:r>
            <a:r>
              <a:rPr lang="en-IN" sz="1600" dirty="0"/>
              <a:t>(512 + 1024) → 1536</a:t>
            </a:r>
          </a:p>
        </p:txBody>
      </p:sp>
      <p:sp>
        <p:nvSpPr>
          <p:cNvPr id="22" name="Rectangle: Rounded Corners 21">
            <a:extLst>
              <a:ext uri="{FF2B5EF4-FFF2-40B4-BE49-F238E27FC236}">
                <a16:creationId xmlns:a16="http://schemas.microsoft.com/office/drawing/2014/main" id="{7E4A39A4-D335-5FF3-691E-5B6E42F9E64A}"/>
              </a:ext>
            </a:extLst>
          </p:cNvPr>
          <p:cNvSpPr/>
          <p:nvPr/>
        </p:nvSpPr>
        <p:spPr>
          <a:xfrm>
            <a:off x="1877291" y="4980709"/>
            <a:ext cx="1620982" cy="29440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1200" dirty="0"/>
              <a:t> Fully Connected Layer</a:t>
            </a:r>
          </a:p>
        </p:txBody>
      </p:sp>
      <p:sp>
        <p:nvSpPr>
          <p:cNvPr id="24" name="TextBox 23">
            <a:extLst>
              <a:ext uri="{FF2B5EF4-FFF2-40B4-BE49-F238E27FC236}">
                <a16:creationId xmlns:a16="http://schemas.microsoft.com/office/drawing/2014/main" id="{4B0E77B4-6414-3880-A20C-992606BDFD59}"/>
              </a:ext>
            </a:extLst>
          </p:cNvPr>
          <p:cNvSpPr txBox="1"/>
          <p:nvPr/>
        </p:nvSpPr>
        <p:spPr>
          <a:xfrm>
            <a:off x="2413406" y="5554317"/>
            <a:ext cx="800100" cy="307777"/>
          </a:xfrm>
          <a:prstGeom prst="rect">
            <a:avLst/>
          </a:prstGeom>
          <a:noFill/>
        </p:spPr>
        <p:txBody>
          <a:bodyPr wrap="square" rtlCol="0">
            <a:spAutoFit/>
          </a:bodyPr>
          <a:lstStyle/>
          <a:p>
            <a:r>
              <a:rPr lang="en-IN" sz="1400" dirty="0"/>
              <a:t>output</a:t>
            </a:r>
          </a:p>
        </p:txBody>
      </p:sp>
      <p:cxnSp>
        <p:nvCxnSpPr>
          <p:cNvPr id="37" name="Connector: Elbow 36">
            <a:extLst>
              <a:ext uri="{FF2B5EF4-FFF2-40B4-BE49-F238E27FC236}">
                <a16:creationId xmlns:a16="http://schemas.microsoft.com/office/drawing/2014/main" id="{298AE959-4DE1-B88D-E307-D39B7892B3FE}"/>
              </a:ext>
            </a:extLst>
          </p:cNvPr>
          <p:cNvCxnSpPr>
            <a:stCxn id="12" idx="2"/>
            <a:endCxn id="14" idx="0"/>
          </p:cNvCxnSpPr>
          <p:nvPr/>
        </p:nvCxnSpPr>
        <p:spPr>
          <a:xfrm rot="5400000">
            <a:off x="1730382" y="1574083"/>
            <a:ext cx="581456" cy="1132452"/>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38" name="Connector: Elbow 37">
            <a:extLst>
              <a:ext uri="{FF2B5EF4-FFF2-40B4-BE49-F238E27FC236}">
                <a16:creationId xmlns:a16="http://schemas.microsoft.com/office/drawing/2014/main" id="{21394FF1-968C-3A23-BA16-3D1E1ED9D975}"/>
              </a:ext>
            </a:extLst>
          </p:cNvPr>
          <p:cNvCxnSpPr>
            <a:cxnSpLocks/>
            <a:stCxn id="12" idx="2"/>
            <a:endCxn id="16" idx="0"/>
          </p:cNvCxnSpPr>
          <p:nvPr/>
        </p:nvCxnSpPr>
        <p:spPr>
          <a:xfrm rot="16200000" flipH="1">
            <a:off x="2922777" y="1514139"/>
            <a:ext cx="581458" cy="1252341"/>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41" name="Connector: Elbow 40">
            <a:extLst>
              <a:ext uri="{FF2B5EF4-FFF2-40B4-BE49-F238E27FC236}">
                <a16:creationId xmlns:a16="http://schemas.microsoft.com/office/drawing/2014/main" id="{76188E39-F4F0-05A7-1BDE-CE203CFB78B4}"/>
              </a:ext>
            </a:extLst>
          </p:cNvPr>
          <p:cNvCxnSpPr>
            <a:cxnSpLocks/>
            <a:stCxn id="14" idx="2"/>
            <a:endCxn id="17" idx="0"/>
          </p:cNvCxnSpPr>
          <p:nvPr/>
        </p:nvCxnSpPr>
        <p:spPr>
          <a:xfrm rot="16200000" flipH="1">
            <a:off x="1261136" y="3071593"/>
            <a:ext cx="387497" cy="1"/>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44" name="Connector: Elbow 43">
            <a:extLst>
              <a:ext uri="{FF2B5EF4-FFF2-40B4-BE49-F238E27FC236}">
                <a16:creationId xmlns:a16="http://schemas.microsoft.com/office/drawing/2014/main" id="{84CC46F1-53A4-4410-15CE-19762E9CAA95}"/>
              </a:ext>
            </a:extLst>
          </p:cNvPr>
          <p:cNvCxnSpPr>
            <a:cxnSpLocks/>
            <a:stCxn id="16" idx="2"/>
            <a:endCxn id="18" idx="0"/>
          </p:cNvCxnSpPr>
          <p:nvPr/>
        </p:nvCxnSpPr>
        <p:spPr>
          <a:xfrm rot="5400000">
            <a:off x="3627725" y="3089800"/>
            <a:ext cx="423905" cy="1"/>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51" name="Connector: Elbow 50">
            <a:extLst>
              <a:ext uri="{FF2B5EF4-FFF2-40B4-BE49-F238E27FC236}">
                <a16:creationId xmlns:a16="http://schemas.microsoft.com/office/drawing/2014/main" id="{DC58775B-3A92-8472-31FA-27EB3E9D3DF5}"/>
              </a:ext>
            </a:extLst>
          </p:cNvPr>
          <p:cNvCxnSpPr>
            <a:cxnSpLocks/>
            <a:stCxn id="18" idx="2"/>
            <a:endCxn id="20" idx="0"/>
          </p:cNvCxnSpPr>
          <p:nvPr/>
        </p:nvCxnSpPr>
        <p:spPr>
          <a:xfrm rot="5400000">
            <a:off x="3008738" y="3426740"/>
            <a:ext cx="509116" cy="1152760"/>
          </a:xfrm>
          <a:prstGeom prst="bentConnector3">
            <a:avLst>
              <a:gd name="adj1" fmla="val 45453"/>
            </a:avLst>
          </a:prstGeom>
          <a:ln>
            <a:tailEnd type="triangle"/>
          </a:ln>
        </p:spPr>
        <p:style>
          <a:lnRef idx="3">
            <a:schemeClr val="dk1"/>
          </a:lnRef>
          <a:fillRef idx="0">
            <a:schemeClr val="dk1"/>
          </a:fillRef>
          <a:effectRef idx="2">
            <a:schemeClr val="dk1"/>
          </a:effectRef>
          <a:fontRef idx="minor">
            <a:schemeClr val="tx1"/>
          </a:fontRef>
        </p:style>
      </p:cxnSp>
      <p:cxnSp>
        <p:nvCxnSpPr>
          <p:cNvPr id="54" name="Connector: Elbow 53">
            <a:extLst>
              <a:ext uri="{FF2B5EF4-FFF2-40B4-BE49-F238E27FC236}">
                <a16:creationId xmlns:a16="http://schemas.microsoft.com/office/drawing/2014/main" id="{21E883A0-E2B7-F215-247E-9E373D796801}"/>
              </a:ext>
            </a:extLst>
          </p:cNvPr>
          <p:cNvCxnSpPr>
            <a:cxnSpLocks/>
            <a:stCxn id="17" idx="2"/>
            <a:endCxn id="20" idx="0"/>
          </p:cNvCxnSpPr>
          <p:nvPr/>
        </p:nvCxnSpPr>
        <p:spPr>
          <a:xfrm rot="16200000" flipH="1">
            <a:off x="1798137" y="3368899"/>
            <a:ext cx="545526" cy="1232031"/>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60" name="Straight Arrow Connector 59">
            <a:extLst>
              <a:ext uri="{FF2B5EF4-FFF2-40B4-BE49-F238E27FC236}">
                <a16:creationId xmlns:a16="http://schemas.microsoft.com/office/drawing/2014/main" id="{A1D5DF1E-CFA1-04D4-19DE-D6754D0FE1A1}"/>
              </a:ext>
            </a:extLst>
          </p:cNvPr>
          <p:cNvCxnSpPr>
            <a:cxnSpLocks/>
            <a:stCxn id="20" idx="2"/>
            <a:endCxn id="22" idx="0"/>
          </p:cNvCxnSpPr>
          <p:nvPr/>
        </p:nvCxnSpPr>
        <p:spPr>
          <a:xfrm>
            <a:off x="2686916" y="4701510"/>
            <a:ext cx="866" cy="2791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a:extLst>
              <a:ext uri="{FF2B5EF4-FFF2-40B4-BE49-F238E27FC236}">
                <a16:creationId xmlns:a16="http://schemas.microsoft.com/office/drawing/2014/main" id="{64524213-80EF-617F-114D-BF94797D33BD}"/>
              </a:ext>
            </a:extLst>
          </p:cNvPr>
          <p:cNvCxnSpPr/>
          <p:nvPr/>
        </p:nvCxnSpPr>
        <p:spPr>
          <a:xfrm>
            <a:off x="2691246" y="5303451"/>
            <a:ext cx="0" cy="27622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8" name="TextBox 77">
            <a:extLst>
              <a:ext uri="{FF2B5EF4-FFF2-40B4-BE49-F238E27FC236}">
                <a16:creationId xmlns:a16="http://schemas.microsoft.com/office/drawing/2014/main" id="{D7333937-CD2B-B480-8B83-C56B54307893}"/>
              </a:ext>
            </a:extLst>
          </p:cNvPr>
          <p:cNvSpPr txBox="1"/>
          <p:nvPr/>
        </p:nvSpPr>
        <p:spPr>
          <a:xfrm>
            <a:off x="5688785" y="2211474"/>
            <a:ext cx="5465618" cy="255454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We implemented a hybrid deep learning model that combines a </a:t>
            </a:r>
            <a:r>
              <a:rPr lang="en-US" sz="1600" b="1" dirty="0">
                <a:latin typeface="Times New Roman" panose="02020603050405020304" pitchFamily="18" charset="0"/>
                <a:cs typeface="Times New Roman" panose="02020603050405020304" pitchFamily="18" charset="0"/>
              </a:rPr>
              <a:t>pretrained ResNet-18</a:t>
            </a:r>
            <a:r>
              <a:rPr lang="en-US" sz="1600" dirty="0">
                <a:latin typeface="Times New Roman" panose="02020603050405020304" pitchFamily="18" charset="0"/>
                <a:cs typeface="Times New Roman" panose="02020603050405020304" pitchFamily="18" charset="0"/>
              </a:rPr>
              <a:t> and a </a:t>
            </a:r>
            <a:r>
              <a:rPr lang="en-US" sz="1600" b="1" dirty="0">
                <a:latin typeface="Times New Roman" panose="02020603050405020304" pitchFamily="18" charset="0"/>
                <a:cs typeface="Times New Roman" panose="02020603050405020304" pitchFamily="18" charset="0"/>
              </a:rPr>
              <a:t>pretrained Swin Transformer (Swin-B)</a:t>
            </a:r>
            <a:r>
              <a:rPr lang="en-US" sz="1600" dirty="0">
                <a:latin typeface="Times New Roman" panose="02020603050405020304" pitchFamily="18" charset="0"/>
                <a:cs typeface="Times New Roman" panose="02020603050405020304" pitchFamily="18" charset="0"/>
              </a:rPr>
              <a:t> for fruit image classification. The ResNet-18 serves as the CNN backbone for capturing local spatial features, while the Swin Transformer captures long-range dependencies through its hierarchical self-attention mechanism. Feature vectors from both models are concatenated and passed through a fully connected layer for final classification. This fusion approach leverages the strengths of both architectures, improving accuracy on the fruit dataset.</a:t>
            </a:r>
            <a:endParaRPr lang="en-IN" sz="1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8328616-163D-7F07-84E6-8850E85EB290}"/>
              </a:ext>
            </a:extLst>
          </p:cNvPr>
          <p:cNvSpPr txBox="1"/>
          <p:nvPr/>
        </p:nvSpPr>
        <p:spPr>
          <a:xfrm>
            <a:off x="275897" y="338959"/>
            <a:ext cx="4140475" cy="461665"/>
          </a:xfrm>
          <a:prstGeom prst="rect">
            <a:avLst/>
          </a:prstGeom>
          <a:noFill/>
        </p:spPr>
        <p:txBody>
          <a:bodyPr wrap="square" rtlCol="0">
            <a:spAutoFit/>
          </a:bodyPr>
          <a:lstStyle/>
          <a:p>
            <a:r>
              <a:rPr lang="en-IN" sz="2400" dirty="0">
                <a:solidFill>
                  <a:srgbClr val="AC0000"/>
                </a:solidFill>
                <a:latin typeface="Times New Roman" panose="02020603050405020304" pitchFamily="18" charset="0"/>
                <a:cs typeface="Times New Roman" panose="02020603050405020304" pitchFamily="18" charset="0"/>
              </a:rPr>
              <a:t>Hybrid model (</a:t>
            </a:r>
            <a:r>
              <a:rPr lang="en-IN" sz="2400" dirty="0" err="1">
                <a:solidFill>
                  <a:srgbClr val="AC0000"/>
                </a:solidFill>
                <a:latin typeface="Times New Roman" panose="02020603050405020304" pitchFamily="18" charset="0"/>
                <a:cs typeface="Times New Roman" panose="02020603050405020304" pitchFamily="18" charset="0"/>
              </a:rPr>
              <a:t>CNN+Vit</a:t>
            </a:r>
            <a:r>
              <a:rPr lang="en-IN" sz="2400" dirty="0">
                <a:solidFill>
                  <a:srgbClr val="AC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39121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8FE316-956D-D932-EBC2-354418245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296" y="905550"/>
            <a:ext cx="11335407" cy="5645989"/>
          </a:xfrm>
          <a:prstGeom prst="rect">
            <a:avLst/>
          </a:prstGeom>
        </p:spPr>
      </p:pic>
      <p:sp>
        <p:nvSpPr>
          <p:cNvPr id="6" name="TextBox 5">
            <a:extLst>
              <a:ext uri="{FF2B5EF4-FFF2-40B4-BE49-F238E27FC236}">
                <a16:creationId xmlns:a16="http://schemas.microsoft.com/office/drawing/2014/main" id="{7B8C2ACD-24B4-02D3-0950-3120A786676F}"/>
              </a:ext>
            </a:extLst>
          </p:cNvPr>
          <p:cNvSpPr txBox="1"/>
          <p:nvPr/>
        </p:nvSpPr>
        <p:spPr>
          <a:xfrm>
            <a:off x="346841" y="220717"/>
            <a:ext cx="4501056" cy="461665"/>
          </a:xfrm>
          <a:prstGeom prst="rect">
            <a:avLst/>
          </a:prstGeom>
          <a:noFill/>
        </p:spPr>
        <p:txBody>
          <a:bodyPr wrap="square" rtlCol="0">
            <a:spAutoFit/>
          </a:bodyPr>
          <a:lstStyle/>
          <a:p>
            <a:r>
              <a:rPr lang="en-IN" sz="2400" dirty="0">
                <a:solidFill>
                  <a:srgbClr val="AC0000"/>
                </a:solidFill>
                <a:latin typeface="Times New Roman" panose="02020603050405020304" pitchFamily="18" charset="0"/>
                <a:cs typeface="Times New Roman" panose="02020603050405020304" pitchFamily="18" charset="0"/>
              </a:rPr>
              <a:t>System Architecture:</a:t>
            </a:r>
          </a:p>
        </p:txBody>
      </p:sp>
    </p:spTree>
    <p:extLst>
      <p:ext uri="{BB962C8B-B14F-4D97-AF65-F5344CB8AC3E}">
        <p14:creationId xmlns:p14="http://schemas.microsoft.com/office/powerpoint/2010/main" val="2517949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AFD050-0EE7-0F97-6F18-540AB5894AAF}"/>
              </a:ext>
            </a:extLst>
          </p:cNvPr>
          <p:cNvSpPr txBox="1"/>
          <p:nvPr/>
        </p:nvSpPr>
        <p:spPr>
          <a:xfrm>
            <a:off x="480848" y="370489"/>
            <a:ext cx="4382814" cy="461665"/>
          </a:xfrm>
          <a:prstGeom prst="rect">
            <a:avLst/>
          </a:prstGeom>
          <a:noFill/>
        </p:spPr>
        <p:txBody>
          <a:bodyPr wrap="square" rtlCol="0">
            <a:spAutoFit/>
          </a:bodyPr>
          <a:lstStyle/>
          <a:p>
            <a:r>
              <a:rPr lang="en-US" sz="2400" dirty="0">
                <a:solidFill>
                  <a:srgbClr val="AC0000"/>
                </a:solidFill>
              </a:rPr>
              <a:t>Training Details:</a:t>
            </a:r>
            <a:endParaRPr lang="en-IN" sz="2400" dirty="0">
              <a:solidFill>
                <a:srgbClr val="AC0000"/>
              </a:solidFill>
            </a:endParaRPr>
          </a:p>
        </p:txBody>
      </p:sp>
      <p:graphicFrame>
        <p:nvGraphicFramePr>
          <p:cNvPr id="3" name="Table 2">
            <a:extLst>
              <a:ext uri="{FF2B5EF4-FFF2-40B4-BE49-F238E27FC236}">
                <a16:creationId xmlns:a16="http://schemas.microsoft.com/office/drawing/2014/main" id="{75CF0A0C-D3A9-9BFB-68FE-4281165D34A4}"/>
              </a:ext>
            </a:extLst>
          </p:cNvPr>
          <p:cNvGraphicFramePr>
            <a:graphicFrameLocks noGrp="1"/>
          </p:cNvGraphicFramePr>
          <p:nvPr>
            <p:extLst>
              <p:ext uri="{D42A27DB-BD31-4B8C-83A1-F6EECF244321}">
                <p14:modId xmlns:p14="http://schemas.microsoft.com/office/powerpoint/2010/main" val="1251530334"/>
              </p:ext>
            </p:extLst>
          </p:nvPr>
        </p:nvGraphicFramePr>
        <p:xfrm>
          <a:off x="585952" y="1324303"/>
          <a:ext cx="10536620" cy="3630573"/>
        </p:xfrm>
        <a:graphic>
          <a:graphicData uri="http://schemas.openxmlformats.org/drawingml/2006/table">
            <a:tbl>
              <a:tblPr>
                <a:tableStyleId>{5C22544A-7EE6-4342-B048-85BDC9FD1C3A}</a:tableStyleId>
              </a:tblPr>
              <a:tblGrid>
                <a:gridCol w="2603877">
                  <a:extLst>
                    <a:ext uri="{9D8B030D-6E8A-4147-A177-3AD203B41FA5}">
                      <a16:colId xmlns:a16="http://schemas.microsoft.com/office/drawing/2014/main" val="3725564868"/>
                    </a:ext>
                  </a:extLst>
                </a:gridCol>
                <a:gridCol w="2664433">
                  <a:extLst>
                    <a:ext uri="{9D8B030D-6E8A-4147-A177-3AD203B41FA5}">
                      <a16:colId xmlns:a16="http://schemas.microsoft.com/office/drawing/2014/main" val="2188527120"/>
                    </a:ext>
                  </a:extLst>
                </a:gridCol>
                <a:gridCol w="2634155">
                  <a:extLst>
                    <a:ext uri="{9D8B030D-6E8A-4147-A177-3AD203B41FA5}">
                      <a16:colId xmlns:a16="http://schemas.microsoft.com/office/drawing/2014/main" val="2393241932"/>
                    </a:ext>
                  </a:extLst>
                </a:gridCol>
                <a:gridCol w="2634155">
                  <a:extLst>
                    <a:ext uri="{9D8B030D-6E8A-4147-A177-3AD203B41FA5}">
                      <a16:colId xmlns:a16="http://schemas.microsoft.com/office/drawing/2014/main" val="2017712564"/>
                    </a:ext>
                  </a:extLst>
                </a:gridCol>
              </a:tblGrid>
              <a:tr h="819807">
                <a:tc>
                  <a:txBody>
                    <a:bodyPr/>
                    <a:lstStyle/>
                    <a:p>
                      <a:pPr algn="ctr"/>
                      <a:r>
                        <a:rPr lang="en-IN" b="1" dirty="0">
                          <a:latin typeface="Times New Roman" panose="02020603050405020304" pitchFamily="18" charset="0"/>
                          <a:cs typeface="Times New Roman" panose="02020603050405020304" pitchFamily="18" charset="0"/>
                        </a:rPr>
                        <a:t>Parameter</a:t>
                      </a:r>
                    </a:p>
                  </a:txBody>
                  <a:tcPr anchor="ctr"/>
                </a:tc>
                <a:tc>
                  <a:txBody>
                    <a:bodyPr/>
                    <a:lstStyle/>
                    <a:p>
                      <a:pPr algn="ctr"/>
                      <a:r>
                        <a:rPr lang="en-IN" b="1" dirty="0">
                          <a:latin typeface="Times New Roman" panose="02020603050405020304" pitchFamily="18" charset="0"/>
                          <a:cs typeface="Times New Roman" panose="02020603050405020304" pitchFamily="18" charset="0"/>
                        </a:rPr>
                        <a:t>Hybrid (</a:t>
                      </a:r>
                      <a:r>
                        <a:rPr lang="en-IN" b="1" dirty="0" err="1">
                          <a:latin typeface="Times New Roman" panose="02020603050405020304" pitchFamily="18" charset="0"/>
                          <a:cs typeface="Times New Roman" panose="02020603050405020304" pitchFamily="18" charset="0"/>
                        </a:rPr>
                        <a:t>CNN+ViT</a:t>
                      </a:r>
                      <a:r>
                        <a:rPr lang="en-IN" b="1" dirty="0">
                          <a:latin typeface="Times New Roman" panose="02020603050405020304" pitchFamily="18" charset="0"/>
                          <a:cs typeface="Times New Roman" panose="02020603050405020304" pitchFamily="18" charset="0"/>
                        </a:rPr>
                        <a:t>)</a:t>
                      </a:r>
                    </a:p>
                  </a:txBody>
                  <a:tcPr anchor="ctr"/>
                </a:tc>
                <a:tc>
                  <a:txBody>
                    <a:bodyPr/>
                    <a:lstStyle/>
                    <a:p>
                      <a:pPr algn="ctr"/>
                      <a:r>
                        <a:rPr lang="en-IN" b="1" dirty="0">
                          <a:latin typeface="Times New Roman" panose="02020603050405020304" pitchFamily="18" charset="0"/>
                          <a:cs typeface="Times New Roman" panose="02020603050405020304" pitchFamily="18" charset="0"/>
                        </a:rPr>
                        <a:t>Vision Transformer (ViT)</a:t>
                      </a:r>
                    </a:p>
                  </a:txBody>
                  <a:tcPr anchor="ctr"/>
                </a:tc>
                <a:tc>
                  <a:txBody>
                    <a:bodyPr/>
                    <a:lstStyle/>
                    <a:p>
                      <a:pPr algn="ctr"/>
                      <a:r>
                        <a:rPr lang="en-IN" b="1" dirty="0">
                          <a:latin typeface="Times New Roman" panose="02020603050405020304" pitchFamily="18" charset="0"/>
                          <a:cs typeface="Times New Roman" panose="02020603050405020304" pitchFamily="18" charset="0"/>
                        </a:rPr>
                        <a:t>Swin Transformer </a:t>
                      </a:r>
                    </a:p>
                  </a:txBody>
                  <a:tcPr anchor="ctr"/>
                </a:tc>
                <a:extLst>
                  <a:ext uri="{0D108BD9-81ED-4DB2-BD59-A6C34878D82A}">
                    <a16:rowId xmlns:a16="http://schemas.microsoft.com/office/drawing/2014/main" val="1306186977"/>
                  </a:ext>
                </a:extLst>
              </a:tr>
              <a:tr h="468461">
                <a:tc>
                  <a:txBody>
                    <a:bodyPr/>
                    <a:lstStyle/>
                    <a:p>
                      <a:pPr algn="l"/>
                      <a:r>
                        <a:rPr lang="en-IN" b="1" dirty="0">
                          <a:latin typeface="Times New Roman" panose="02020603050405020304" pitchFamily="18" charset="0"/>
                          <a:cs typeface="Times New Roman" panose="02020603050405020304" pitchFamily="18" charset="0"/>
                        </a:rPr>
                        <a:t>Epochs</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10</a:t>
                      </a:r>
                      <a:endParaRPr lang="en-IN" dirty="0"/>
                    </a:p>
                  </a:txBody>
                  <a:tcPr anchor="ctr"/>
                </a:tc>
                <a:tc>
                  <a:txBody>
                    <a:bodyPr/>
                    <a:lstStyle/>
                    <a:p>
                      <a:pPr algn="ctr"/>
                      <a:r>
                        <a:rPr lang="en-US" dirty="0"/>
                        <a:t>2</a:t>
                      </a:r>
                      <a:r>
                        <a:rPr lang="en-IN" dirty="0"/>
                        <a:t>0</a:t>
                      </a:r>
                    </a:p>
                  </a:txBody>
                  <a:tcPr anchor="ctr"/>
                </a:tc>
                <a:tc>
                  <a:txBody>
                    <a:bodyPr/>
                    <a:lstStyle/>
                    <a:p>
                      <a:pPr algn="ctr"/>
                      <a:r>
                        <a:rPr lang="en-IN" dirty="0"/>
                        <a:t>20</a:t>
                      </a:r>
                    </a:p>
                  </a:txBody>
                  <a:tcPr anchor="ctr"/>
                </a:tc>
                <a:extLst>
                  <a:ext uri="{0D108BD9-81ED-4DB2-BD59-A6C34878D82A}">
                    <a16:rowId xmlns:a16="http://schemas.microsoft.com/office/drawing/2014/main" val="3606701892"/>
                  </a:ext>
                </a:extLst>
              </a:tr>
              <a:tr h="468461">
                <a:tc>
                  <a:txBody>
                    <a:bodyPr/>
                    <a:lstStyle/>
                    <a:p>
                      <a:pPr algn="l"/>
                      <a:r>
                        <a:rPr lang="en-IN" b="1" dirty="0">
                          <a:latin typeface="Times New Roman" panose="02020603050405020304" pitchFamily="18" charset="0"/>
                          <a:cs typeface="Times New Roman" panose="02020603050405020304" pitchFamily="18" charset="0"/>
                        </a:rPr>
                        <a:t>Batch Size</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8</a:t>
                      </a:r>
                      <a:endParaRPr lang="en-IN" dirty="0"/>
                    </a:p>
                  </a:txBody>
                  <a:tcPr anchor="ctr"/>
                </a:tc>
                <a:tc>
                  <a:txBody>
                    <a:bodyPr/>
                    <a:lstStyle/>
                    <a:p>
                      <a:pPr algn="ctr"/>
                      <a:r>
                        <a:rPr lang="en-US" dirty="0"/>
                        <a:t>8</a:t>
                      </a:r>
                      <a:endParaRPr lang="en-IN" dirty="0"/>
                    </a:p>
                  </a:txBody>
                  <a:tcPr anchor="ctr"/>
                </a:tc>
                <a:tc>
                  <a:txBody>
                    <a:bodyPr/>
                    <a:lstStyle/>
                    <a:p>
                      <a:pPr algn="ctr"/>
                      <a:r>
                        <a:rPr lang="en-IN" dirty="0"/>
                        <a:t>8</a:t>
                      </a:r>
                    </a:p>
                  </a:txBody>
                  <a:tcPr anchor="ctr"/>
                </a:tc>
                <a:extLst>
                  <a:ext uri="{0D108BD9-81ED-4DB2-BD59-A6C34878D82A}">
                    <a16:rowId xmlns:a16="http://schemas.microsoft.com/office/drawing/2014/main" val="682199989"/>
                  </a:ext>
                </a:extLst>
              </a:tr>
              <a:tr h="468461">
                <a:tc>
                  <a:txBody>
                    <a:bodyPr/>
                    <a:lstStyle/>
                    <a:p>
                      <a:pPr algn="l"/>
                      <a:r>
                        <a:rPr lang="en-IN" b="1" dirty="0">
                          <a:latin typeface="Times New Roman" panose="02020603050405020304" pitchFamily="18" charset="0"/>
                          <a:cs typeface="Times New Roman" panose="02020603050405020304" pitchFamily="18" charset="0"/>
                        </a:rPr>
                        <a:t>Learning Rate</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1e-4</a:t>
                      </a:r>
                      <a:r>
                        <a:rPr lang="en-US" baseline="0" dirty="0"/>
                        <a:t> or 0.0001</a:t>
                      </a:r>
                      <a:endParaRPr lang="en-IN" dirty="0"/>
                    </a:p>
                  </a:txBody>
                  <a:tcPr anchor="ctr"/>
                </a:tc>
                <a:tc>
                  <a:txBody>
                    <a:bodyPr/>
                    <a:lstStyle/>
                    <a:p>
                      <a:pPr algn="ctr"/>
                      <a:r>
                        <a:rPr lang="en-US" dirty="0"/>
                        <a:t>1</a:t>
                      </a:r>
                      <a:r>
                        <a:rPr lang="en-IN" dirty="0"/>
                        <a:t>e-4 or 0.0001</a:t>
                      </a:r>
                    </a:p>
                  </a:txBody>
                  <a:tcPr anchor="ctr"/>
                </a:tc>
                <a:tc>
                  <a:txBody>
                    <a:bodyPr/>
                    <a:lstStyle/>
                    <a:p>
                      <a:pPr algn="ctr"/>
                      <a:r>
                        <a:rPr lang="en-US" dirty="0"/>
                        <a:t>1</a:t>
                      </a:r>
                      <a:r>
                        <a:rPr lang="en-IN" dirty="0"/>
                        <a:t>e-4 or 0.0001</a:t>
                      </a:r>
                    </a:p>
                  </a:txBody>
                  <a:tcPr anchor="ctr"/>
                </a:tc>
                <a:extLst>
                  <a:ext uri="{0D108BD9-81ED-4DB2-BD59-A6C34878D82A}">
                    <a16:rowId xmlns:a16="http://schemas.microsoft.com/office/drawing/2014/main" val="2755536067"/>
                  </a:ext>
                </a:extLst>
              </a:tr>
              <a:tr h="468461">
                <a:tc>
                  <a:txBody>
                    <a:bodyPr/>
                    <a:lstStyle/>
                    <a:p>
                      <a:pPr algn="l"/>
                      <a:r>
                        <a:rPr lang="en-IN" b="1" dirty="0">
                          <a:latin typeface="Times New Roman" panose="02020603050405020304" pitchFamily="18" charset="0"/>
                          <a:cs typeface="Times New Roman" panose="02020603050405020304" pitchFamily="18" charset="0"/>
                        </a:rPr>
                        <a:t>Optimizer</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a:t>Adam</a:t>
                      </a:r>
                    </a:p>
                  </a:txBody>
                  <a:tcPr anchor="ctr"/>
                </a:tc>
                <a:tc>
                  <a:txBody>
                    <a:bodyPr/>
                    <a:lstStyle/>
                    <a:p>
                      <a:pPr algn="ctr"/>
                      <a:r>
                        <a:rPr lang="en-IN" dirty="0"/>
                        <a:t>Adam</a:t>
                      </a:r>
                    </a:p>
                  </a:txBody>
                  <a:tcPr anchor="ctr"/>
                </a:tc>
                <a:tc>
                  <a:txBody>
                    <a:bodyPr/>
                    <a:lstStyle/>
                    <a:p>
                      <a:pPr algn="ctr"/>
                      <a:r>
                        <a:rPr lang="en-IN" dirty="0"/>
                        <a:t>Adam</a:t>
                      </a:r>
                    </a:p>
                  </a:txBody>
                  <a:tcPr anchor="ctr"/>
                </a:tc>
                <a:extLst>
                  <a:ext uri="{0D108BD9-81ED-4DB2-BD59-A6C34878D82A}">
                    <a16:rowId xmlns:a16="http://schemas.microsoft.com/office/drawing/2014/main" val="3165986567"/>
                  </a:ext>
                </a:extLst>
              </a:tr>
              <a:tr h="468461">
                <a:tc>
                  <a:txBody>
                    <a:bodyPr/>
                    <a:lstStyle/>
                    <a:p>
                      <a:pPr algn="l"/>
                      <a:r>
                        <a:rPr lang="en-IN" b="1" dirty="0">
                          <a:latin typeface="Times New Roman" panose="02020603050405020304" pitchFamily="18" charset="0"/>
                          <a:cs typeface="Times New Roman" panose="02020603050405020304" pitchFamily="18" charset="0"/>
                        </a:rPr>
                        <a:t>Loss Function</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err="1"/>
                        <a:t>CrossEntropyLoss</a:t>
                      </a:r>
                      <a:endParaRPr lang="en-IN" dirty="0"/>
                    </a:p>
                  </a:txBody>
                  <a:tcPr anchor="ctr"/>
                </a:tc>
                <a:tc>
                  <a:txBody>
                    <a:bodyPr/>
                    <a:lstStyle/>
                    <a:p>
                      <a:pPr algn="ctr"/>
                      <a:r>
                        <a:rPr lang="en-IN" dirty="0" err="1"/>
                        <a:t>CrossEntropyLoss</a:t>
                      </a:r>
                      <a:endParaRPr lang="en-IN" dirty="0"/>
                    </a:p>
                  </a:txBody>
                  <a:tcPr anchor="ctr"/>
                </a:tc>
                <a:tc>
                  <a:txBody>
                    <a:bodyPr/>
                    <a:lstStyle/>
                    <a:p>
                      <a:pPr algn="ctr"/>
                      <a:r>
                        <a:rPr lang="en-IN" dirty="0" err="1"/>
                        <a:t>CrossEntropyLoss</a:t>
                      </a:r>
                      <a:endParaRPr lang="en-IN" dirty="0"/>
                    </a:p>
                  </a:txBody>
                  <a:tcPr anchor="ctr"/>
                </a:tc>
                <a:extLst>
                  <a:ext uri="{0D108BD9-81ED-4DB2-BD59-A6C34878D82A}">
                    <a16:rowId xmlns:a16="http://schemas.microsoft.com/office/drawing/2014/main" val="929505770"/>
                  </a:ext>
                </a:extLst>
              </a:tr>
              <a:tr h="468461">
                <a:tc>
                  <a:txBody>
                    <a:bodyPr/>
                    <a:lstStyle/>
                    <a:p>
                      <a:pPr algn="l"/>
                      <a:r>
                        <a:rPr lang="en-IN" b="1" dirty="0">
                          <a:latin typeface="Times New Roman" panose="02020603050405020304" pitchFamily="18" charset="0"/>
                          <a:cs typeface="Times New Roman" panose="02020603050405020304" pitchFamily="18" charset="0"/>
                        </a:rPr>
                        <a:t>Pre-training Used</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t>r</a:t>
                      </a:r>
                      <a:r>
                        <a:rPr lang="en-IN" dirty="0"/>
                        <a:t>esnet18</a:t>
                      </a:r>
                    </a:p>
                  </a:txBody>
                  <a:tcPr anchor="ctr"/>
                </a:tc>
                <a:tc>
                  <a:txBody>
                    <a:bodyPr/>
                    <a:lstStyle/>
                    <a:p>
                      <a:pPr algn="ctr"/>
                      <a:r>
                        <a:rPr lang="en-US" sz="1600" dirty="0"/>
                        <a:t>V</a:t>
                      </a:r>
                      <a:r>
                        <a:rPr lang="en-IN" sz="1600" dirty="0" err="1"/>
                        <a:t>iT</a:t>
                      </a:r>
                      <a:r>
                        <a:rPr lang="en-IN" sz="1600" dirty="0"/>
                        <a:t>-B/16 on IMAGENET_V1</a:t>
                      </a:r>
                    </a:p>
                  </a:txBody>
                  <a:tcPr anchor="ctr"/>
                </a:tc>
                <a:tc>
                  <a:txBody>
                    <a:bodyPr/>
                    <a:lstStyle/>
                    <a:p>
                      <a:pPr algn="ctr"/>
                      <a:r>
                        <a:rPr lang="en-US" dirty="0"/>
                        <a:t>--</a:t>
                      </a:r>
                      <a:endParaRPr lang="en-IN" dirty="0"/>
                    </a:p>
                  </a:txBody>
                  <a:tcPr anchor="ctr"/>
                </a:tc>
                <a:extLst>
                  <a:ext uri="{0D108BD9-81ED-4DB2-BD59-A6C34878D82A}">
                    <a16:rowId xmlns:a16="http://schemas.microsoft.com/office/drawing/2014/main" val="1535081649"/>
                  </a:ext>
                </a:extLst>
              </a:tr>
            </a:tbl>
          </a:graphicData>
        </a:graphic>
      </p:graphicFrame>
    </p:spTree>
    <p:extLst>
      <p:ext uri="{BB962C8B-B14F-4D97-AF65-F5344CB8AC3E}">
        <p14:creationId xmlns:p14="http://schemas.microsoft.com/office/powerpoint/2010/main" val="4287556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599BC-B524-822A-303C-16A96B7B5A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78E5DB-57F6-4D34-E25E-9A8B7FBDD8B5}"/>
              </a:ext>
            </a:extLst>
          </p:cNvPr>
          <p:cNvSpPr txBox="1"/>
          <p:nvPr/>
        </p:nvSpPr>
        <p:spPr>
          <a:xfrm>
            <a:off x="346841" y="220717"/>
            <a:ext cx="5628290"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Results:</a:t>
            </a:r>
            <a:endParaRPr lang="en-IN" sz="2400" dirty="0">
              <a:solidFill>
                <a:srgbClr val="AC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FC76EC9-F41D-C50D-6299-E0690149D136}"/>
              </a:ext>
            </a:extLst>
          </p:cNvPr>
          <p:cNvPicPr>
            <a:picLocks noChangeAspect="1"/>
          </p:cNvPicPr>
          <p:nvPr/>
        </p:nvPicPr>
        <p:blipFill>
          <a:blip r:embed="rId2"/>
          <a:stretch>
            <a:fillRect/>
          </a:stretch>
        </p:blipFill>
        <p:spPr>
          <a:xfrm>
            <a:off x="642233" y="863685"/>
            <a:ext cx="5210504" cy="3923277"/>
          </a:xfrm>
          <a:prstGeom prst="rect">
            <a:avLst/>
          </a:prstGeom>
        </p:spPr>
      </p:pic>
      <p:pic>
        <p:nvPicPr>
          <p:cNvPr id="7" name="Picture 6">
            <a:extLst>
              <a:ext uri="{FF2B5EF4-FFF2-40B4-BE49-F238E27FC236}">
                <a16:creationId xmlns:a16="http://schemas.microsoft.com/office/drawing/2014/main" id="{F5C16781-A2B5-073A-D446-427E5E8ED3DB}"/>
              </a:ext>
            </a:extLst>
          </p:cNvPr>
          <p:cNvPicPr>
            <a:picLocks noChangeAspect="1"/>
          </p:cNvPicPr>
          <p:nvPr/>
        </p:nvPicPr>
        <p:blipFill>
          <a:blip r:embed="rId3"/>
          <a:stretch>
            <a:fillRect/>
          </a:stretch>
        </p:blipFill>
        <p:spPr>
          <a:xfrm>
            <a:off x="6443944" y="2587882"/>
            <a:ext cx="5222540" cy="3923277"/>
          </a:xfrm>
          <a:prstGeom prst="rect">
            <a:avLst/>
          </a:prstGeom>
        </p:spPr>
      </p:pic>
    </p:spTree>
    <p:extLst>
      <p:ext uri="{BB962C8B-B14F-4D97-AF65-F5344CB8AC3E}">
        <p14:creationId xmlns:p14="http://schemas.microsoft.com/office/powerpoint/2010/main" val="3427858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431A46-2FD3-A4B3-C88C-50E7D0645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9635" y="2837792"/>
            <a:ext cx="4638675" cy="3925613"/>
          </a:xfrm>
          <a:prstGeom prst="rect">
            <a:avLst/>
          </a:prstGeom>
        </p:spPr>
      </p:pic>
      <p:pic>
        <p:nvPicPr>
          <p:cNvPr id="10" name="Picture 9">
            <a:extLst>
              <a:ext uri="{FF2B5EF4-FFF2-40B4-BE49-F238E27FC236}">
                <a16:creationId xmlns:a16="http://schemas.microsoft.com/office/drawing/2014/main" id="{EDA27758-92BE-0C53-9260-A1EA6BD62ADE}"/>
              </a:ext>
            </a:extLst>
          </p:cNvPr>
          <p:cNvPicPr>
            <a:picLocks noChangeAspect="1"/>
          </p:cNvPicPr>
          <p:nvPr/>
        </p:nvPicPr>
        <p:blipFill>
          <a:blip r:embed="rId3"/>
          <a:stretch>
            <a:fillRect/>
          </a:stretch>
        </p:blipFill>
        <p:spPr>
          <a:xfrm>
            <a:off x="555734" y="540273"/>
            <a:ext cx="5214445" cy="3440520"/>
          </a:xfrm>
          <a:prstGeom prst="rect">
            <a:avLst/>
          </a:prstGeom>
        </p:spPr>
      </p:pic>
    </p:spTree>
    <p:extLst>
      <p:ext uri="{BB962C8B-B14F-4D97-AF65-F5344CB8AC3E}">
        <p14:creationId xmlns:p14="http://schemas.microsoft.com/office/powerpoint/2010/main" val="1112509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63F12-9E42-F890-D76F-16C966C38925}"/>
              </a:ext>
            </a:extLst>
          </p:cNvPr>
          <p:cNvSpPr txBox="1"/>
          <p:nvPr/>
        </p:nvSpPr>
        <p:spPr>
          <a:xfrm>
            <a:off x="2454171" y="1567958"/>
            <a:ext cx="4776952"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Challenges </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62AA3D4-BB69-BF04-5DC5-EFA9725CF94E}"/>
              </a:ext>
            </a:extLst>
          </p:cNvPr>
          <p:cNvSpPr txBox="1"/>
          <p:nvPr/>
        </p:nvSpPr>
        <p:spPr>
          <a:xfrm>
            <a:off x="6392917" y="783129"/>
            <a:ext cx="4783990" cy="2031325"/>
          </a:xfrm>
          <a:prstGeom prst="rect">
            <a:avLst/>
          </a:prstGeom>
          <a:noFill/>
        </p:spPr>
        <p:txBody>
          <a:bodyPr wrap="square">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Heterogeneity &amp; Training Diversity</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 Model Performance vs. Real-time Demands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Model Interpretability &amp; Trust</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Mitigating Overfitting in Complex Architectures</a:t>
            </a:r>
          </a:p>
        </p:txBody>
      </p:sp>
      <p:sp>
        <p:nvSpPr>
          <p:cNvPr id="7" name="Rectangle 3">
            <a:extLst>
              <a:ext uri="{FF2B5EF4-FFF2-40B4-BE49-F238E27FC236}">
                <a16:creationId xmlns:a16="http://schemas.microsoft.com/office/drawing/2014/main" id="{996BDC4D-54C3-AC86-6FBE-CCAF3AFA22D2}"/>
              </a:ext>
            </a:extLst>
          </p:cNvPr>
          <p:cNvSpPr>
            <a:spLocks noChangeArrowheads="1"/>
          </p:cNvSpPr>
          <p:nvPr/>
        </p:nvSpPr>
        <p:spPr bwMode="auto">
          <a:xfrm>
            <a:off x="488731" y="3612658"/>
            <a:ext cx="1027095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Dynamic Data Augmentation Pipeline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Optimized Architecture Selection &amp; Asynchronous Backend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IN" dirty="0">
                <a:latin typeface="Times New Roman" panose="02020603050405020304" pitchFamily="18" charset="0"/>
                <a:cs typeface="Times New Roman" panose="02020603050405020304" pitchFamily="18" charset="0"/>
              </a:rPr>
              <a:t>Focus on Explainable AI (XAI) Principles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Multi-Pronged Generalization Strategy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EE9960F-C659-D114-420F-DC846D5DC9D3}"/>
              </a:ext>
            </a:extLst>
          </p:cNvPr>
          <p:cNvSpPr txBox="1"/>
          <p:nvPr/>
        </p:nvSpPr>
        <p:spPr>
          <a:xfrm>
            <a:off x="8149927" y="4166622"/>
            <a:ext cx="3097924" cy="461665"/>
          </a:xfrm>
          <a:prstGeom prst="rect">
            <a:avLst/>
          </a:prstGeom>
          <a:noFill/>
        </p:spPr>
        <p:txBody>
          <a:bodyPr wrap="square" rtlCol="0">
            <a:spAutoFit/>
          </a:bodyPr>
          <a:lstStyle/>
          <a:p>
            <a:r>
              <a:rPr lang="en-US" sz="2400" dirty="0">
                <a:solidFill>
                  <a:srgbClr val="AC0000"/>
                </a:solidFill>
              </a:rPr>
              <a:t>Solutions</a:t>
            </a:r>
            <a:endParaRPr lang="en-IN" sz="2400" dirty="0">
              <a:solidFill>
                <a:srgbClr val="AC0000"/>
              </a:solidFill>
            </a:endParaRPr>
          </a:p>
        </p:txBody>
      </p:sp>
      <p:sp>
        <p:nvSpPr>
          <p:cNvPr id="10" name="Arrow: Right 9">
            <a:extLst>
              <a:ext uri="{FF2B5EF4-FFF2-40B4-BE49-F238E27FC236}">
                <a16:creationId xmlns:a16="http://schemas.microsoft.com/office/drawing/2014/main" id="{93F14904-F3CF-38DA-E773-BF11CD6F59CA}"/>
              </a:ext>
            </a:extLst>
          </p:cNvPr>
          <p:cNvSpPr/>
          <p:nvPr/>
        </p:nvSpPr>
        <p:spPr>
          <a:xfrm>
            <a:off x="2454171" y="1466193"/>
            <a:ext cx="1865586" cy="72521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893BEAC2-BCF7-9556-071B-110467218306}"/>
              </a:ext>
            </a:extLst>
          </p:cNvPr>
          <p:cNvSpPr/>
          <p:nvPr/>
        </p:nvSpPr>
        <p:spPr>
          <a:xfrm rot="10800000">
            <a:off x="7788165" y="4028090"/>
            <a:ext cx="1694793" cy="73873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79473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1947EB-0493-9E60-E0A4-3DE937403014}"/>
              </a:ext>
            </a:extLst>
          </p:cNvPr>
          <p:cNvSpPr txBox="1"/>
          <p:nvPr/>
        </p:nvSpPr>
        <p:spPr>
          <a:xfrm>
            <a:off x="232402" y="2811922"/>
            <a:ext cx="4379494"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Conclusion and Q&amp;A:</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B57836C-7CCE-AECD-3692-28D13D8BD867}"/>
              </a:ext>
            </a:extLst>
          </p:cNvPr>
          <p:cNvSpPr txBox="1"/>
          <p:nvPr/>
        </p:nvSpPr>
        <p:spPr>
          <a:xfrm>
            <a:off x="581353" y="3439180"/>
            <a:ext cx="10273205"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 conclusion, we have successfully developed an accurate and efficient system for stale fruit detection using the Swin Transformer, capable of significantly reducing food waste and improving quality control in the supply chain. We believe this project has substantial real-world impact.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We are now open for any questions you may have.</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2C2BFC-AF7D-B5E5-BE3E-10279FEFDE62}"/>
              </a:ext>
            </a:extLst>
          </p:cNvPr>
          <p:cNvSpPr txBox="1"/>
          <p:nvPr/>
        </p:nvSpPr>
        <p:spPr>
          <a:xfrm>
            <a:off x="232402" y="594824"/>
            <a:ext cx="4516821" cy="461665"/>
          </a:xfrm>
          <a:prstGeom prst="rect">
            <a:avLst/>
          </a:prstGeom>
          <a:noFill/>
        </p:spPr>
        <p:txBody>
          <a:bodyPr wrap="square" rtlCol="0">
            <a:spAutoFit/>
          </a:bodyPr>
          <a:lstStyle/>
          <a:p>
            <a:r>
              <a:rPr lang="en-US" sz="2400" dirty="0">
                <a:solidFill>
                  <a:srgbClr val="AC0000"/>
                </a:solidFill>
                <a:latin typeface="Times New Roman" panose="02020603050405020304" pitchFamily="18" charset="0"/>
                <a:cs typeface="Times New Roman" panose="02020603050405020304" pitchFamily="18" charset="0"/>
              </a:rPr>
              <a:t>Future Work</a:t>
            </a:r>
            <a:endParaRPr lang="en-IN" sz="2400" dirty="0">
              <a:solidFill>
                <a:srgbClr val="AC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2E9D49E-7F13-DA58-8474-DEB3F49EA5EC}"/>
              </a:ext>
            </a:extLst>
          </p:cNvPr>
          <p:cNvSpPr txBox="1"/>
          <p:nvPr/>
        </p:nvSpPr>
        <p:spPr>
          <a:xfrm>
            <a:off x="581353" y="1189213"/>
            <a:ext cx="10273205" cy="1200329"/>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Our future work includes expanding to </a:t>
            </a:r>
            <a:r>
              <a:rPr lang="en-US" b="1" dirty="0">
                <a:latin typeface="Times New Roman" panose="02020603050405020304" pitchFamily="18" charset="0"/>
                <a:cs typeface="Times New Roman" panose="02020603050405020304" pitchFamily="18" charset="0"/>
              </a:rPr>
              <a:t>multi-fruit detection and localization</a:t>
            </a:r>
            <a:r>
              <a:rPr lang="en-US" dirty="0">
                <a:latin typeface="Times New Roman" panose="02020603050405020304" pitchFamily="18" charset="0"/>
                <a:cs typeface="Times New Roman" panose="02020603050405020304" pitchFamily="18" charset="0"/>
              </a:rPr>
              <a:t>, developing a more </a:t>
            </a:r>
            <a:r>
              <a:rPr lang="en-US" b="1" dirty="0">
                <a:latin typeface="Times New Roman" panose="02020603050405020304" pitchFamily="18" charset="0"/>
                <a:cs typeface="Times New Roman" panose="02020603050405020304" pitchFamily="18" charset="0"/>
              </a:rPr>
              <a:t>granular freshness scoring</a:t>
            </a:r>
            <a:r>
              <a:rPr lang="en-US" dirty="0">
                <a:latin typeface="Times New Roman" panose="02020603050405020304" pitchFamily="18" charset="0"/>
                <a:cs typeface="Times New Roman" panose="02020603050405020304" pitchFamily="18" charset="0"/>
              </a:rPr>
              <a:t> system, exploring </a:t>
            </a:r>
            <a:r>
              <a:rPr lang="en-US" b="1" dirty="0">
                <a:latin typeface="Times New Roman" panose="02020603050405020304" pitchFamily="18" charset="0"/>
                <a:cs typeface="Times New Roman" panose="02020603050405020304" pitchFamily="18" charset="0"/>
              </a:rPr>
              <a:t>real-time video stream analysis</a:t>
            </a:r>
            <a:r>
              <a:rPr lang="en-US" dirty="0">
                <a:latin typeface="Times New Roman" panose="02020603050405020304" pitchFamily="18" charset="0"/>
                <a:cs typeface="Times New Roman" panose="02020603050405020304" pitchFamily="18" charset="0"/>
              </a:rPr>
              <a:t>, and potentially integrating with </a:t>
            </a:r>
            <a:r>
              <a:rPr lang="en-US" b="1" dirty="0">
                <a:latin typeface="Times New Roman" panose="02020603050405020304" pitchFamily="18" charset="0"/>
                <a:cs typeface="Times New Roman" panose="02020603050405020304" pitchFamily="18" charset="0"/>
              </a:rPr>
              <a:t>IoT devices</a:t>
            </a:r>
            <a:r>
              <a:rPr lang="en-US" dirty="0">
                <a:latin typeface="Times New Roman" panose="02020603050405020304" pitchFamily="18" charset="0"/>
                <a:cs typeface="Times New Roman" panose="02020603050405020304" pitchFamily="18" charset="0"/>
              </a:rPr>
              <a:t>. We also aim to expand the dataset for better generalization and investigate </a:t>
            </a:r>
            <a:r>
              <a:rPr lang="en-US" b="1" dirty="0">
                <a:latin typeface="Times New Roman" panose="02020603050405020304" pitchFamily="18" charset="0"/>
                <a:cs typeface="Times New Roman" panose="02020603050405020304" pitchFamily="18" charset="0"/>
              </a:rPr>
              <a:t>Explainable AI (XAI)</a:t>
            </a:r>
            <a:r>
              <a:rPr lang="en-US" dirty="0">
                <a:latin typeface="Times New Roman" panose="02020603050405020304" pitchFamily="18" charset="0"/>
                <a:cs typeface="Times New Roman" panose="02020603050405020304" pitchFamily="18" charset="0"/>
              </a:rPr>
              <a:t> to understand model decisions better.</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AE66FF2-6FD1-2FF2-56AC-DD5A47C76D94}"/>
              </a:ext>
            </a:extLst>
          </p:cNvPr>
          <p:cNvSpPr txBox="1"/>
          <p:nvPr/>
        </p:nvSpPr>
        <p:spPr>
          <a:xfrm>
            <a:off x="4895193" y="6243145"/>
            <a:ext cx="4406462" cy="400110"/>
          </a:xfrm>
          <a:prstGeom prst="rect">
            <a:avLst/>
          </a:prstGeom>
          <a:noFill/>
        </p:spPr>
        <p:txBody>
          <a:bodyPr wrap="square" rtlCol="0">
            <a:spAutoFit/>
          </a:bodyPr>
          <a:lstStyle/>
          <a:p>
            <a:r>
              <a:rPr lang="en-US" sz="2000" dirty="0">
                <a:solidFill>
                  <a:srgbClr val="AC0000"/>
                </a:solidFill>
                <a:latin typeface="Times New Roman" panose="02020603050405020304" pitchFamily="18" charset="0"/>
                <a:cs typeface="Times New Roman" panose="02020603050405020304" pitchFamily="18" charset="0"/>
              </a:rPr>
              <a:t>THANK YOU</a:t>
            </a:r>
            <a:endParaRPr lang="en-IN" sz="2000" dirty="0">
              <a:solidFill>
                <a:srgbClr val="AC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9573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371</TotalTime>
  <Words>3880</Words>
  <Application>Microsoft Office PowerPoint</Application>
  <PresentationFormat>Widescreen</PresentationFormat>
  <Paragraphs>365</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Cambria Math</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shekapuram deeksha</dc:creator>
  <cp:lastModifiedBy>shekapuram deeksha</cp:lastModifiedBy>
  <cp:revision>8</cp:revision>
  <dcterms:created xsi:type="dcterms:W3CDTF">2025-05-27T06:24:42Z</dcterms:created>
  <dcterms:modified xsi:type="dcterms:W3CDTF">2025-05-27T17:12:46Z</dcterms:modified>
</cp:coreProperties>
</file>